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652bf33-cbf8-9a92-2422-5acf1a4876b2}">
          <p14:sldIdLst>
            <p14:sldId id="256"/>
            <p14:sldId id="257"/>
          </p14:sldIdLst>
        </p14:section>
        <p14:section name="Protecting patient data" id="{cc13f2b9-2ef1-74a0-6f43-4f532ecb2d5b}">
          <p14:sldIdLst>
            <p14:sldId id="258"/>
            <p14:sldId id="259"/>
          </p14:sldIdLst>
        </p14:section>
        <p14:section name="Network" id="{e61ae7a0-6d1c-b535-a5e7-5e698d83e063}">
          <p14:sldIdLst>
            <p14:sldId id="260"/>
            <p14:sldId id="261"/>
            <p14:sldId id="262"/>
          </p14:sldIdLst>
        </p14:section>
        <p14:section name="Identity and access" id="{bb5b8d14-fcf4-29c0-774b-4bd77e15634e}">
          <p14:sldIdLst>
            <p14:sldId id="263"/>
            <p14:sldId id="264"/>
            <p14:sldId id="265"/>
            <p14:sldId id="266"/>
          </p14:sldIdLst>
        </p14:section>
        <p14:section name="Security operations" id="{b77fa1b5-cbc0-a417-3542-93fbc1273838}">
          <p14:sldIdLst>
            <p14:sldId id="267"/>
            <p14:sldId id="268"/>
            <p14:sldId id="269"/>
            <p14:sldId id="270"/>
          </p14:sldIdLst>
        </p14:section>
        <p14:section name="Identity governance" id="{456d5df5-c150-5df1-93af-1f5ca30f2a83}">
          <p14:sldIdLst>
            <p14:sldId id="271"/>
            <p14:sldId id="272"/>
            <p14:sldId id="273"/>
            <p14:sldId id="274"/>
          </p14:sldIdLst>
        </p14:section>
        <p14:section name="Security features" id="{d700a3a4-6683-69b0-9bec-8c5ad37dae91}">
          <p14:sldIdLst>
            <p14:sldId id="275"/>
            <p14:sldId id="276"/>
          </p14:sldIdLst>
        </p14:section>
        <p14:section name="Close" id="{752fe2d0-59dd-25e3-7541-ebbbdecb1122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I'm Sabitha. This is a walkthrough of how I built and secured a cloud environment for a fictional hospital, Horizon Valley Medical Center, in Microsoft Azure — from storage and network to identities, monitoring and incident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ran from September to October 2026 in my own Azure subscription and Entra ID tenant. Total cloud spend was about 54 dollars of free-trial credit; all identity work cost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 records live in a storage account I created for the EHR. Azure encrypts everything at rest; I verified the encryption settings and kept secure transfer and TLS 1.2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enabled Defender for Storage with on-upload malware scanning, so a poisoned file uploaded to the patient-record store is 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virtual network HVMC-Prod-VNet has four subnets: Web, App, Data and a dedicated Bastion subnet — the classic three-tier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tier has its own network security group: the web tier accepts HTTPS, the app tier only from the web tier, the database only from the app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opening remote-desktop or SSH ports to the internet, administrators connect through Azure Bastion inside the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started with a few accounts by hand, then imported the whole staff list. Groups like SG-Nursing-EHR-RW let me give access to a whole role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registered multifactor authentication for the test nurse exactly as a real employee would, so a stolen password alone is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Built-in roles gave too much, so I wrote a custom role with only read permissions and assigned it to the test nurse on the storage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tested as the nurse in a private browser window. Reading the note works; browsing what she isn't allowed to see is blocked. That is least privilege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Azure version of AWS CloudTrail and VPC flow logs. Any firewall change, new role, storage-key read or logging change triggers an e-mail.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Defender's built-in test alerts, detection reached Microsoft Sentinel in about six seconds and my inbox moments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this Workbook myself with ten queries. It is free and reads the logs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playbook covers identification, containment, investigation, eradication and recovery. I tested it with safe triggers that never weakened security. Testing even exposed two flaws in my own detections, which I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redesigned role-based access: 13 more precise groups, ten simulated hospital apps, and a helper script that hands out app access from the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change ran as a ticket with a dry run and before-and-after evidence. A nurse who moved to pharmacy also lost her old access — I even found and fixed a leftover key from an old test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HIPAA expects regular access reviews. Managers confirmed 93 lines. One finding: a disabled test account still held a key to the patient-record storage — disabling an account does not remove its access. The review removed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need a paid licence, so they are saved as deployable files in report-only mode. Two sealed emergency accounts are part of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summarises every control in the project. Green items were built and tested; orange items are designed and ready to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Monitoring and governance are what keep the earlier controls honest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I'm building the hospital's on-site directory. Windows Server doesn't run on my Apple M4 Mac, so I'm using Ubuntu Linux in UTM with Samba, which works like Active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I'm happy to show any part live or answer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MC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MC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5" name="Text 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HVMC  ·  Azure security project  ·  Sabitha S Karanavar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FIELD DAY 2026  ·  PROJECT WALKTHROUGH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a Hospital in Microsoft Azure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3"/>
                </a:solidFill>
              </a:rPr>
              <a:t>Horizon Valley Medical Center — identity, network, data protection and security operations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9D6E3"/>
                </a:solidFill>
              </a:rPr>
              <a:t>Sabitha S Karanavar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THE PROJECT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hospital, secured layer by layer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A fictional 30-person hospital whose patient records (ePHI) must stay private under HIPAA.</a:t>
            </a:r>
            <a:endParaRPr lang="en-US" sz="1700" dirty="0"/>
          </a:p>
        </p:txBody>
      </p:sp>
      <p:sp>
        <p:nvSpPr>
          <p:cNvPr id="6" name="stat-bg-0"/>
          <p:cNvSpPr/>
          <p:nvPr/>
        </p:nvSpPr>
        <p:spPr>
          <a:xfrm>
            <a:off x="502920" y="205740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tat-num-0"/>
          <p:cNvSpPr txBox="1"/>
          <p:nvPr/>
        </p:nvSpPr>
        <p:spPr>
          <a:xfrm>
            <a:off x="685800" y="214884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600" dirty="0"/>
          </a:p>
        </p:txBody>
      </p:sp>
      <p:sp>
        <p:nvSpPr>
          <p:cNvPr id="8" name="stat-lbl-0"/>
          <p:cNvSpPr txBox="1"/>
          <p:nvPr/>
        </p:nvSpPr>
        <p:spPr>
          <a:xfrm>
            <a:off x="685800" y="282778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staff identities in 10 department groups</a:t>
            </a:r>
            <a:endParaRPr lang="en-US" sz="1300" dirty="0"/>
          </a:p>
        </p:txBody>
      </p:sp>
      <p:sp>
        <p:nvSpPr>
          <p:cNvPr id="9" name="stat-bg-1"/>
          <p:cNvSpPr/>
          <p:nvPr/>
        </p:nvSpPr>
        <p:spPr>
          <a:xfrm>
            <a:off x="3367278" y="205740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0" name="stat-num-1"/>
          <p:cNvSpPr txBox="1"/>
          <p:nvPr/>
        </p:nvSpPr>
        <p:spPr>
          <a:xfrm>
            <a:off x="3550158" y="214884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stat-lbl-1"/>
          <p:cNvSpPr txBox="1"/>
          <p:nvPr/>
        </p:nvSpPr>
        <p:spPr>
          <a:xfrm>
            <a:off x="3550158" y="282778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network tiers behind firewalls and Bastion</a:t>
            </a:r>
            <a:endParaRPr lang="en-US" sz="1300" dirty="0"/>
          </a:p>
        </p:txBody>
      </p:sp>
      <p:sp>
        <p:nvSpPr>
          <p:cNvPr id="12" name="stat-bg-2"/>
          <p:cNvSpPr/>
          <p:nvPr/>
        </p:nvSpPr>
        <p:spPr>
          <a:xfrm>
            <a:off x="6231636" y="205740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stat-num-2"/>
          <p:cNvSpPr txBox="1"/>
          <p:nvPr/>
        </p:nvSpPr>
        <p:spPr>
          <a:xfrm>
            <a:off x="6414516" y="214884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stat-lbl-2"/>
          <p:cNvSpPr txBox="1"/>
          <p:nvPr/>
        </p:nvSpPr>
        <p:spPr>
          <a:xfrm>
            <a:off x="6414516" y="282778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locked business applications</a:t>
            </a:r>
            <a:endParaRPr lang="en-US" sz="1300" dirty="0"/>
          </a:p>
        </p:txBody>
      </p:sp>
      <p:sp>
        <p:nvSpPr>
          <p:cNvPr id="15" name="stat-bg-3"/>
          <p:cNvSpPr/>
          <p:nvPr/>
        </p:nvSpPr>
        <p:spPr>
          <a:xfrm>
            <a:off x="9095994" y="205740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stat-num-3"/>
          <p:cNvSpPr txBox="1"/>
          <p:nvPr/>
        </p:nvSpPr>
        <p:spPr>
          <a:xfrm>
            <a:off x="9278874" y="214884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600" dirty="0"/>
          </a:p>
        </p:txBody>
      </p:sp>
      <p:sp>
        <p:nvSpPr>
          <p:cNvPr id="17" name="stat-lbl-3"/>
          <p:cNvSpPr txBox="1"/>
          <p:nvPr/>
        </p:nvSpPr>
        <p:spPr>
          <a:xfrm>
            <a:off x="9278874" y="282778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all identity and security tooling</a:t>
            </a:r>
            <a:endParaRPr lang="en-US" sz="1300" dirty="0"/>
          </a:p>
        </p:txBody>
      </p:sp>
      <p:sp>
        <p:nvSpPr>
          <p:cNvPr id="18" name="stat-bg-0"/>
          <p:cNvSpPr/>
          <p:nvPr/>
        </p:nvSpPr>
        <p:spPr>
          <a:xfrm>
            <a:off x="502920" y="365760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9" name="stat-num-0"/>
          <p:cNvSpPr txBox="1"/>
          <p:nvPr/>
        </p:nvSpPr>
        <p:spPr>
          <a:xfrm>
            <a:off x="685800" y="374904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sp>
        <p:nvSpPr>
          <p:cNvPr id="20" name="stat-lbl-0"/>
          <p:cNvSpPr txBox="1"/>
          <p:nvPr/>
        </p:nvSpPr>
        <p:spPr>
          <a:xfrm>
            <a:off x="685800" y="442798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automated security alert rules</a:t>
            </a:r>
            <a:endParaRPr lang="en-US" sz="1300" dirty="0"/>
          </a:p>
        </p:txBody>
      </p:sp>
      <p:sp>
        <p:nvSpPr>
          <p:cNvPr id="21" name="stat-bg-1"/>
          <p:cNvSpPr/>
          <p:nvPr/>
        </p:nvSpPr>
        <p:spPr>
          <a:xfrm>
            <a:off x="3367278" y="365760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2" name="stat-num-1"/>
          <p:cNvSpPr txBox="1"/>
          <p:nvPr/>
        </p:nvSpPr>
        <p:spPr>
          <a:xfrm>
            <a:off x="3550158" y="374904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3600" dirty="0"/>
          </a:p>
        </p:txBody>
      </p:sp>
      <p:sp>
        <p:nvSpPr>
          <p:cNvPr id="23" name="stat-lbl-1"/>
          <p:cNvSpPr txBox="1"/>
          <p:nvPr/>
        </p:nvSpPr>
        <p:spPr>
          <a:xfrm>
            <a:off x="3550158" y="442798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security incidents triaged and closed</a:t>
            </a:r>
            <a:endParaRPr lang="en-US" sz="1300" dirty="0"/>
          </a:p>
        </p:txBody>
      </p:sp>
      <p:sp>
        <p:nvSpPr>
          <p:cNvPr id="24" name="stat-bg-2"/>
          <p:cNvSpPr/>
          <p:nvPr/>
        </p:nvSpPr>
        <p:spPr>
          <a:xfrm>
            <a:off x="6231636" y="365760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5" name="stat-num-2"/>
          <p:cNvSpPr txBox="1"/>
          <p:nvPr/>
        </p:nvSpPr>
        <p:spPr>
          <a:xfrm>
            <a:off x="6414516" y="374904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3600" dirty="0"/>
          </a:p>
        </p:txBody>
      </p:sp>
      <p:sp>
        <p:nvSpPr>
          <p:cNvPr id="26" name="stat-lbl-2"/>
          <p:cNvSpPr txBox="1"/>
          <p:nvPr/>
        </p:nvSpPr>
        <p:spPr>
          <a:xfrm>
            <a:off x="6414516" y="442798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access-review lines checked</a:t>
            </a:r>
            <a:endParaRPr lang="en-US" sz="1300" dirty="0"/>
          </a:p>
        </p:txBody>
      </p:sp>
      <p:sp>
        <p:nvSpPr>
          <p:cNvPr id="27" name="stat-bg-3"/>
          <p:cNvSpPr/>
          <p:nvPr/>
        </p:nvSpPr>
        <p:spPr>
          <a:xfrm>
            <a:off x="9095994" y="365760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8" name="stat-num-3"/>
          <p:cNvSpPr txBox="1"/>
          <p:nvPr/>
        </p:nvSpPr>
        <p:spPr>
          <a:xfrm>
            <a:off x="9278874" y="374904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600" dirty="0"/>
          </a:p>
        </p:txBody>
      </p:sp>
      <p:sp>
        <p:nvSpPr>
          <p:cNvPr id="29" name="stat-lbl-3"/>
          <p:cNvSpPr txBox="1"/>
          <p:nvPr/>
        </p:nvSpPr>
        <p:spPr>
          <a:xfrm>
            <a:off x="9278874" y="442798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Zero Trust sign-in policies designed</a:t>
            </a:r>
            <a:endParaRPr lang="en-US" sz="1300" dirty="0"/>
          </a:p>
        </p:txBody>
      </p:sp>
      <p:sp>
        <p:nvSpPr>
          <p:cNvPr id="30" name="glance-flow"/>
          <p:cNvSpPr txBox="1"/>
          <p:nvPr/>
        </p:nvSpPr>
        <p:spPr>
          <a:xfrm>
            <a:off x="502920" y="521208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Built step by step: data → network → identities → monitoring → incident response → identity governance.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1 · 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private home for patient records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I created the EHR storage account and confirmed every file is encrypted at rest automatically.</a:t>
            </a:r>
            <a:endParaRPr lang="en-US" sz="1700" dirty="0"/>
          </a:p>
        </p:txBody>
      </p:sp>
      <p:sp>
        <p:nvSpPr>
          <p:cNvPr id="6" name="frame-storage_create"/>
          <p:cNvSpPr/>
          <p:nvPr/>
        </p:nvSpPr>
        <p:spPr>
          <a:xfrm>
            <a:off x="502920" y="1944226"/>
            <a:ext cx="5454396" cy="4231420"/>
          </a:xfrm>
          <a:prstGeom prst="roundRect">
            <a:avLst>
              <a:gd name="adj" fmla="val 1729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storage_create" descr="Creating the storage account hvmcehrstorage (East U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053954"/>
            <a:ext cx="5234940" cy="3682780"/>
          </a:xfrm>
          <a:prstGeom prst="rect">
            <a:avLst/>
          </a:prstGeom>
        </p:spPr>
      </p:pic>
      <p:sp>
        <p:nvSpPr>
          <p:cNvPr id="8" name="cap-storage_create"/>
          <p:cNvSpPr txBox="1"/>
          <p:nvPr/>
        </p:nvSpPr>
        <p:spPr>
          <a:xfrm>
            <a:off x="612648" y="5773310"/>
            <a:ext cx="5234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Creating the storage account hvmcehrstorage (East US)</a:t>
            </a:r>
            <a:endParaRPr lang="en-US" sz="1100" dirty="0"/>
          </a:p>
        </p:txBody>
      </p:sp>
      <p:sp>
        <p:nvSpPr>
          <p:cNvPr id="9" name="frame-storage_encryption"/>
          <p:cNvSpPr/>
          <p:nvPr/>
        </p:nvSpPr>
        <p:spPr>
          <a:xfrm>
            <a:off x="6231636" y="2471646"/>
            <a:ext cx="5454396" cy="3176580"/>
          </a:xfrm>
          <a:prstGeom prst="roundRect">
            <a:avLst>
              <a:gd name="adj" fmla="val 2303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shot-storage_encryption" descr="Encryption at rest with Microsoft-managed key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2581374"/>
            <a:ext cx="5234940" cy="2627940"/>
          </a:xfrm>
          <a:prstGeom prst="rect">
            <a:avLst/>
          </a:prstGeom>
        </p:spPr>
      </p:pic>
      <p:sp>
        <p:nvSpPr>
          <p:cNvPr id="11" name="cap-storage_encryption"/>
          <p:cNvSpPr txBox="1"/>
          <p:nvPr/>
        </p:nvSpPr>
        <p:spPr>
          <a:xfrm>
            <a:off x="6341364" y="5245890"/>
            <a:ext cx="5234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Encryption at rest with Microsoft-managed keys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1 · 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and threat scanning on the records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Microsoft Defender for Storage watches the account and scans every uploaded file for malware.</a:t>
            </a:r>
            <a:endParaRPr lang="en-US" sz="1700" dirty="0"/>
          </a:p>
        </p:txBody>
      </p:sp>
      <p:sp>
        <p:nvSpPr>
          <p:cNvPr id="6" name="frame-defender_storage"/>
          <p:cNvSpPr/>
          <p:nvPr/>
        </p:nvSpPr>
        <p:spPr>
          <a:xfrm>
            <a:off x="1633085" y="1783080"/>
            <a:ext cx="8922781" cy="4553712"/>
          </a:xfrm>
          <a:prstGeom prst="roundRect">
            <a:avLst>
              <a:gd name="adj" fmla="val 160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defender_storage" descr="defender_sto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813" y="1892808"/>
            <a:ext cx="8703325" cy="4334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2 · NETWORK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three-tier hospital network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Web, application and database tiers live in separate subnets, so one break-in can't reach everything.</a:t>
            </a:r>
            <a:endParaRPr lang="en-US" sz="1700" dirty="0"/>
          </a:p>
        </p:txBody>
      </p:sp>
      <p:sp>
        <p:nvSpPr>
          <p:cNvPr id="6" name="frame-vnet_subnets"/>
          <p:cNvSpPr/>
          <p:nvPr/>
        </p:nvSpPr>
        <p:spPr>
          <a:xfrm>
            <a:off x="1845057" y="1783080"/>
            <a:ext cx="8498837" cy="4553712"/>
          </a:xfrm>
          <a:prstGeom prst="roundRect">
            <a:avLst>
              <a:gd name="adj" fmla="val 160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vnet_subnets" descr="vnet_subn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785" y="1892808"/>
            <a:ext cx="8279381" cy="4334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2 · NETWORK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rules between the tiers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Network security groups allow only the traffic each tier needs — everything else is denied.</a:t>
            </a:r>
            <a:endParaRPr lang="en-US" sz="1700" dirty="0"/>
          </a:p>
        </p:txBody>
      </p:sp>
      <p:sp>
        <p:nvSpPr>
          <p:cNvPr id="6" name="frame-nsg_web"/>
          <p:cNvSpPr/>
          <p:nvPr/>
        </p:nvSpPr>
        <p:spPr>
          <a:xfrm>
            <a:off x="1952882" y="1783080"/>
            <a:ext cx="8283188" cy="4553712"/>
          </a:xfrm>
          <a:prstGeom prst="roundRect">
            <a:avLst>
              <a:gd name="adj" fmla="val 160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nsg_web" descr="nsg_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610" y="1892808"/>
            <a:ext cx="8063732" cy="4334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2 · NETWORK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access without exposing servers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Azure Bastion lets administrators reach servers through the browser — no public IP addresses on any server.</a:t>
            </a:r>
            <a:endParaRPr lang="en-US" sz="1700" dirty="0"/>
          </a:p>
        </p:txBody>
      </p:sp>
      <p:sp>
        <p:nvSpPr>
          <p:cNvPr id="6" name="frame-bastion"/>
          <p:cNvSpPr/>
          <p:nvPr/>
        </p:nvSpPr>
        <p:spPr>
          <a:xfrm>
            <a:off x="1986357" y="1783080"/>
            <a:ext cx="8216238" cy="4553712"/>
          </a:xfrm>
          <a:prstGeom prst="roundRect">
            <a:avLst>
              <a:gd name="adj" fmla="val 160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bastion" descr="ba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6085" y="1892808"/>
            <a:ext cx="7996782" cy="4334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3 · IDENTITY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staff member has one identity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I created the hospital's staff in Microsoft Entra ID and organised them into department groups.</a:t>
            </a:r>
            <a:endParaRPr lang="en-US" sz="1700" dirty="0"/>
          </a:p>
        </p:txBody>
      </p:sp>
      <p:sp>
        <p:nvSpPr>
          <p:cNvPr id="6" name="frame-users_sept"/>
          <p:cNvSpPr/>
          <p:nvPr/>
        </p:nvSpPr>
        <p:spPr>
          <a:xfrm>
            <a:off x="3857936" y="1783080"/>
            <a:ext cx="4473080" cy="2535083"/>
          </a:xfrm>
          <a:prstGeom prst="roundRect">
            <a:avLst>
              <a:gd name="adj" fmla="val 288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users_sept" descr="September: first accounts, including a test nurse for safe tes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7664" y="1892808"/>
            <a:ext cx="4253624" cy="1986443"/>
          </a:xfrm>
          <a:prstGeom prst="rect">
            <a:avLst/>
          </a:prstGeom>
        </p:spPr>
      </p:pic>
      <p:sp>
        <p:nvSpPr>
          <p:cNvPr id="8" name="cap-users_sept"/>
          <p:cNvSpPr txBox="1"/>
          <p:nvPr/>
        </p:nvSpPr>
        <p:spPr>
          <a:xfrm>
            <a:off x="3967664" y="3915827"/>
            <a:ext cx="425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September: first accounts, including a test nurse for safe testing</a:t>
            </a:r>
            <a:endParaRPr lang="en-US" sz="1100" dirty="0"/>
          </a:p>
        </p:txBody>
      </p:sp>
      <p:sp>
        <p:nvSpPr>
          <p:cNvPr id="9" name="frame-groups"/>
          <p:cNvSpPr/>
          <p:nvPr/>
        </p:nvSpPr>
        <p:spPr>
          <a:xfrm>
            <a:off x="3303270" y="4501043"/>
            <a:ext cx="5582412" cy="1835749"/>
          </a:xfrm>
          <a:prstGeom prst="roundRect">
            <a:avLst>
              <a:gd name="adj" fmla="val 3985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shot-groups" descr="October: 10 department groups with their memb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998" y="4610771"/>
            <a:ext cx="5362956" cy="1287109"/>
          </a:xfrm>
          <a:prstGeom prst="rect">
            <a:avLst/>
          </a:prstGeom>
        </p:spPr>
      </p:pic>
      <p:sp>
        <p:nvSpPr>
          <p:cNvPr id="11" name="cap-groups"/>
          <p:cNvSpPr txBox="1"/>
          <p:nvPr/>
        </p:nvSpPr>
        <p:spPr>
          <a:xfrm>
            <a:off x="3412998" y="5934456"/>
            <a:ext cx="53629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October: 10 department groups with their members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3 · IDENTITY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Two-step sign-in (MFA)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The test nurse signs in with a password plus the Microsoft Authenticator app on a phone.</a:t>
            </a:r>
            <a:endParaRPr lang="en-US" sz="1700" dirty="0"/>
          </a:p>
        </p:txBody>
      </p:sp>
      <p:sp>
        <p:nvSpPr>
          <p:cNvPr id="6" name="frame-authenticator"/>
          <p:cNvSpPr/>
          <p:nvPr/>
        </p:nvSpPr>
        <p:spPr>
          <a:xfrm>
            <a:off x="995251" y="1783080"/>
            <a:ext cx="2069799" cy="4553712"/>
          </a:xfrm>
          <a:prstGeom prst="roundRect">
            <a:avLst>
              <a:gd name="adj" fmla="val 353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authenticator" descr="Microsoft Authenticator registered for the test nu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79" y="1892808"/>
            <a:ext cx="1850343" cy="4005072"/>
          </a:xfrm>
          <a:prstGeom prst="rect">
            <a:avLst/>
          </a:prstGeom>
        </p:spPr>
      </p:pic>
      <p:sp>
        <p:nvSpPr>
          <p:cNvPr id="8" name="cap-authenticator"/>
          <p:cNvSpPr txBox="1"/>
          <p:nvPr/>
        </p:nvSpPr>
        <p:spPr>
          <a:xfrm>
            <a:off x="1104979" y="5934456"/>
            <a:ext cx="18503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Microsoft Authenticator registered for the test nurse</a:t>
            </a:r>
            <a:endParaRPr lang="en-US" sz="1100" dirty="0"/>
          </a:p>
        </p:txBody>
      </p:sp>
      <p:sp>
        <p:nvSpPr>
          <p:cNvPr id="9" name="frame-nurse_auth"/>
          <p:cNvSpPr/>
          <p:nvPr/>
        </p:nvSpPr>
        <p:spPr>
          <a:xfrm>
            <a:off x="3831702" y="1846358"/>
            <a:ext cx="7854330" cy="4427156"/>
          </a:xfrm>
          <a:prstGeom prst="roundRect">
            <a:avLst>
              <a:gd name="adj" fmla="val 1652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shot-nurse_auth" descr="Authentication methods on the test nurse's accou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430" y="1956086"/>
            <a:ext cx="7634874" cy="3878516"/>
          </a:xfrm>
          <a:prstGeom prst="rect">
            <a:avLst/>
          </a:prstGeom>
        </p:spPr>
      </p:pic>
      <p:sp>
        <p:nvSpPr>
          <p:cNvPr id="11" name="cap-nurse_auth"/>
          <p:cNvSpPr txBox="1"/>
          <p:nvPr/>
        </p:nvSpPr>
        <p:spPr>
          <a:xfrm>
            <a:off x="3941430" y="5871178"/>
            <a:ext cx="76348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Authentication methods on the test nurse's account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3 · IDENTITY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custom least-privilege role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I designed a read-only role for nurses — they can view patient records but never change or delete them.</a:t>
            </a:r>
            <a:endParaRPr lang="en-US" sz="1700" dirty="0"/>
          </a:p>
        </p:txBody>
      </p:sp>
      <p:sp>
        <p:nvSpPr>
          <p:cNvPr id="6" name="frame-custom_role"/>
          <p:cNvSpPr/>
          <p:nvPr/>
        </p:nvSpPr>
        <p:spPr>
          <a:xfrm>
            <a:off x="502920" y="2496512"/>
            <a:ext cx="5454396" cy="3126848"/>
          </a:xfrm>
          <a:prstGeom prst="roundRect">
            <a:avLst>
              <a:gd name="adj" fmla="val 2339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custom_role" descr="Custom role HVMC-Nurse-EHR-ReadOnly: read actions on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606240"/>
            <a:ext cx="5234940" cy="2578208"/>
          </a:xfrm>
          <a:prstGeom prst="rect">
            <a:avLst/>
          </a:prstGeom>
        </p:spPr>
      </p:pic>
      <p:sp>
        <p:nvSpPr>
          <p:cNvPr id="8" name="cap-custom_role"/>
          <p:cNvSpPr txBox="1"/>
          <p:nvPr/>
        </p:nvSpPr>
        <p:spPr>
          <a:xfrm>
            <a:off x="612648" y="5221024"/>
            <a:ext cx="5234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Custom role HVMC-Nurse-EHR-ReadOnly: read actions only</a:t>
            </a:r>
            <a:endParaRPr lang="en-US" sz="1100" dirty="0"/>
          </a:p>
        </p:txBody>
      </p:sp>
      <p:sp>
        <p:nvSpPr>
          <p:cNvPr id="9" name="frame-role_assign"/>
          <p:cNvSpPr/>
          <p:nvPr/>
        </p:nvSpPr>
        <p:spPr>
          <a:xfrm>
            <a:off x="6231636" y="2128757"/>
            <a:ext cx="5454396" cy="3862357"/>
          </a:xfrm>
          <a:prstGeom prst="roundRect">
            <a:avLst>
              <a:gd name="adj" fmla="val 189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shot-role_assign" descr="The role assigned on the EHR storage accou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2238485"/>
            <a:ext cx="5234940" cy="3313717"/>
          </a:xfrm>
          <a:prstGeom prst="rect">
            <a:avLst/>
          </a:prstGeom>
        </p:spPr>
      </p:pic>
      <p:sp>
        <p:nvSpPr>
          <p:cNvPr id="11" name="cap-role_assign"/>
          <p:cNvSpPr txBox="1"/>
          <p:nvPr/>
        </p:nvSpPr>
        <p:spPr>
          <a:xfrm>
            <a:off x="6341364" y="5588779"/>
            <a:ext cx="5234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The role assigned on the EHR storage account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3 · IDENTITY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proven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Signed in as the nurse: she can read a nursing note, but anything beyond her role is refused.</a:t>
            </a:r>
            <a:endParaRPr lang="en-US" sz="1700" dirty="0"/>
          </a:p>
        </p:txBody>
      </p:sp>
      <p:sp>
        <p:nvSpPr>
          <p:cNvPr id="6" name="frame-nurse_read"/>
          <p:cNvSpPr/>
          <p:nvPr/>
        </p:nvSpPr>
        <p:spPr>
          <a:xfrm>
            <a:off x="502920" y="2175872"/>
            <a:ext cx="5454396" cy="3768128"/>
          </a:xfrm>
          <a:prstGeom prst="roundRect">
            <a:avLst>
              <a:gd name="adj" fmla="val 1941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nurse_read" descr="Allowed: reading nursing-note.t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285600"/>
            <a:ext cx="5234940" cy="3219488"/>
          </a:xfrm>
          <a:prstGeom prst="rect">
            <a:avLst/>
          </a:prstGeom>
        </p:spPr>
      </p:pic>
      <p:sp>
        <p:nvSpPr>
          <p:cNvPr id="8" name="cap-nurse_read"/>
          <p:cNvSpPr txBox="1"/>
          <p:nvPr/>
        </p:nvSpPr>
        <p:spPr>
          <a:xfrm>
            <a:off x="612648" y="5541664"/>
            <a:ext cx="5234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Allowed: reading nursing-note.txt</a:t>
            </a:r>
            <a:endParaRPr lang="en-US" sz="1100" dirty="0"/>
          </a:p>
        </p:txBody>
      </p:sp>
      <p:sp>
        <p:nvSpPr>
          <p:cNvPr id="9" name="frame-no_access"/>
          <p:cNvSpPr/>
          <p:nvPr/>
        </p:nvSpPr>
        <p:spPr>
          <a:xfrm>
            <a:off x="6231636" y="2530539"/>
            <a:ext cx="5454396" cy="3058794"/>
          </a:xfrm>
          <a:prstGeom prst="roundRect">
            <a:avLst>
              <a:gd name="adj" fmla="val 2392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shot-no_access" descr="Refused: 'You do not have access' (403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2640267"/>
            <a:ext cx="5234940" cy="2510154"/>
          </a:xfrm>
          <a:prstGeom prst="rect">
            <a:avLst/>
          </a:prstGeom>
        </p:spPr>
      </p:pic>
      <p:sp>
        <p:nvSpPr>
          <p:cNvPr id="11" name="cap-no_access"/>
          <p:cNvSpPr txBox="1"/>
          <p:nvPr/>
        </p:nvSpPr>
        <p:spPr>
          <a:xfrm>
            <a:off x="6341364" y="5186997"/>
            <a:ext cx="5234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Refused: 'You do not have access' (403)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4 · MONITORING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change is logged and alerted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All Azure activity flows into one log workspace, and nine alert rules e-mail me about risky changes.</a:t>
            </a:r>
            <a:endParaRPr lang="en-US" sz="1700" dirty="0"/>
          </a:p>
        </p:txBody>
      </p:sp>
      <p:sp>
        <p:nvSpPr>
          <p:cNvPr id="6" name="frame-alert_rules"/>
          <p:cNvSpPr/>
          <p:nvPr/>
        </p:nvSpPr>
        <p:spPr>
          <a:xfrm>
            <a:off x="1886212" y="1783080"/>
            <a:ext cx="8416528" cy="2622499"/>
          </a:xfrm>
          <a:prstGeom prst="roundRect">
            <a:avLst>
              <a:gd name="adj" fmla="val 2789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alert_rules" descr="Nine automated alert rules (firewall, roles, storage keys, logging disabled …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940" y="1892808"/>
            <a:ext cx="8197072" cy="2073859"/>
          </a:xfrm>
          <a:prstGeom prst="rect">
            <a:avLst/>
          </a:prstGeom>
        </p:spPr>
      </p:pic>
      <p:sp>
        <p:nvSpPr>
          <p:cNvPr id="8" name="cap-alert_rules"/>
          <p:cNvSpPr txBox="1"/>
          <p:nvPr/>
        </p:nvSpPr>
        <p:spPr>
          <a:xfrm>
            <a:off x="1995940" y="4003243"/>
            <a:ext cx="819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Nine automated alert rules (firewall, roles, storage keys, logging disabled …)</a:t>
            </a:r>
            <a:endParaRPr lang="en-US" sz="1100" dirty="0"/>
          </a:p>
        </p:txBody>
      </p:sp>
      <p:sp>
        <p:nvSpPr>
          <p:cNvPr id="9" name="frame-flowlog"/>
          <p:cNvSpPr/>
          <p:nvPr/>
        </p:nvSpPr>
        <p:spPr>
          <a:xfrm>
            <a:off x="2819332" y="4588459"/>
            <a:ext cx="6550289" cy="1748333"/>
          </a:xfrm>
          <a:prstGeom prst="roundRect">
            <a:avLst>
              <a:gd name="adj" fmla="val 418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shot-flowlog" descr="VNet flow logs with Traffic Analytics record network traff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060" y="4698187"/>
            <a:ext cx="6330833" cy="1199693"/>
          </a:xfrm>
          <a:prstGeom prst="rect">
            <a:avLst/>
          </a:prstGeom>
        </p:spPr>
      </p:pic>
      <p:sp>
        <p:nvSpPr>
          <p:cNvPr id="11" name="cap-flowlog"/>
          <p:cNvSpPr txBox="1"/>
          <p:nvPr/>
        </p:nvSpPr>
        <p:spPr>
          <a:xfrm>
            <a:off x="2929060" y="5934456"/>
            <a:ext cx="63308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VNet flow logs with Traffic Analytics record network traffic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4 · THREAT DETECTION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detected within seconds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Microsoft Defender raised the alert, e-mailed me, and I resolved it in Azure following my playbook.</a:t>
            </a:r>
            <a:endParaRPr lang="en-US" sz="1700" dirty="0"/>
          </a:p>
        </p:txBody>
      </p:sp>
      <p:sp>
        <p:nvSpPr>
          <p:cNvPr id="6" name="frame-alert_email"/>
          <p:cNvSpPr/>
          <p:nvPr/>
        </p:nvSpPr>
        <p:spPr>
          <a:xfrm>
            <a:off x="502920" y="2229530"/>
            <a:ext cx="5454396" cy="3660812"/>
          </a:xfrm>
          <a:prstGeom prst="roundRect">
            <a:avLst>
              <a:gd name="adj" fmla="val 1998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alert_email" descr="The real alert e-mail I recei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339258"/>
            <a:ext cx="5234940" cy="3112172"/>
          </a:xfrm>
          <a:prstGeom prst="rect">
            <a:avLst/>
          </a:prstGeom>
        </p:spPr>
      </p:pic>
      <p:sp>
        <p:nvSpPr>
          <p:cNvPr id="8" name="cap-alert_email"/>
          <p:cNvSpPr txBox="1"/>
          <p:nvPr/>
        </p:nvSpPr>
        <p:spPr>
          <a:xfrm>
            <a:off x="612648" y="5488006"/>
            <a:ext cx="5234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The real alert e-mail I received</a:t>
            </a:r>
            <a:endParaRPr lang="en-US" sz="1100" dirty="0"/>
          </a:p>
        </p:txBody>
      </p:sp>
      <p:sp>
        <p:nvSpPr>
          <p:cNvPr id="9" name="frame-defender_alert"/>
          <p:cNvSpPr/>
          <p:nvPr/>
        </p:nvSpPr>
        <p:spPr>
          <a:xfrm>
            <a:off x="6231636" y="2366947"/>
            <a:ext cx="5454396" cy="3385977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shot-defender_alert" descr="The same alert in Azure — resolved, with MITRE tact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2476675"/>
            <a:ext cx="5234940" cy="2837337"/>
          </a:xfrm>
          <a:prstGeom prst="rect">
            <a:avLst/>
          </a:prstGeom>
        </p:spPr>
      </p:pic>
      <p:sp>
        <p:nvSpPr>
          <p:cNvPr id="11" name="cap-defender_alert"/>
          <p:cNvSpPr txBox="1"/>
          <p:nvPr/>
        </p:nvSpPr>
        <p:spPr>
          <a:xfrm>
            <a:off x="6341364" y="5350589"/>
            <a:ext cx="5234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The same alert in Azure — resolved, with MITRE tactic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4 · DASHBOARD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security dashboard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An Azure Workbook shows log sources, alerts, activity, incidents and network flows on one screen.</a:t>
            </a:r>
            <a:endParaRPr lang="en-US" sz="1700" dirty="0"/>
          </a:p>
        </p:txBody>
      </p:sp>
      <p:sp>
        <p:nvSpPr>
          <p:cNvPr id="6" name="frame-workbook"/>
          <p:cNvSpPr/>
          <p:nvPr/>
        </p:nvSpPr>
        <p:spPr>
          <a:xfrm>
            <a:off x="1982665" y="1783080"/>
            <a:ext cx="8223622" cy="4553712"/>
          </a:xfrm>
          <a:prstGeom prst="roundRect">
            <a:avLst>
              <a:gd name="adj" fmla="val 160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workbook" descr="work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2393" y="1892808"/>
            <a:ext cx="8004166" cy="4334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4 · INCIDENT RESPONSE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incident response playbook, tested live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I wrote a five-phase playbook and tested it safely — every incident was triaged, explained and closed.</a:t>
            </a:r>
            <a:endParaRPr lang="en-US" sz="1700" dirty="0"/>
          </a:p>
        </p:txBody>
      </p:sp>
      <p:sp>
        <p:nvSpPr>
          <p:cNvPr id="6" name="stat-bg-0"/>
          <p:cNvSpPr/>
          <p:nvPr/>
        </p:nvSpPr>
        <p:spPr>
          <a:xfrm>
            <a:off x="502920" y="1783080"/>
            <a:ext cx="259003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tat-num-0"/>
          <p:cNvSpPr txBox="1"/>
          <p:nvPr/>
        </p:nvSpPr>
        <p:spPr>
          <a:xfrm>
            <a:off x="685800" y="1874520"/>
            <a:ext cx="222427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 min</a:t>
            </a:r>
            <a:endParaRPr lang="en-US" sz="3600" dirty="0"/>
          </a:p>
        </p:txBody>
      </p:sp>
      <p:sp>
        <p:nvSpPr>
          <p:cNvPr id="8" name="stat-lbl-0"/>
          <p:cNvSpPr txBox="1"/>
          <p:nvPr/>
        </p:nvSpPr>
        <p:spPr>
          <a:xfrm>
            <a:off x="685800" y="2528316"/>
            <a:ext cx="22242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firewall change → alert e-mail</a:t>
            </a:r>
            <a:endParaRPr lang="en-US" sz="1300" dirty="0"/>
          </a:p>
        </p:txBody>
      </p:sp>
      <p:sp>
        <p:nvSpPr>
          <p:cNvPr id="9" name="stat-bg-1"/>
          <p:cNvSpPr/>
          <p:nvPr/>
        </p:nvSpPr>
        <p:spPr>
          <a:xfrm>
            <a:off x="3367278" y="1783080"/>
            <a:ext cx="259003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0" name="stat-num-1"/>
          <p:cNvSpPr txBox="1"/>
          <p:nvPr/>
        </p:nvSpPr>
        <p:spPr>
          <a:xfrm>
            <a:off x="3550158" y="1874520"/>
            <a:ext cx="222427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</a:t>
            </a:r>
            <a:endParaRPr lang="en-US" sz="3600" dirty="0"/>
          </a:p>
        </p:txBody>
      </p:sp>
      <p:sp>
        <p:nvSpPr>
          <p:cNvPr id="11" name="stat-lbl-1"/>
          <p:cNvSpPr txBox="1"/>
          <p:nvPr/>
        </p:nvSpPr>
        <p:spPr>
          <a:xfrm>
            <a:off x="3550158" y="2528316"/>
            <a:ext cx="22242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Defender alert → Sentinel</a:t>
            </a:r>
            <a:endParaRPr lang="en-US" sz="1300" dirty="0"/>
          </a:p>
        </p:txBody>
      </p:sp>
      <p:sp>
        <p:nvSpPr>
          <p:cNvPr id="12" name="stat-bg-2"/>
          <p:cNvSpPr/>
          <p:nvPr/>
        </p:nvSpPr>
        <p:spPr>
          <a:xfrm>
            <a:off x="6231636" y="1783080"/>
            <a:ext cx="259003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stat-num-2"/>
          <p:cNvSpPr txBox="1"/>
          <p:nvPr/>
        </p:nvSpPr>
        <p:spPr>
          <a:xfrm>
            <a:off x="6414516" y="1874520"/>
            <a:ext cx="222427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3600" dirty="0"/>
          </a:p>
        </p:txBody>
      </p:sp>
      <p:sp>
        <p:nvSpPr>
          <p:cNvPr id="14" name="stat-lbl-2"/>
          <p:cNvSpPr txBox="1"/>
          <p:nvPr/>
        </p:nvSpPr>
        <p:spPr>
          <a:xfrm>
            <a:off x="6414516" y="2528316"/>
            <a:ext cx="22242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incidents closed with a reason</a:t>
            </a:r>
            <a:endParaRPr lang="en-US" sz="1300" dirty="0"/>
          </a:p>
        </p:txBody>
      </p:sp>
      <p:sp>
        <p:nvSpPr>
          <p:cNvPr id="15" name="stat-bg-3"/>
          <p:cNvSpPr/>
          <p:nvPr/>
        </p:nvSpPr>
        <p:spPr>
          <a:xfrm>
            <a:off x="9095994" y="1783080"/>
            <a:ext cx="259003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stat-num-3"/>
          <p:cNvSpPr txBox="1"/>
          <p:nvPr/>
        </p:nvSpPr>
        <p:spPr>
          <a:xfrm>
            <a:off x="9278874" y="1874520"/>
            <a:ext cx="222427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stat-lbl-3"/>
          <p:cNvSpPr txBox="1"/>
          <p:nvPr/>
        </p:nvSpPr>
        <p:spPr>
          <a:xfrm>
            <a:off x="9278874" y="2528316"/>
            <a:ext cx="22242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detection flaws found and fixed</a:t>
            </a:r>
            <a:endParaRPr lang="en-US" sz="1300" dirty="0"/>
          </a:p>
        </p:txBody>
      </p:sp>
      <p:sp>
        <p:nvSpPr>
          <p:cNvPr id="18" name="frame-incidents"/>
          <p:cNvSpPr/>
          <p:nvPr/>
        </p:nvSpPr>
        <p:spPr>
          <a:xfrm>
            <a:off x="1025290" y="3154680"/>
            <a:ext cx="10138371" cy="3182112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9" name="shot-incidents" descr="Microsoft Sentinel incidents — all closed with a classif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018" y="3264408"/>
            <a:ext cx="9918915" cy="2633472"/>
          </a:xfrm>
          <a:prstGeom prst="rect">
            <a:avLst/>
          </a:prstGeom>
        </p:spPr>
      </p:pic>
      <p:sp>
        <p:nvSpPr>
          <p:cNvPr id="20" name="cap-incidents"/>
          <p:cNvSpPr txBox="1"/>
          <p:nvPr/>
        </p:nvSpPr>
        <p:spPr>
          <a:xfrm>
            <a:off x="1135018" y="5934456"/>
            <a:ext cx="99189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Microsoft Sentinel incidents — all closed with a classification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5 · GOVERNANCE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keys for every role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Ten locked applications, and every person's access now matches the approved design exactly — 30 of 30.</a:t>
            </a:r>
            <a:endParaRPr lang="en-US" sz="1700" dirty="0"/>
          </a:p>
        </p:txBody>
      </p:sp>
      <p:sp>
        <p:nvSpPr>
          <p:cNvPr id="6" name="frame-iam_apps"/>
          <p:cNvSpPr/>
          <p:nvPr/>
        </p:nvSpPr>
        <p:spPr>
          <a:xfrm>
            <a:off x="1664208" y="1783080"/>
            <a:ext cx="8860536" cy="2622499"/>
          </a:xfrm>
          <a:prstGeom prst="roundRect">
            <a:avLst>
              <a:gd name="adj" fmla="val 2789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iam_apps" descr="Ten HVMC applications, each requiring assign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36" y="1892808"/>
            <a:ext cx="8641080" cy="2073859"/>
          </a:xfrm>
          <a:prstGeom prst="rect">
            <a:avLst/>
          </a:prstGeom>
        </p:spPr>
      </p:pic>
      <p:sp>
        <p:nvSpPr>
          <p:cNvPr id="8" name="cap-iam_apps"/>
          <p:cNvSpPr txBox="1"/>
          <p:nvPr/>
        </p:nvSpPr>
        <p:spPr>
          <a:xfrm>
            <a:off x="1773936" y="4003243"/>
            <a:ext cx="8641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Ten HVMC applications, each requiring assignment</a:t>
            </a:r>
            <a:endParaRPr lang="en-US" sz="1100" dirty="0"/>
          </a:p>
        </p:txBody>
      </p:sp>
      <p:sp>
        <p:nvSpPr>
          <p:cNvPr id="9" name="frame-iam_coverage"/>
          <p:cNvSpPr/>
          <p:nvPr/>
        </p:nvSpPr>
        <p:spPr>
          <a:xfrm>
            <a:off x="2327148" y="4588459"/>
            <a:ext cx="7534656" cy="1748333"/>
          </a:xfrm>
          <a:prstGeom prst="roundRect">
            <a:avLst>
              <a:gd name="adj" fmla="val 418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shot-iam_coverage" descr="Coverage check: nothing missing, nothing ext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4698187"/>
            <a:ext cx="7315200" cy="1199693"/>
          </a:xfrm>
          <a:prstGeom prst="rect">
            <a:avLst/>
          </a:prstGeom>
        </p:spPr>
      </p:pic>
      <p:sp>
        <p:nvSpPr>
          <p:cNvPr id="11" name="cap-iam_coverage"/>
          <p:cNvSpPr txBox="1"/>
          <p:nvPr/>
        </p:nvSpPr>
        <p:spPr>
          <a:xfrm>
            <a:off x="2436876" y="59344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Coverage check: nothing missing, nothing extra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5 · GOVERNANCE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Joiners and leavers, handled safely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A new nurse got exactly her role's access on day one; a departing contractor lost everything.</a:t>
            </a:r>
            <a:endParaRPr lang="en-US" sz="1700" dirty="0"/>
          </a:p>
        </p:txBody>
      </p:sp>
      <p:sp>
        <p:nvSpPr>
          <p:cNvPr id="6" name="frame-iam_joiner"/>
          <p:cNvSpPr/>
          <p:nvPr/>
        </p:nvSpPr>
        <p:spPr>
          <a:xfrm>
            <a:off x="1466761" y="1783080"/>
            <a:ext cx="9255429" cy="2491374"/>
          </a:xfrm>
          <a:prstGeom prst="roundRect">
            <a:avLst>
              <a:gd name="adj" fmla="val 293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shot-iam_joiner" descr="Joiner: Olivia Bennett, ready on day 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489" y="1892808"/>
            <a:ext cx="9035973" cy="1942734"/>
          </a:xfrm>
          <a:prstGeom prst="rect">
            <a:avLst/>
          </a:prstGeom>
        </p:spPr>
      </p:pic>
      <p:sp>
        <p:nvSpPr>
          <p:cNvPr id="8" name="cap-iam_joiner"/>
          <p:cNvSpPr txBox="1"/>
          <p:nvPr/>
        </p:nvSpPr>
        <p:spPr>
          <a:xfrm>
            <a:off x="1576489" y="3872118"/>
            <a:ext cx="90359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Joiner: Olivia Bennett, ready on day one</a:t>
            </a:r>
            <a:endParaRPr lang="en-US" sz="1100" dirty="0"/>
          </a:p>
        </p:txBody>
      </p:sp>
      <p:sp>
        <p:nvSpPr>
          <p:cNvPr id="9" name="frame-iam_leaver"/>
          <p:cNvSpPr/>
          <p:nvPr/>
        </p:nvSpPr>
        <p:spPr>
          <a:xfrm>
            <a:off x="1927377" y="4457334"/>
            <a:ext cx="8334198" cy="1879458"/>
          </a:xfrm>
          <a:prstGeom prst="roundRect">
            <a:avLst>
              <a:gd name="adj" fmla="val 3892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0" name="shot-iam_leaver" descr="Leaver: contractor disabled, 0 groups, 0 ap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05" y="4567062"/>
            <a:ext cx="8114742" cy="1330818"/>
          </a:xfrm>
          <a:prstGeom prst="rect">
            <a:avLst/>
          </a:prstGeom>
        </p:spPr>
      </p:pic>
      <p:sp>
        <p:nvSpPr>
          <p:cNvPr id="11" name="cap-iam_leaver"/>
          <p:cNvSpPr txBox="1"/>
          <p:nvPr/>
        </p:nvSpPr>
        <p:spPr>
          <a:xfrm>
            <a:off x="2037105" y="5934456"/>
            <a:ext cx="81147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Leaver: contractor disabled, 0 groups, 0 apps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5 · GOVERNANCE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access review: does everyone still need this?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Every manager confirmed their team's access; the review found and removed a hidden leftover key.</a:t>
            </a:r>
            <a:endParaRPr lang="en-US" sz="1700" dirty="0"/>
          </a:p>
        </p:txBody>
      </p:sp>
      <p:sp>
        <p:nvSpPr>
          <p:cNvPr id="6" name="stat-bg-0"/>
          <p:cNvSpPr/>
          <p:nvPr/>
        </p:nvSpPr>
        <p:spPr>
          <a:xfrm>
            <a:off x="502920" y="196596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tat-num-0"/>
          <p:cNvSpPr txBox="1"/>
          <p:nvPr/>
        </p:nvSpPr>
        <p:spPr>
          <a:xfrm>
            <a:off x="685800" y="205740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3600" dirty="0"/>
          </a:p>
        </p:txBody>
      </p:sp>
      <p:sp>
        <p:nvSpPr>
          <p:cNvPr id="8" name="stat-lbl-0"/>
          <p:cNvSpPr txBox="1"/>
          <p:nvPr/>
        </p:nvSpPr>
        <p:spPr>
          <a:xfrm>
            <a:off x="685800" y="273634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access lines reviewed by managers</a:t>
            </a:r>
            <a:endParaRPr lang="en-US" sz="1300" dirty="0"/>
          </a:p>
        </p:txBody>
      </p:sp>
      <p:sp>
        <p:nvSpPr>
          <p:cNvPr id="9" name="stat-bg-1"/>
          <p:cNvSpPr/>
          <p:nvPr/>
        </p:nvSpPr>
        <p:spPr>
          <a:xfrm>
            <a:off x="3367278" y="196596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0" name="stat-num-1"/>
          <p:cNvSpPr txBox="1"/>
          <p:nvPr/>
        </p:nvSpPr>
        <p:spPr>
          <a:xfrm>
            <a:off x="3550158" y="205740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3600" dirty="0"/>
          </a:p>
        </p:txBody>
      </p:sp>
      <p:sp>
        <p:nvSpPr>
          <p:cNvPr id="11" name="stat-lbl-1"/>
          <p:cNvSpPr txBox="1"/>
          <p:nvPr/>
        </p:nvSpPr>
        <p:spPr>
          <a:xfrm>
            <a:off x="3550158" y="273634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confirmed with a justification</a:t>
            </a:r>
            <a:endParaRPr lang="en-US" sz="1300" dirty="0"/>
          </a:p>
        </p:txBody>
      </p:sp>
      <p:sp>
        <p:nvSpPr>
          <p:cNvPr id="12" name="stat-bg-2"/>
          <p:cNvSpPr/>
          <p:nvPr/>
        </p:nvSpPr>
        <p:spPr>
          <a:xfrm>
            <a:off x="6231636" y="196596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stat-num-2"/>
          <p:cNvSpPr txBox="1"/>
          <p:nvPr/>
        </p:nvSpPr>
        <p:spPr>
          <a:xfrm>
            <a:off x="6414516" y="205740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stat-lbl-2"/>
          <p:cNvSpPr txBox="1"/>
          <p:nvPr/>
        </p:nvSpPr>
        <p:spPr>
          <a:xfrm>
            <a:off x="6414516" y="273634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leftover key removed</a:t>
            </a:r>
            <a:endParaRPr lang="en-US" sz="1300" dirty="0"/>
          </a:p>
        </p:txBody>
      </p:sp>
      <p:sp>
        <p:nvSpPr>
          <p:cNvPr id="15" name="stat-bg-3"/>
          <p:cNvSpPr/>
          <p:nvPr/>
        </p:nvSpPr>
        <p:spPr>
          <a:xfrm>
            <a:off x="9095994" y="1965960"/>
            <a:ext cx="259003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stat-num-3"/>
          <p:cNvSpPr txBox="1"/>
          <p:nvPr/>
        </p:nvSpPr>
        <p:spPr>
          <a:xfrm>
            <a:off x="9278874" y="2057400"/>
            <a:ext cx="222427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stat-lbl-3"/>
          <p:cNvSpPr txBox="1"/>
          <p:nvPr/>
        </p:nvSpPr>
        <p:spPr>
          <a:xfrm>
            <a:off x="9278874" y="2736342"/>
            <a:ext cx="22242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legacy app brought under control</a:t>
            </a:r>
            <a:endParaRPr lang="en-US" sz="1300" dirty="0"/>
          </a:p>
        </p:txBody>
      </p:sp>
      <p:sp>
        <p:nvSpPr>
          <p:cNvPr id="18" name="review-finding-bg"/>
          <p:cNvSpPr/>
          <p:nvPr/>
        </p:nvSpPr>
        <p:spPr>
          <a:xfrm>
            <a:off x="502920" y="3520440"/>
            <a:ext cx="111831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9" name="review-finding"/>
          <p:cNvSpPr txBox="1"/>
          <p:nvPr/>
        </p:nvSpPr>
        <p:spPr>
          <a:xfrm>
            <a:off x="777240" y="365760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Key finding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switched-off test account still held a role on the patient-record storage. Disabling an account does not remove its access — only the review caught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6 · ZERO TRUST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locks for the future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I designed 13 Conditional Access rules that check how someone signs in, ready to switch on with a licence.</a:t>
            </a:r>
            <a:endParaRPr lang="en-US" sz="1700" dirty="0"/>
          </a:p>
        </p:txBody>
      </p:sp>
      <p:sp>
        <p:nvSpPr>
          <p:cNvPr id="6" name="ca-bg-0"/>
          <p:cNvSpPr/>
          <p:nvPr/>
        </p:nvSpPr>
        <p:spPr>
          <a:xfrm>
            <a:off x="502920" y="1965960"/>
            <a:ext cx="5449824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ca-h-0"/>
          <p:cNvSpPr txBox="1"/>
          <p:nvPr/>
        </p:nvSpPr>
        <p:spPr>
          <a:xfrm>
            <a:off x="77724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</a:t>
            </a:r>
            <a:endParaRPr lang="en-US" sz="2000" dirty="0"/>
          </a:p>
        </p:txBody>
      </p:sp>
      <p:sp>
        <p:nvSpPr>
          <p:cNvPr id="8" name="ca-t-0"/>
          <p:cNvSpPr txBox="1"/>
          <p:nvPr/>
        </p:nvSpPr>
        <p:spPr>
          <a:xfrm>
            <a:off x="777240" y="2606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MFA always · block old sign-in methods · block outside the US · stop device-code phishing</a:t>
            </a:r>
            <a:endParaRPr lang="en-US" sz="1500" dirty="0"/>
          </a:p>
        </p:txBody>
      </p:sp>
      <p:sp>
        <p:nvSpPr>
          <p:cNvPr id="9" name="ca-bg-1"/>
          <p:cNvSpPr/>
          <p:nvPr/>
        </p:nvSpPr>
        <p:spPr>
          <a:xfrm>
            <a:off x="6236208" y="1965960"/>
            <a:ext cx="5449824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0" name="ca-h-1"/>
          <p:cNvSpPr txBox="1"/>
          <p:nvPr/>
        </p:nvSpPr>
        <p:spPr>
          <a:xfrm>
            <a:off x="6510528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Administrators</a:t>
            </a:r>
            <a:endParaRPr lang="en-US" sz="2000" dirty="0"/>
          </a:p>
        </p:txBody>
      </p:sp>
      <p:sp>
        <p:nvSpPr>
          <p:cNvPr id="11" name="ca-t-1"/>
          <p:cNvSpPr txBox="1"/>
          <p:nvPr/>
        </p:nvSpPr>
        <p:spPr>
          <a:xfrm>
            <a:off x="6510528" y="2606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Phishing-resistant MFA (passkeys) · re-check every 4 hours</a:t>
            </a:r>
            <a:endParaRPr lang="en-US" sz="1500" dirty="0"/>
          </a:p>
        </p:txBody>
      </p:sp>
      <p:sp>
        <p:nvSpPr>
          <p:cNvPr id="12" name="ca-bg-2"/>
          <p:cNvSpPr/>
          <p:nvPr/>
        </p:nvSpPr>
        <p:spPr>
          <a:xfrm>
            <a:off x="502920" y="3840480"/>
            <a:ext cx="5449824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ca-h-2"/>
          <p:cNvSpPr txBox="1"/>
          <p:nvPr/>
        </p:nvSpPr>
        <p:spPr>
          <a:xfrm>
            <a:off x="77724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Patient-record apps</a:t>
            </a:r>
            <a:endParaRPr lang="en-US" sz="2000" dirty="0"/>
          </a:p>
        </p:txBody>
      </p:sp>
      <p:sp>
        <p:nvSpPr>
          <p:cNvPr id="14" name="ca-t-2"/>
          <p:cNvSpPr txBox="1"/>
          <p:nvPr/>
        </p:nvSpPr>
        <p:spPr>
          <a:xfrm>
            <a:off x="777240" y="44805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on hospital-managed devices with MFA · 8-hour shift sessions</a:t>
            </a:r>
            <a:endParaRPr lang="en-US" sz="1500" dirty="0"/>
          </a:p>
        </p:txBody>
      </p:sp>
      <p:sp>
        <p:nvSpPr>
          <p:cNvPr id="15" name="ca-bg-3"/>
          <p:cNvSpPr/>
          <p:nvPr/>
        </p:nvSpPr>
        <p:spPr>
          <a:xfrm>
            <a:off x="6236208" y="3840480"/>
            <a:ext cx="5449824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ca-h-3"/>
          <p:cNvSpPr txBox="1"/>
          <p:nvPr/>
        </p:nvSpPr>
        <p:spPr>
          <a:xfrm>
            <a:off x="6510528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Contractors</a:t>
            </a:r>
            <a:endParaRPr lang="en-US" sz="2000" dirty="0"/>
          </a:p>
        </p:txBody>
      </p:sp>
      <p:sp>
        <p:nvSpPr>
          <p:cNvPr id="17" name="ca-t-3"/>
          <p:cNvSpPr txBox="1"/>
          <p:nvPr/>
        </p:nvSpPr>
        <p:spPr>
          <a:xfrm>
            <a:off x="6510528" y="44805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their contracted apps · MFA at every sign-in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features I added (1 of 2)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Identity, network and data protection — what is built and working, and what is designed and ready.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891272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feature I added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Multifactor authentication (Microsoft Authenticator); security defaults on for the whole tenant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 custom role HVMC-Nurse-EHR-ReadOnly; RBAC v2 with 23 role groups (30/30 users exact)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applications with 'assignment required'; group-driven access sync; no stored secrets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Managers and employee IDs; contractor sponsor and end date; shared test account disabled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Three-tier VNet (Web / App / Data) with a network security group per tier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Bastion for admin access — no public IPs on servers; NAT gateway for outbound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deny of inbound Internet traffic to the database tier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at rest, HTTPS only, TLS 1.2; soft delete; geo-redundant copies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Storage with on-upload malware scanning; storage key rotation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features I added (2 of 2)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Monitoring, response and governance — the controls that watch, react and keep access correct over time.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891272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feature I added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Log Analytics workspace; Activity Log, NSG, Bastion and patient-record access logs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VNet flow logs with Traffic Analytics; 9 e-mail alert rules; $10 cost budget alert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Cloud (Storage, Resource Manager); Microsoft Sentinel with 4 custom rules + Fusion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Five-phase incident response playbook, tested live; detections tuned and incidents grouped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Workbook and HTML security dashboard with key metrics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Joiner / mover / leaver process with tickets; quarterly access review (HIPAA)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Trust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Conditional Access policies and two break-glass accounts (needs a licence)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 app consent, app registration and guest invites; second Global Administrator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LESSONS AND 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 and what comes next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Security is a loop: build it, test it, review it — and next, an on-site directory on my Mac.</a:t>
            </a:r>
            <a:endParaRPr lang="en-US" sz="1700" dirty="0"/>
          </a:p>
        </p:txBody>
      </p:sp>
      <p:sp>
        <p:nvSpPr>
          <p:cNvPr id="6" name="lesson-bg-0"/>
          <p:cNvSpPr/>
          <p:nvPr/>
        </p:nvSpPr>
        <p:spPr>
          <a:xfrm>
            <a:off x="502920" y="1874520"/>
            <a:ext cx="354787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lesson-h-0"/>
          <p:cNvSpPr txBox="1"/>
          <p:nvPr/>
        </p:nvSpPr>
        <p:spPr>
          <a:xfrm>
            <a:off x="73152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what you build</a:t>
            </a:r>
            <a:endParaRPr lang="en-US" sz="1900" dirty="0"/>
          </a:p>
        </p:txBody>
      </p:sp>
      <p:sp>
        <p:nvSpPr>
          <p:cNvPr id="8" name="lesson-t-0"/>
          <p:cNvSpPr txBox="1"/>
          <p:nvPr/>
        </p:nvSpPr>
        <p:spPr>
          <a:xfrm>
            <a:off x="73152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My own tests found a false alarm and duplicate incidents I would never have seen on paper.</a:t>
            </a:r>
            <a:endParaRPr lang="en-US" sz="1500" dirty="0"/>
          </a:p>
        </p:txBody>
      </p:sp>
      <p:sp>
        <p:nvSpPr>
          <p:cNvPr id="9" name="lesson-bg-1"/>
          <p:cNvSpPr/>
          <p:nvPr/>
        </p:nvSpPr>
        <p:spPr>
          <a:xfrm>
            <a:off x="4325112" y="1874520"/>
            <a:ext cx="354787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0" name="lesson-h-1"/>
          <p:cNvSpPr txBox="1"/>
          <p:nvPr/>
        </p:nvSpPr>
        <p:spPr>
          <a:xfrm>
            <a:off x="4553712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Disabling is not removing</a:t>
            </a:r>
            <a:endParaRPr lang="en-US" sz="1900" dirty="0"/>
          </a:p>
        </p:txBody>
      </p:sp>
      <p:sp>
        <p:nvSpPr>
          <p:cNvPr id="11" name="lesson-t-1"/>
          <p:cNvSpPr txBox="1"/>
          <p:nvPr/>
        </p:nvSpPr>
        <p:spPr>
          <a:xfrm>
            <a:off x="4553712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switched-off account kept its access until the review caught it.</a:t>
            </a:r>
            <a:endParaRPr lang="en-US" sz="1500" dirty="0"/>
          </a:p>
        </p:txBody>
      </p:sp>
      <p:sp>
        <p:nvSpPr>
          <p:cNvPr id="12" name="lesson-bg-2"/>
          <p:cNvSpPr/>
          <p:nvPr/>
        </p:nvSpPr>
        <p:spPr>
          <a:xfrm>
            <a:off x="8147304" y="1874520"/>
            <a:ext cx="354787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lesson-h-2"/>
          <p:cNvSpPr txBox="1"/>
          <p:nvPr/>
        </p:nvSpPr>
        <p:spPr>
          <a:xfrm>
            <a:off x="8375904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Licences shape design</a:t>
            </a:r>
            <a:endParaRPr lang="en-US" sz="1900" dirty="0"/>
          </a:p>
        </p:txBody>
      </p:sp>
      <p:sp>
        <p:nvSpPr>
          <p:cNvPr id="14" name="lesson-t-2"/>
          <p:cNvSpPr txBox="1"/>
          <p:nvPr/>
        </p:nvSpPr>
        <p:spPr>
          <a:xfrm>
            <a:off x="8375904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the free tier I automated what the paid features would do, and designed the rest.</a:t>
            </a:r>
            <a:endParaRPr lang="en-US" sz="1500" dirty="0"/>
          </a:p>
        </p:txBody>
      </p:sp>
      <p:sp>
        <p:nvSpPr>
          <p:cNvPr id="15" name="next-steps"/>
          <p:cNvSpPr txBox="1"/>
          <p:nvPr/>
        </p:nvSpPr>
        <p:spPr>
          <a:xfrm>
            <a:off x="502920" y="420624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Next: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Ubuntu server in UTM → name and fixed address → Samba domain controller → department structure → mirror the 31 staff identities from Entra ID.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THANK YOU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3"/>
                </a:solidFill>
              </a:rPr>
              <a:t>All work, scripts and evidence: github.com/sabi-s/dae-6-month-Sabi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9D6E3"/>
                </a:solidFill>
              </a:rPr>
              <a:t>Sabitha S Karanavar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VMC Secure Care">
  <a:themeElements>
    <a:clrScheme name="HVMC Secure Care">
      <a:dk1>
        <a:srgbClr val="1B2433"/>
      </a:dk1>
      <a:lt1>
        <a:srgbClr val="FFFFFF"/>
      </a:lt1>
      <a:dk2>
        <a:srgbClr val="12304A"/>
      </a:dk2>
      <a:lt2>
        <a:srgbClr val="EEF2F6"/>
      </a:lt2>
      <a:accent1>
        <a:srgbClr val="0E7C7B"/>
      </a:accent1>
      <a:accent2>
        <a:srgbClr val="E07A2F"/>
      </a:accent2>
      <a:accent3>
        <a:srgbClr val="2A5F9E"/>
      </a:accent3>
      <a:accent4>
        <a:srgbClr val="5B6B80"/>
      </a:accent4>
      <a:accent5>
        <a:srgbClr val="B3261E"/>
      </a:accent5>
      <a:accent6>
        <a:srgbClr val="1B7A3A"/>
      </a:accent6>
      <a:hlink>
        <a:srgbClr val="2A5F9E"/>
      </a:hlink>
      <a:folHlink>
        <a:srgbClr val="5B6B80"/>
      </a:folHlink>
    </a:clrScheme>
    <a:fontScheme name="HVMC Secure Ca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Horizon Valley Medical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HVMC Azure Security Project - Walkthrough</dc:title>
  <dc:subject>PptxGenJS Presentation</dc:subject>
  <dc:creator>Sabitha S Karanavar</dc:creator>
  <cp:lastModifiedBy>Sabitha S Karanavar</cp:lastModifiedBy>
  <cp:revision>1</cp:revision>
  <dcterms:created xsi:type="dcterms:W3CDTF">2026-10-21T18:16:38Z</dcterms:created>
  <dcterms:modified xsi:type="dcterms:W3CDTF">2026-10-21T18:16:38Z</dcterms:modified>
</cp:coreProperties>
</file>