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300" r:id="rId15"/>
    <p:sldId id="301" r:id="rId16"/>
    <p:sldId id="259" r:id="rId5"/>
    <p:sldId id="302" r:id="rId17"/>
    <p:sldId id="303" r:id="rId18"/>
    <p:sldId id="304" r:id="rId19"/>
    <p:sldId id="260" r:id="rId6"/>
    <p:sldId id="261" r:id="rId7"/>
    <p:sldId id="305" r:id="rId20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src5_image-5-1.png"/><Relationship Id="rId2" Type="http://schemas.openxmlformats.org/officeDocument/2006/relationships/image" Target="../media/src5_image-5-2.png"/><Relationship Id="rId3" Type="http://schemas.openxmlformats.org/officeDocument/2006/relationships/image" Target="../media/src5_image-5-3.png"/><Relationship Id="rId4" Type="http://schemas.openxmlformats.org/officeDocument/2006/relationships/image" Target="../media/src5_image-5-4.png"/><Relationship Id="rId5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src6_image-6-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src9_image-9-1.png"/><Relationship Id="rId2" Type="http://schemas.openxmlformats.org/officeDocument/2006/relationships/image" Target="../media/src9_image-9-1.png"/><Relationship Id="rId3" Type="http://schemas.openxmlformats.org/officeDocument/2006/relationships/image" Target="../media/src9_image-9-3.png"/><Relationship Id="rId4" Type="http://schemas.openxmlformats.org/officeDocument/2006/relationships/image" Target="../media/src9_image-9-4.png"/><Relationship Id="rId5" Type="http://schemas.openxmlformats.org/officeDocument/2006/relationships/image" Target="../media/src9_image-9-5.png"/><Relationship Id="rId6" Type="http://schemas.openxmlformats.org/officeDocument/2006/relationships/image" Target="../media/src9_image-9-6.png"/><Relationship Id="rId7" Type="http://schemas.openxmlformats.org/officeDocument/2006/relationships/image" Target="../media/src9_image-9-7.png"/><Relationship Id="rId8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src10_image-10-1.png"/><Relationship Id="rId2" Type="http://schemas.openxmlformats.org/officeDocument/2006/relationships/image" Target="../media/src10_image-10-2.png"/><Relationship Id="rId3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src11_image-11-1.png"/><Relationship Id="rId2" Type="http://schemas.openxmlformats.org/officeDocument/2006/relationships/image" Target="../media/src11_image-11-2.png"/><Relationship Id="rId3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src14_image-14-1.png"/><Relationship Id="rId2" Type="http://schemas.openxmlformats.org/officeDocument/2006/relationships/image" Target="../media/src14_image-14-2.png"/><Relationship Id="rId3" Type="http://schemas.openxmlformats.org/officeDocument/2006/relationships/image" Target="../media/src14_image-14-3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914400"/>
            <a:ext cx="2926080" cy="2926080"/>
          </a:xfrm>
          <a:prstGeom prst="ellipse">
            <a:avLst/>
          </a:prstGeom>
          <a:ln w="15875">
            <a:solidFill>
              <a:srgbClr val="028090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4846320"/>
            <a:ext cx="3017520" cy="3017520"/>
          </a:xfrm>
          <a:prstGeom prst="ellipse">
            <a:avLst/>
          </a:prstGeom>
          <a:ln w="15875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749808"/>
            <a:ext cx="2788920" cy="512064"/>
          </a:xfrm>
          <a:prstGeom prst="roundRect">
            <a:avLst>
              <a:gd name="adj" fmla="val 7143"/>
            </a:avLst>
          </a:prstGeom>
          <a:solidFill>
            <a:srgbClr val="B7E9D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74980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 6-MONTH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29844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PROGRAM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574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Project Showcase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58368" y="306324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30632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3  ·  WEEK 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" y="3794760"/>
            <a:ext cx="1005840" cy="0"/>
          </a:xfrm>
          <a:prstGeom prst="line">
            <a:avLst/>
          </a:prstGeom>
          <a:noFill/>
          <a:ln w="3175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9136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Sabitha S Karanavar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43525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 |  IAM Analyst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1783080"/>
            <a:ext cx="3291840" cy="3291840"/>
          </a:xfrm>
          <a:prstGeom prst="ellipse">
            <a:avLst/>
          </a:prstGeom>
          <a:ln w="19050">
            <a:solidFill>
              <a:srgbClr val="028090">
                <a:alpha val="80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366760" y="2331720"/>
            <a:ext cx="2194560" cy="21945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B2436">
                <a:alpha val="30000"/>
              </a:srgbClr>
            </a:outerShdw>
          </a:effectLst>
        </p:spPr>
      </p:sp>
      <p:pic>
        <p:nvPicPr>
          <p:cNvPr id="15" name="Image 0" descr="/tmp/claude-0/-home-claude/51fcdec7-0b88-5cda-9c23-14d6db613b7b/scratchpad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0264" y="2935224"/>
            <a:ext cx="987552" cy="98755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195560" y="1691640"/>
            <a:ext cx="914400" cy="914400"/>
          </a:xfrm>
          <a:prstGeom prst="ellipse">
            <a:avLst/>
          </a:prstGeom>
          <a:solidFill>
            <a:srgbClr val="D9A441"/>
          </a:solidFill>
          <a:ln w="50800">
            <a:solidFill>
              <a:srgbClr val="FBFAF7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25000"/>
              </a:srgbClr>
            </a:outerShdw>
          </a:effectLst>
        </p:spPr>
      </p:sp>
      <p:pic>
        <p:nvPicPr>
          <p:cNvPr id="17" name="Image 1" descr="/tmp/claude-0/-home-claude/51fcdec7-0b88-5cda-9c23-14d6db613b7b/scratchpad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920240"/>
            <a:ext cx="457200" cy="457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973568" y="4133088"/>
            <a:ext cx="777240" cy="777240"/>
          </a:xfrm>
          <a:prstGeom prst="ellipse">
            <a:avLst/>
          </a:prstGeom>
          <a:solidFill>
            <a:srgbClr val="C41E3A"/>
          </a:solidFill>
          <a:ln w="50800">
            <a:solidFill>
              <a:srgbClr val="FBFAF7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25000"/>
              </a:srgbClr>
            </a:outerShdw>
          </a:effectLst>
        </p:spPr>
      </p:sp>
      <p:pic>
        <p:nvPicPr>
          <p:cNvPr id="19" name="Image 2" descr="/tmp/claude-0/-home-claude/51fcdec7-0b88-5cda-9c23-14d6db613b7b/scratchpad/icon_hospi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3434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Semesters, One Growth Curve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core programming fundamentals to a live enterprise-style Identity &amp; Access Management capstone.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98448" y="2606040"/>
            <a:ext cx="7772400" cy="0"/>
          </a:xfrm>
          <a:prstGeom prst="line">
            <a:avLst/>
          </a:prstGeom>
          <a:noFill/>
          <a:ln w="25400">
            <a:solidFill>
              <a:srgbClr val="E1E6E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05840" y="233172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7" name="Image 0" descr="/tmp/claude-0/-home-claude/51fcdec7-0b88-5cda-9c23-14d6db613b7b/scratchpad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64" y="2456444"/>
            <a:ext cx="317480" cy="317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3375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Software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069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logic, Git/GitHub,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Unix, prompt engineering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2331720"/>
            <a:ext cx="566928" cy="566928"/>
          </a:xfrm>
          <a:prstGeom prst="ellipse">
            <a:avLst/>
          </a:prstGeom>
          <a:solidFill>
            <a:srgbClr val="3B4A9E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12" name="Image 1" descr="/tmp/claude-0/-home-claude/51fcdec7-0b88-5cda-9c23-14d6db613b7b/scratchpad/icon_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044" y="2456444"/>
            <a:ext cx="317480" cy="317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33375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Foundations &amp;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Readiness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4069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Security Analyst role-play,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capstone design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686800" y="233172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17" name="Image 2" descr="/tmp/claude-0/-home-claude/51fcdec7-0b88-5cda-9c23-14d6db613b7b/scratchpad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524" y="2456444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3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33375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IAM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(Live Project)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069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identity, network &amp;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threat-response operations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127455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Deal Alert — Python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61320" y="502920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5" name="Image 0" descr="/tmp/claude-0/-home-claude/51fcdec7-0b88-5cda-9c23-14d6db613b7b/scratchpad/icon_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021" y="623621"/>
            <a:ext cx="307238" cy="3072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989320" cy="4434840"/>
          </a:xfrm>
          <a:prstGeom prst="roundRect">
            <a:avLst>
              <a:gd name="adj" fmla="val 2474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176272"/>
            <a:ext cx="53492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command-line app that tracks product prices and sends a deal alert when a price drops to a user's target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multi-user accounts with password hashing and login-attempt limits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JSON-based data storage for products, users, and watchlists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iteratively across 4 versions — simple tracker → CSV watchlist → JSON storage → polished multi-user final release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858000" y="1600200"/>
            <a:ext cx="4709160" cy="443484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7804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VALUE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21945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logic behind real e-commerce price-tracking tools consumers use every day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automation, rule-based alerting, and account security — patterns used across retail, finance, and fraud-monitoring software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hands-on experience with the software lifecycle: design → build → test → iterate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4709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48280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iterations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27455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3 CAPSTONE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IAM Operations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environment: Horizon Valley Medical Center (HVMC) — a 30-employee healthcare organization across 10 departments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61320" y="50292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6" name="Image 0" descr="/tmp/claude-0/-home-claude/51fcdec7-0b88-5cda-9c23-14d6db613b7b/scratchpad/icon_hosp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021" y="623621"/>
            <a:ext cx="307238" cy="3072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874520"/>
            <a:ext cx="5989320" cy="4206240"/>
          </a:xfrm>
          <a:prstGeom prst="roundRect">
            <a:avLst>
              <a:gd name="adj" fmla="val 2609"/>
            </a:avLst>
          </a:prstGeom>
          <a:solidFill>
            <a:srgbClr val="F2F5F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2103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INVOLVES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450592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Identity &amp; Access Management lab: Samba4 Active Directory domain, RBAC + ACL-based access control, on-prem → cloud identity via Microsoft Entra ID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network security architecture: topology, subnetting, firewall/IDS-IPS rules, secure wireless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real threat exercises: phishing simulation (Kali/SET), malware analysis via VirusTotal, a real APT group mapped to MITRE ATT&amp;CK, and a tabletop incident-response drill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0" y="1874520"/>
            <a:ext cx="470916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7804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2450592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is the #1 control healthcare organizations rely on to protect patient data and meet compliance standards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daily work of real IAM Analysts, Security Operations, and GRC/Compliance teams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portfolio-ready case study directly relevant to hiring managers in healthcare IT and cybersecurity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Progress: Week 4 of 12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39724" cy="310896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1552956" y="1691640"/>
            <a:ext cx="839724" cy="310896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2465832" y="1691640"/>
            <a:ext cx="839724" cy="310896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3378708" y="1691640"/>
            <a:ext cx="839724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4291584" y="1691640"/>
            <a:ext cx="839724" cy="310896"/>
          </a:xfrm>
          <a:prstGeom prst="roundRect">
            <a:avLst>
              <a:gd name="adj" fmla="val 11765"/>
            </a:avLst>
          </a:prstGeom>
          <a:solidFill>
            <a:srgbClr val="E1E6EE"/>
          </a:solidFill>
          <a:ln/>
        </p:spPr>
      </p:sp>
      <p:sp>
        <p:nvSpPr>
          <p:cNvPr id="9" name="Shape 7"/>
          <p:cNvSpPr/>
          <p:nvPr/>
        </p:nvSpPr>
        <p:spPr>
          <a:xfrm>
            <a:off x="5204460" y="1691640"/>
            <a:ext cx="839724" cy="310896"/>
          </a:xfrm>
          <a:prstGeom prst="roundRect">
            <a:avLst>
              <a:gd name="adj" fmla="val 11765"/>
            </a:avLst>
          </a:prstGeom>
          <a:solidFill>
            <a:srgbClr val="E1E6EE"/>
          </a:solidFill>
          <a:ln/>
        </p:spPr>
      </p:sp>
      <p:sp>
        <p:nvSpPr>
          <p:cNvPr id="10" name="Shape 8"/>
          <p:cNvSpPr/>
          <p:nvPr/>
        </p:nvSpPr>
        <p:spPr>
          <a:xfrm>
            <a:off x="6117336" y="1691640"/>
            <a:ext cx="839724" cy="310896"/>
          </a:xfrm>
          <a:prstGeom prst="roundRect">
            <a:avLst>
              <a:gd name="adj" fmla="val 11765"/>
            </a:avLst>
          </a:prstGeom>
          <a:solidFill>
            <a:srgbClr val="E1E6EE"/>
          </a:solidFill>
          <a:ln/>
        </p:spPr>
      </p:sp>
      <p:sp>
        <p:nvSpPr>
          <p:cNvPr id="11" name="Shape 9"/>
          <p:cNvSpPr/>
          <p:nvPr/>
        </p:nvSpPr>
        <p:spPr>
          <a:xfrm>
            <a:off x="7030212" y="1691640"/>
            <a:ext cx="839724" cy="310896"/>
          </a:xfrm>
          <a:prstGeom prst="roundRect">
            <a:avLst>
              <a:gd name="adj" fmla="val 11765"/>
            </a:avLst>
          </a:prstGeom>
          <a:solidFill>
            <a:srgbClr val="E1E6EE"/>
          </a:solidFill>
          <a:ln/>
        </p:spPr>
      </p:sp>
      <p:sp>
        <p:nvSpPr>
          <p:cNvPr id="12" name="Shape 10"/>
          <p:cNvSpPr/>
          <p:nvPr/>
        </p:nvSpPr>
        <p:spPr>
          <a:xfrm>
            <a:off x="7943088" y="1691640"/>
            <a:ext cx="839724" cy="310896"/>
          </a:xfrm>
          <a:prstGeom prst="roundRect">
            <a:avLst>
              <a:gd name="adj" fmla="val 11765"/>
            </a:avLst>
          </a:prstGeom>
          <a:solidFill>
            <a:srgbClr val="E1E6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855964" y="1691640"/>
            <a:ext cx="839724" cy="310896"/>
          </a:xfrm>
          <a:prstGeom prst="roundRect">
            <a:avLst>
              <a:gd name="adj" fmla="val 11765"/>
            </a:avLst>
          </a:prstGeom>
          <a:solidFill>
            <a:srgbClr val="E1E6EE"/>
          </a:solidFill>
          <a:ln/>
        </p:spPr>
      </p:sp>
      <p:sp>
        <p:nvSpPr>
          <p:cNvPr id="14" name="Shape 12"/>
          <p:cNvSpPr/>
          <p:nvPr/>
        </p:nvSpPr>
        <p:spPr>
          <a:xfrm>
            <a:off x="9768840" y="1691640"/>
            <a:ext cx="839724" cy="310896"/>
          </a:xfrm>
          <a:prstGeom prst="roundRect">
            <a:avLst>
              <a:gd name="adj" fmla="val 11765"/>
            </a:avLst>
          </a:prstGeom>
          <a:solidFill>
            <a:srgbClr val="E1E6E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81716" y="1691640"/>
            <a:ext cx="839724" cy="310896"/>
          </a:xfrm>
          <a:prstGeom prst="roundRect">
            <a:avLst>
              <a:gd name="adj" fmla="val 11765"/>
            </a:avLst>
          </a:prstGeom>
          <a:solidFill>
            <a:srgbClr val="E1E6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133076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331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 </a:t>
            </a:r>
            <a:pPr indent="0" marL="0">
              <a:buNone/>
            </a:pPr>
            <a:r>
              <a:rPr lang="en-US" sz="1500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 —  Weeks 1–3 done, Week 4 (Entra ID Foundation) in progress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20" name="Image 0" descr="/tmp/claude-0/-home-claude/51fcdec7-0b88-5cda-9c23-14d6db613b7b/scratchpad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4612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234440" y="3227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SO FAR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3611880"/>
            <a:ext cx="5486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Scope Definition &amp; First Build Steps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Security Operations: Network Security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Domain Controller &amp; Client; Security Operations: Threats &amp; Vulnerability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Policy &amp; User Accounts; Entra ID Foundation (in progress)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355080" y="3154680"/>
            <a:ext cx="457200" cy="457200"/>
          </a:xfrm>
          <a:prstGeom prst="ellipse">
            <a:avLst/>
          </a:prstGeom>
          <a:solidFill>
            <a:srgbClr val="3B4A9E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24" name="Image 1" descr="/tmp/claude-0/-home-claude/51fcdec7-0b88-5cda-9c23-14d6db613b7b/scratchpad/icon_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24612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949440" y="3227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COMPLETE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355080" y="3611880"/>
            <a:ext cx="5486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5–7 — Joiner-Mover-Leaver lifecycle activities &amp; periodic access reviews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8–9 — Scripted account provisioning/deprovisioning + Conditional Access policies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 — Standard Operating Procedures documentation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11–12 — Design-document reconciliation, rubric cross-check &amp; final portfolio publishing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1127455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Built Across All 3 Semesters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13760" cy="1264920"/>
          </a:xfrm>
          <a:prstGeom prst="roundRect">
            <a:avLst>
              <a:gd name="adj" fmla="val 7229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72640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6" name="Image 0" descr="/tmp/claude-0/-home-claude/51fcdec7-0b88-5cda-9c23-14d6db613b7b/scratchpad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1832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37944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Programming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313432"/>
            <a:ext cx="240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functions, JSON, file I/O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73880" y="1691640"/>
            <a:ext cx="3413760" cy="1264920"/>
          </a:xfrm>
          <a:prstGeom prst="roundRect">
            <a:avLst>
              <a:gd name="adj" fmla="val 7229"/>
            </a:avLst>
          </a:prstGeom>
          <a:solidFill>
            <a:srgbClr val="F2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75048" y="2072640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11" name="Image 1" descr="/tmp/claude-0/-home-claude/51fcdec7-0b88-5cda-9c23-14d6db613b7b/scratchpad/icon_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218328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42560" y="1837944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Git, GitHub &amp; Unix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242560" y="2313432"/>
            <a:ext cx="240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CLI fluency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7680" y="1691640"/>
            <a:ext cx="3413760" cy="1264920"/>
          </a:xfrm>
          <a:prstGeom prst="roundRect">
            <a:avLst>
              <a:gd name="adj" fmla="val 7229"/>
            </a:avLst>
          </a:prstGeom>
          <a:solidFill>
            <a:srgbClr val="F2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8848" y="2072640"/>
            <a:ext cx="502920" cy="502920"/>
          </a:xfrm>
          <a:prstGeom prst="ellipse">
            <a:avLst/>
          </a:prstGeom>
          <a:solidFill>
            <a:srgbClr val="3B4A9E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16" name="Image 2" descr="/tmp/claude-0/-home-claude/51fcdec7-0b88-5cda-9c23-14d6db613b7b/scratchpad/icon_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490" y="218328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76360" y="1837944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Access Mgmt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976360" y="2313432"/>
            <a:ext cx="240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ACLs, JML lifecycle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230880"/>
            <a:ext cx="3413760" cy="1264920"/>
          </a:xfrm>
          <a:prstGeom prst="roundRect">
            <a:avLst>
              <a:gd name="adj" fmla="val 7229"/>
            </a:avLst>
          </a:prstGeom>
          <a:solidFill>
            <a:srgbClr val="F2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841248" y="3611880"/>
            <a:ext cx="502920" cy="502920"/>
          </a:xfrm>
          <a:prstGeom prst="ellipse">
            <a:avLst/>
          </a:prstGeom>
          <a:solidFill>
            <a:srgbClr val="3B4A9E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21" name="Image 3" descr="/tmp/claude-0/-home-claude/51fcdec7-0b88-5cda-9c23-14d6db613b7b/scratchpad/icon_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" y="372252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3377184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Security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3852672"/>
            <a:ext cx="240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Topology, subnetting, IDS/IPS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73880" y="3230880"/>
            <a:ext cx="3413760" cy="1264920"/>
          </a:xfrm>
          <a:prstGeom prst="roundRect">
            <a:avLst>
              <a:gd name="adj" fmla="val 7229"/>
            </a:avLst>
          </a:prstGeom>
          <a:solidFill>
            <a:srgbClr val="F2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5048" y="3611880"/>
            <a:ext cx="502920" cy="502920"/>
          </a:xfrm>
          <a:prstGeom prst="ellipse">
            <a:avLst/>
          </a:prstGeom>
          <a:solidFill>
            <a:srgbClr val="3B4A9E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26" name="Image 4" descr="/tmp/claude-0/-home-claude/51fcdec7-0b88-5cda-9c23-14d6db613b7b/scratchpad/icon_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690" y="3722522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42560" y="3377184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Identity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5242560" y="3852672"/>
            <a:ext cx="240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ID, MFA, SSO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07680" y="3230880"/>
            <a:ext cx="3413760" cy="1264920"/>
          </a:xfrm>
          <a:prstGeom prst="roundRect">
            <a:avLst>
              <a:gd name="adj" fmla="val 7229"/>
            </a:avLst>
          </a:prstGeom>
          <a:solidFill>
            <a:srgbClr val="F2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308848" y="3611880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31" name="Image 5" descr="/tmp/claude-0/-home-claude/51fcdec7-0b88-5cda-9c23-14d6db613b7b/scratchpad/icon_bu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490" y="3722522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76360" y="3377184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&amp; Vuln. Analysis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976360" y="3852672"/>
            <a:ext cx="240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analysis, MITRE ATT&amp;CK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0080" y="4770120"/>
            <a:ext cx="3413760" cy="1264920"/>
          </a:xfrm>
          <a:prstGeom prst="roundRect">
            <a:avLst>
              <a:gd name="adj" fmla="val 7229"/>
            </a:avLst>
          </a:prstGeom>
          <a:solidFill>
            <a:srgbClr val="F2F5F9"/>
          </a:solidFill>
          <a:ln/>
        </p:spPr>
      </p:sp>
      <p:sp>
        <p:nvSpPr>
          <p:cNvPr id="35" name="Shape 27"/>
          <p:cNvSpPr/>
          <p:nvPr/>
        </p:nvSpPr>
        <p:spPr>
          <a:xfrm>
            <a:off x="841248" y="5151120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36" name="Image 6" descr="/tmp/claude-0/-home-claude/51fcdec7-0b88-5cda-9c23-14d6db613b7b/scratchpad/icon_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890" y="5261762"/>
            <a:ext cx="281635" cy="28163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508760" y="4916424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Tooling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1508760" y="5391912"/>
            <a:ext cx="240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Wireshark, Nmap, OpenVAS, Kali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373880" y="4770120"/>
            <a:ext cx="3413760" cy="1264920"/>
          </a:xfrm>
          <a:prstGeom prst="roundRect">
            <a:avLst>
              <a:gd name="adj" fmla="val 7229"/>
            </a:avLst>
          </a:prstGeom>
          <a:solidFill>
            <a:srgbClr val="F2F5F9"/>
          </a:solidFill>
          <a:ln/>
        </p:spPr>
      </p:sp>
      <p:sp>
        <p:nvSpPr>
          <p:cNvPr id="40" name="Shape 31"/>
          <p:cNvSpPr/>
          <p:nvPr/>
        </p:nvSpPr>
        <p:spPr>
          <a:xfrm>
            <a:off x="4575048" y="5151120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41" name="Image 7" descr="/tmp/claude-0/-home-claude/51fcdec7-0b88-5cda-9c23-14d6db613b7b/scratchpad/icon_user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5690" y="5261762"/>
            <a:ext cx="281635" cy="28163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242560" y="4916424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</a:t>
            </a:r>
            <a:endParaRPr lang="en-US" sz="1350" dirty="0"/>
          </a:p>
        </p:txBody>
      </p:sp>
      <p:sp>
        <p:nvSpPr>
          <p:cNvPr id="43" name="Text 33"/>
          <p:cNvSpPr txBox="1"/>
          <p:nvPr/>
        </p:nvSpPr>
        <p:spPr>
          <a:xfrm>
            <a:off x="5242560" y="5391912"/>
            <a:ext cx="240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contain → recover drills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107680" y="4770120"/>
            <a:ext cx="3413760" cy="1264920"/>
          </a:xfrm>
          <a:prstGeom prst="roundRect">
            <a:avLst>
              <a:gd name="adj" fmla="val 7229"/>
            </a:avLst>
          </a:prstGeom>
          <a:solidFill>
            <a:srgbClr val="F2F5F9"/>
          </a:solidFill>
          <a:ln/>
        </p:spPr>
      </p:sp>
      <p:sp>
        <p:nvSpPr>
          <p:cNvPr id="45" name="Shape 35"/>
          <p:cNvSpPr/>
          <p:nvPr/>
        </p:nvSpPr>
        <p:spPr>
          <a:xfrm>
            <a:off x="8308848" y="5151120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46" name="Image 8" descr="/tmp/claude-0/-home-claude/51fcdec7-0b88-5cda-9c23-14d6db613b7b/scratchpad/icon_cha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9490" y="5261762"/>
            <a:ext cx="281635" cy="28163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976360" y="4916424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Communication</a:t>
            </a:r>
            <a:endParaRPr lang="en-US" sz="1350" dirty="0"/>
          </a:p>
        </p:txBody>
      </p:sp>
      <p:sp>
        <p:nvSpPr>
          <p:cNvPr id="48" name="Text 37"/>
          <p:cNvSpPr txBox="1"/>
          <p:nvPr/>
        </p:nvSpPr>
        <p:spPr>
          <a:xfrm>
            <a:off x="8976360" y="5391912"/>
            <a:ext cx="240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updates, documentation</a:t>
            </a:r>
            <a:endParaRPr lang="en-US" sz="1050" dirty="0"/>
          </a:p>
        </p:txBody>
      </p:sp>
      <p:sp>
        <p:nvSpPr>
          <p:cNvPr id="49" name="Text 38"/>
          <p:cNvSpPr txBox="1"/>
          <p:nvPr/>
        </p:nvSpPr>
        <p:spPr>
          <a:xfrm>
            <a:off x="1127455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LEARN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Toolkit &amp; 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61320" y="50292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5" name="Image 0" descr="/tmp/claude-0/-home-claude/51fcdec7-0b88-5cda-9c23-14d6db613b7b/scratchpad/icon_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021" y="623621"/>
            <a:ext cx="307238" cy="3072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7" name="Image 1" descr="/tmp/claude-0/-home-claude/51fcdec7-0b88-5cda-9c23-14d6db613b7b/scratchpad/icon_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190378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7556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2075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 tutorials &amp; concept walkthroughs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40080" y="2770632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11" name="Image 2" descr="/tmp/claude-0/-home-claude/51fcdec7-0b88-5cda-9c23-14d6db613b7b/scratchpad/icon_booklap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2891333"/>
            <a:ext cx="261518" cy="26151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743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Schoology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325880" y="3063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Coursework, assignments &amp; instructor materials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40080" y="3758184"/>
            <a:ext cx="502920" cy="502920"/>
          </a:xfrm>
          <a:prstGeom prst="ellipse">
            <a:avLst/>
          </a:prstGeom>
          <a:solidFill>
            <a:srgbClr val="3B4A9E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15" name="Image 3" descr="/tmp/claude-0/-home-claude/51fcdec7-0b88-5cda-9c23-14d6db613b7b/scratchpad/icon_task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878885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37307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Monday.com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325880" y="4050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weekly tasks against the 12-week capstone plan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40080" y="4745736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436">
                <a:alpha val="28000"/>
              </a:srgbClr>
            </a:outerShdw>
          </a:effectLst>
        </p:spPr>
      </p:sp>
      <p:pic>
        <p:nvPicPr>
          <p:cNvPr id="19" name="Image 4" descr="/tmp/claude-0/-home-claude/51fcdec7-0b88-5cda-9c23-14d6db613b7b/scratchpad/icon_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4866437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47183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Cybersecurity Cert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1325880" y="5038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progress, alongside coursework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858000" y="1691640"/>
            <a:ext cx="470916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7178040" y="1938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&amp; WHAT'S NEXT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7178040" y="251460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pursuing the Google Cybersecurity Professional Certificate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certification goal: CompTIA Security+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Leaning more heavily on Monday.com next semester — planning tasks ahead to stay on schedule and finish on time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1127455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291840" cy="3291840"/>
          </a:xfrm>
          <a:prstGeom prst="ellipse">
            <a:avLst/>
          </a:prstGeom>
          <a:solidFill>
            <a:srgbClr val="3B4A9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5120640"/>
            <a:ext cx="2194560" cy="219456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7276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to my instructors and peers at DAE — which has become a second home to me — for their support throughout this journey, from my first Python program to hands-on healthcare IAM operations.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4160520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297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Sabitha S Karanavar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 Cybersecurity &amp; Networking Program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36992" y="1600200"/>
            <a:ext cx="1783080" cy="32461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2000"/>
              </a:srgbClr>
            </a:outerShdw>
          </a:effectLst>
        </p:spPr>
      </p:sp>
      <p:pic>
        <p:nvPicPr>
          <p:cNvPr id="11" name="Image 0" descr="/tmp/claude-0/-home-claude/51fcdec7-0b88-5cda-9c23-14d6db613b7b/scratchpad/linkedin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2732" y="1828800"/>
            <a:ext cx="1371600" cy="1371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10144" y="331927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CONNECT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010144" y="361188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linkedin.com/in/sabitha-s-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49ba9b428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811512" y="1600200"/>
            <a:ext cx="1783080" cy="32461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2000"/>
              </a:srgbClr>
            </a:outerShdw>
          </a:effectLst>
        </p:spPr>
      </p:sp>
      <p:pic>
        <p:nvPicPr>
          <p:cNvPr id="15" name="Image 1" descr="/tmp/claude-0/-home-claude/51fcdec7-0b88-5cda-9c23-14d6db613b7b/scratchpad/github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252" y="1828800"/>
            <a:ext cx="1371600" cy="1371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884664" y="331927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GITHUB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9884664" y="361188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github.com/sabi-s/dae-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6-month-Sabi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Deal Alert — Stack &amp; Learnings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12700">
            <a:solidFill>
              <a:srgbClr val="DE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72768"/>
            <a:ext cx="1559052" cy="310896"/>
          </a:xfrm>
          <a:prstGeom prst="roundRect">
            <a:avLst>
              <a:gd name="adj" fmla="val 14706"/>
            </a:avLst>
          </a:prstGeom>
          <a:solidFill>
            <a:srgbClr val="1B1F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155905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2212848"/>
            <a:ext cx="777240" cy="777240"/>
          </a:xfrm>
          <a:prstGeom prst="ellipse">
            <a:avLst/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8" name="Image 0" descr="/home/claude/deck/img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359" y="2387727"/>
            <a:ext cx="427482" cy="42748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0906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37560" y="201168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2212848"/>
            <a:ext cx="777240" cy="777240"/>
          </a:xfrm>
          <a:prstGeom prst="ellipse">
            <a:avLst/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12" name="Image 1" descr="/home/claude/deck/img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839" y="2387727"/>
            <a:ext cx="427482" cy="4274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29000" y="30906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Storage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35040" y="201168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49440" y="2212848"/>
            <a:ext cx="777240" cy="777240"/>
          </a:xfrm>
          <a:prstGeom prst="ellipse">
            <a:avLst/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16" name="Image 2" descr="/home/claude/deck/img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319" y="2387727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26480" y="30906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CLI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732520" y="201168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46920" y="2212848"/>
            <a:ext cx="777240" cy="777240"/>
          </a:xfrm>
          <a:prstGeom prst="ellipse">
            <a:avLst/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20" name="Image 3" descr="/home/claude/deck/img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1799" y="2387727"/>
            <a:ext cx="427482" cy="42748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23960" y="30906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Lockout Logic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" y="3977640"/>
            <a:ext cx="1981505" cy="310896"/>
          </a:xfrm>
          <a:prstGeom prst="roundRect">
            <a:avLst>
              <a:gd name="adj" fmla="val 14706"/>
            </a:avLst>
          </a:prstGeom>
          <a:solidFill>
            <a:srgbClr val="1D9A8F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640080" y="3977640"/>
            <a:ext cx="1981505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389120"/>
            <a:ext cx="10881360" cy="1874520"/>
          </a:xfrm>
          <a:prstGeom prst="roundRect">
            <a:avLst>
              <a:gd name="adj" fmla="val 4878"/>
            </a:avLst>
          </a:prstGeom>
          <a:solidFill>
            <a:srgbClr val="EEF2F7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960120" y="461772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Python: dictionaries, loops, list comprehensions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Input-validation retry loops (e.g. get_positive_number)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runnable scripts with if __name__ == "__main__"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263640" y="461772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JSON as lightweight persistent storage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basic authentication &amp; account-safety logic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✦"/>
            </a:pPr>
            <a:r>
              <a:rPr lang="en-US" sz="130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a project across multiple presentation cycles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  |  DAE 6-Month Program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Deal Alert — Program 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launch to logout — how the pieces connect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881360" cy="0"/>
          </a:xfrm>
          <a:prstGeom prst="line">
            <a:avLst/>
          </a:prstGeom>
          <a:noFill/>
          <a:ln w="12700">
            <a:solidFill>
              <a:srgbClr val="DE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997712" cy="777240"/>
          </a:xfrm>
          <a:prstGeom prst="roundRect">
            <a:avLst>
              <a:gd name="adj" fmla="val 7059"/>
            </a:avLst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8368" y="1600200"/>
            <a:ext cx="96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637792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75536" y="1600200"/>
            <a:ext cx="997712" cy="777240"/>
          </a:xfrm>
          <a:prstGeom prst="roundRect">
            <a:avLst>
              <a:gd name="adj" fmla="val 7059"/>
            </a:avLst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893824" y="1600200"/>
            <a:ext cx="96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873248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110992" y="1600200"/>
            <a:ext cx="997712" cy="777240"/>
          </a:xfrm>
          <a:prstGeom prst="roundRect">
            <a:avLst>
              <a:gd name="adj" fmla="val 7059"/>
            </a:avLst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29280" y="1600200"/>
            <a:ext cx="96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108704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46448" y="1600200"/>
            <a:ext cx="997712" cy="777240"/>
          </a:xfrm>
          <a:prstGeom prst="roundRect">
            <a:avLst>
              <a:gd name="adj" fmla="val 7059"/>
            </a:avLst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364736" y="1600200"/>
            <a:ext cx="96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344160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81904" y="1600200"/>
            <a:ext cx="997712" cy="777240"/>
          </a:xfrm>
          <a:prstGeom prst="roundRect">
            <a:avLst>
              <a:gd name="adj" fmla="val 7059"/>
            </a:avLst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600192" y="1600200"/>
            <a:ext cx="96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View /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Delete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579616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17360" y="1600200"/>
            <a:ext cx="997712" cy="777240"/>
          </a:xfrm>
          <a:prstGeom prst="roundRect">
            <a:avLst>
              <a:gd name="adj" fmla="val 7059"/>
            </a:avLst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35648" y="1600200"/>
            <a:ext cx="96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815072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52816" y="1600200"/>
            <a:ext cx="997712" cy="777240"/>
          </a:xfrm>
          <a:prstGeom prst="roundRect">
            <a:avLst>
              <a:gd name="adj" fmla="val 7059"/>
            </a:avLst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071104" y="1600200"/>
            <a:ext cx="96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050528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88272" y="1600200"/>
            <a:ext cx="997712" cy="777240"/>
          </a:xfrm>
          <a:prstGeom prst="roundRect">
            <a:avLst>
              <a:gd name="adj" fmla="val 7059"/>
            </a:avLst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306560" y="1600200"/>
            <a:ext cx="96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285984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523728" y="1600200"/>
            <a:ext cx="997712" cy="777240"/>
          </a:xfrm>
          <a:prstGeom prst="roundRect">
            <a:avLst>
              <a:gd name="adj" fmla="val 7059"/>
            </a:avLst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542016" y="1600200"/>
            <a:ext cx="96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2606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between runs in </a:t>
            </a:r>
            <a:pPr algn="ctr" indent="0" marL="0">
              <a:buNone/>
            </a:pPr>
            <a:r>
              <a:rPr lang="en-US" sz="1200" b="1" i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users_data.json</a:t>
            </a:r>
            <a:pPr algn="ctr" indent="0" marL="0">
              <a:buNone/>
            </a:pPr>
            <a:r>
              <a:rPr lang="en-US" sz="1200" i="1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database needed. Each logged-in user only sees and edits their own product list.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45052" y="3008376"/>
            <a:ext cx="4498848" cy="2854644"/>
          </a:xfrm>
          <a:prstGeom prst="roundRect">
            <a:avLst>
              <a:gd name="adj" fmla="val 2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33" name="Image 0" descr="/home/claude/deck/img/sda_terminal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16" y="3063240"/>
            <a:ext cx="4389120" cy="2744916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3845052" y="589959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program output — adding a product and getting a live Deal Alert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  |  DAE 6-Month Program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HVMC Lab — Network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LAN, star topology — single-site home lab with segmented VLANs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881360" cy="0"/>
          </a:xfrm>
          <a:prstGeom prst="line">
            <a:avLst/>
          </a:prstGeom>
          <a:noFill/>
          <a:ln w="12700">
            <a:solidFill>
              <a:srgbClr val="DE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46120" y="150876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8894A6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6" name="Image 0" descr="/home/claude/deck/img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4136" y="15910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749040" y="15087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949440" y="150876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2B3070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9" name="Image 1" descr="/home/claude/deck/img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456" y="159105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52360" y="15087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(Cloud)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229100" y="1965960"/>
            <a:ext cx="0" cy="201168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932420" y="1965960"/>
            <a:ext cx="0" cy="201168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29100" y="2167128"/>
            <a:ext cx="3703320" cy="0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94476" y="2167128"/>
            <a:ext cx="0" cy="201168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51476" y="2368296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D93A2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16" name="Image 2" descr="/home/claude/deck/img/fi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92" y="245059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54396" y="2368296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Firewall (UFW)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94476" y="2825496"/>
            <a:ext cx="0" cy="201168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951476" y="3026664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20" name="Image 3" descr="/home/claude/deck/img/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492" y="310896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54396" y="3026664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Switch (Star Topology)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094476" y="3483864"/>
            <a:ext cx="0" cy="292608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705356" y="3776472"/>
            <a:ext cx="8778240" cy="0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705356" y="3776472"/>
            <a:ext cx="0" cy="301752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899916" y="3776472"/>
            <a:ext cx="0" cy="301752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094476" y="3776472"/>
            <a:ext cx="0" cy="301752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289036" y="3776472"/>
            <a:ext cx="0" cy="301752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483596" y="3776472"/>
            <a:ext cx="0" cy="301752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68096" y="4078224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1D9A8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30" name="Image 4" descr="/home/claude/deck/img/ubunt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20540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271016" y="4078224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Controller — dc01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(Ubuntu + Samba4)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2962656" y="4078224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1D9A8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33" name="Image 5" descr="/home/claude/deck/img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0672" y="432054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465576" y="4078224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App Server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(Samba Shares)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157216" y="4078224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D98E1D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36" name="Text 28"/>
          <p:cNvSpPr txBox="1"/>
          <p:nvPr/>
        </p:nvSpPr>
        <p:spPr>
          <a:xfrm>
            <a:off x="5230368" y="4078224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7351776" y="4078224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D98E1D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38" name="Text 30"/>
          <p:cNvSpPr txBox="1"/>
          <p:nvPr/>
        </p:nvSpPr>
        <p:spPr>
          <a:xfrm>
            <a:off x="7424928" y="4078224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9546336" y="4078224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D98E1D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9619488" y="4078224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Security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10483596" y="4855464"/>
            <a:ext cx="0" cy="320040"/>
          </a:xfrm>
          <a:prstGeom prst="line">
            <a:avLst/>
          </a:prstGeom>
          <a:noFill/>
          <a:ln w="19050">
            <a:solidFill>
              <a:srgbClr val="B7C0CC"/>
            </a:solidFill>
            <a:prstDash val="dash"/>
          </a:ln>
        </p:spPr>
      </p:sp>
      <p:sp>
        <p:nvSpPr>
          <p:cNvPr id="42" name="Shape 34"/>
          <p:cNvSpPr/>
          <p:nvPr/>
        </p:nvSpPr>
        <p:spPr>
          <a:xfrm>
            <a:off x="9386316" y="5175504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2B3070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43" name="Image 6" descr="/home/claude/deck/img/c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4332" y="5280660"/>
            <a:ext cx="292608" cy="292608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9889236" y="5175504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/ Parrot VM (Security Testing)</a:t>
            </a:r>
            <a:endParaRPr lang="en-US" sz="1050" dirty="0"/>
          </a:p>
        </p:txBody>
      </p:sp>
      <p:sp>
        <p:nvSpPr>
          <p:cNvPr id="45" name="Text 3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  |  DAE 6-Month Program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I've Learned — Security Operations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0"/>
          </a:xfrm>
          <a:prstGeom prst="line">
            <a:avLst/>
          </a:prstGeom>
          <a:noFill/>
          <a:ln w="12700">
            <a:solidFill>
              <a:srgbClr val="DE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E8F5F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rgbClr val="1D9A8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6" name="Image 0" descr="/home/claude/deck/img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20185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06040"/>
            <a:ext cx="47091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single-site LAN in a star topology, segmented into 3 VLANs — Clinical, Administrative, and IT &amp; Security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layered defenses: UFW firewall (default-deny), Suricata IDS, and fail2ban IPS on the domain controller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WPA3-Personal wireless security with Protected Management Frames, plus WIPS monitoring for BYOD devices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access control via Samba share permissions + POSIX ACLs mapped to AD-style security groups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1600200"/>
            <a:ext cx="5486400" cy="4617720"/>
          </a:xfrm>
          <a:prstGeom prst="roundRect">
            <a:avLst>
              <a:gd name="adj" fmla="val 1980"/>
            </a:avLst>
          </a:prstGeom>
          <a:solidFill>
            <a:srgbClr val="FBECEA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1874520"/>
            <a:ext cx="640080" cy="640080"/>
          </a:xfrm>
          <a:prstGeom prst="ellipse">
            <a:avLst/>
          </a:prstGeom>
          <a:solidFill>
            <a:srgbClr val="D93A2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11" name="Image 1" descr="/home/claude/deck/img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378" y="201853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&amp; Vulnerability Mgmt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2606040"/>
            <a:ext cx="4983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Nmap-based asset discovery and vulnerability scans against the lab and an authorized external host — 149 unique CVEs identified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malware samples using VirusTotal and open-source threat-intelligence correlation (MalwareBazaar samples)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risk management: identified, treated, and monitored risks derived directly from the vulnerability scan results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tabletop incident-response exercise, documenting a detection use case end-to-end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✦"/>
            </a:pPr>
            <a:r>
              <a:rPr lang="en-US" sz="1250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threat intelligence work: IoC analysis complete, OpenCTI platform implementation in progress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  |  DAE 6-Month Program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HVMC IAM Lab — Project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org definition to a documented, portfolio-ready security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881360" cy="0"/>
          </a:xfrm>
          <a:prstGeom prst="line">
            <a:avLst/>
          </a:prstGeom>
          <a:noFill/>
          <a:ln w="12700">
            <a:solidFill>
              <a:srgbClr val="DE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1615440" cy="777240"/>
          </a:xfrm>
          <a:prstGeom prst="roundRect">
            <a:avLst>
              <a:gd name="adj" fmla="val 7059"/>
            </a:avLst>
          </a:prstGeom>
          <a:solidFill>
            <a:srgbClr val="1D9A8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8368" y="1600200"/>
            <a:ext cx="1578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Org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(HVMC)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255520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93264" y="1600200"/>
            <a:ext cx="1615440" cy="777240"/>
          </a:xfrm>
          <a:prstGeom prst="roundRect">
            <a:avLst>
              <a:gd name="adj" fmla="val 7059"/>
            </a:avLst>
          </a:prstGeom>
          <a:solidFill>
            <a:srgbClr val="1D9A8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11552" y="1600200"/>
            <a:ext cx="1578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OU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108704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46448" y="1600200"/>
            <a:ext cx="1615440" cy="777240"/>
          </a:xfrm>
          <a:prstGeom prst="roundRect">
            <a:avLst>
              <a:gd name="adj" fmla="val 7059"/>
            </a:avLst>
          </a:prstGeom>
          <a:solidFill>
            <a:srgbClr val="1D9A8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64736" y="1600200"/>
            <a:ext cx="1578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Lab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(Ubuntu + Samba4, UTM)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61888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99632" y="1600200"/>
            <a:ext cx="1615440" cy="777240"/>
          </a:xfrm>
          <a:prstGeom prst="roundRect">
            <a:avLst>
              <a:gd name="adj" fmla="val 7059"/>
            </a:avLst>
          </a:prstGeom>
          <a:solidFill>
            <a:srgbClr val="1D9A8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17920" y="1600200"/>
            <a:ext cx="1578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Network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(Firewall/IDS/IPS/WPA3)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815072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52816" y="1600200"/>
            <a:ext cx="1615440" cy="777240"/>
          </a:xfrm>
          <a:prstGeom prst="roundRect">
            <a:avLst>
              <a:gd name="adj" fmla="val 7059"/>
            </a:avLst>
          </a:prstGeom>
          <a:solidFill>
            <a:srgbClr val="1D9A8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71104" y="1600200"/>
            <a:ext cx="1578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Threats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Vulnerabilities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668256" y="160020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06000" y="1600200"/>
            <a:ext cx="1615440" cy="777240"/>
          </a:xfrm>
          <a:prstGeom prst="roundRect">
            <a:avLst>
              <a:gd name="adj" fmla="val 7059"/>
            </a:avLst>
          </a:prstGeom>
          <a:solidFill>
            <a:srgbClr val="1D9A8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24288" y="1600200"/>
            <a:ext cx="1578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297207" y="2596896"/>
            <a:ext cx="4282940" cy="3355848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23" name="Image 0" descr="/home/claude/deck/img/iam_nmap_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071" y="2651760"/>
            <a:ext cx="4173212" cy="32461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297207" y="5989320"/>
            <a:ext cx="428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vulnerability scan — 149 CVEs identified against the lab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790459" y="2596896"/>
            <a:ext cx="5101287" cy="3355848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26" name="Image 1" descr="/home/claude/deck/img/iam_virusto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323" y="2651760"/>
            <a:ext cx="4991559" cy="32461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790459" y="5989320"/>
            <a:ext cx="51012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malware diagnosis (22/60 engines flagged)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  |  DAE 6-Month Program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Research — Both Projects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three AI tools throughout Semester 1 and Semester 3 to research faster and think more clearly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881360" cy="0"/>
          </a:xfrm>
          <a:prstGeom prst="line">
            <a:avLst/>
          </a:prstGeom>
          <a:noFill/>
          <a:ln w="12700">
            <a:solidFill>
              <a:srgbClr val="DE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52244" y="2148840"/>
            <a:ext cx="868680" cy="868680"/>
          </a:xfrm>
          <a:prstGeom prst="ellipse">
            <a:avLst/>
          </a:prstGeom>
          <a:solidFill>
            <a:srgbClr val="1B1F4B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7" name="Image 0" descr="/home/claude/deck/img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697" y="2344293"/>
            <a:ext cx="477774" cy="4777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004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NotebookLM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703320"/>
            <a:ext cx="2862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research notes and source material, and generated grounded summaries of IAM &amp; security concepts.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182880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37276" y="2148840"/>
            <a:ext cx="868680" cy="868680"/>
          </a:xfrm>
          <a:prstGeom prst="ellipse">
            <a:avLst/>
          </a:prstGeom>
          <a:solidFill>
            <a:srgbClr val="1D9A8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12" name="Image 1" descr="/home/claude/deck/img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29" y="2344293"/>
            <a:ext cx="477774" cy="4777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07992" y="32004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4645152" y="3703320"/>
            <a:ext cx="2862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Brainstormed approaches, explained unfamiliar concepts, and helped debug Python logic.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10144" y="182880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22308" y="2148840"/>
            <a:ext cx="868680" cy="868680"/>
          </a:xfrm>
          <a:prstGeom prst="ellipse">
            <a:avLst/>
          </a:prstGeom>
          <a:solidFill>
            <a:srgbClr val="D98E1D"/>
          </a:solidFill>
          <a:ln/>
          <a:effectLst>
            <a:outerShdw sx="100000" sy="100000" kx="0" ky="0" algn="bl" rotWithShape="0" blurRad="101600" dist="38100" dir="5400000">
              <a:srgbClr val="1B1F4B">
                <a:alpha val="14000"/>
              </a:srgbClr>
            </a:outerShdw>
          </a:effectLst>
        </p:spPr>
      </p:sp>
      <p:pic>
        <p:nvPicPr>
          <p:cNvPr id="17" name="Image 2" descr="/home/claude/deck/img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761" y="2344293"/>
            <a:ext cx="477774" cy="4777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93024" y="32004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8330184" y="3703320"/>
            <a:ext cx="2862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technical planning, documentation, and structuring project write-ups and code.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algn="ctr" indent="0" marL="0">
              <a:buNone/>
            </a:pPr>
            <a:r>
              <a:rPr lang="en-US" sz="1300" i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sped up research and learning — every technical decision and every line of code was still mine.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  |  DAE 6-Month Program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Status Update</dc:title>
  <dc:subject>PptxGenJS Presentation</dc:subject>
  <dc:creator>Sabitha S Karanavar</dc:creator>
  <cp:lastModifiedBy>Sabitha S Karanavar</cp:lastModifiedBy>
  <cp:revision>1</cp:revision>
  <dcterms:created xsi:type="dcterms:W3CDTF">2026-09-10T16:14:14Z</dcterms:created>
  <dcterms:modified xsi:type="dcterms:W3CDTF">2026-09-10T16:14:14Z</dcterms:modified>
</cp:coreProperties>
</file>