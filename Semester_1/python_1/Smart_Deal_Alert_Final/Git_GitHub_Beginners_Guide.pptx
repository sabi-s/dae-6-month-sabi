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today's presentation we'll cover version control, Git, GitHub, the difference between them, the Git workflow, important Git commands, best practices, and a conclusion. We'll start from the basics, so even if you've never used Git before, you'll be able to follow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learning Git, we need to understand Version Control. Imagine writing a project report and saving several copies with names like Report_Final, Report_Final2, and Report_Final_Updated — after a few days you don't know which is the latest. Version Control solves this by keeping every version in order and recording who changed the code, what changed, when, and why. This gives us a complete history, easy restores of older versions, support for multiple developers working together, and protection against losing work. Think of Google Docs: every edit is saved automatically and old versions stay available. Git works the same way, but for source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is a Version Control System created by Linus Torvalds, the creator of Linux. Git is software installed on your own computer. It helps developers save project history, track code changes, create branches, merge code safely, and work offline. Git doesn't require the internet for most operations because everything is stored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remembers every commit as History, so if a bug appears you can check previous versions. Undo Mistakes means if you delete important code, Git allows you to restore it. Branches let developers create a separate copy of the project to safely experiment without affecting the main code. Merge combines a tested branch back into the main project. And Offline Work means everything works locally without internet — changes can be uploaded to GitHub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is an online platform that stores Git repositories. Think of Git as Microsoft Word and GitHub as Google Drive — Git saves locally, GitHub stores it online. GitHub allows sharing code, collaboration, backup, and project management. Millions of developers use GitHub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provides several useful features. Collaboration lets multiple developers contribute to the same project. Backup keeps projects safe in the cloud, so even if your computer crashes, your code remains safe. Code Review happens through Pull Requests, where developers review each other's work to improve quality. And Portfolio — students and professionals use GitHub to showcase their projects, and recruiters often check GitHub profiles.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commonly asked interview questions. Git is software, installed locally, that tracks versions and works offline — created by Linus Torvalds. GitHub is a website that runs online, hosts repositories, requires internet, and is owned by Microsoft. An easy way to remember: Git is like a camera that takes photos, and GitHub is like cloud storage where those photos are kept. Git tracks code, GitHub stores it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Git architecture flows from your Working Directory, where you create or edit files, into the Staging Area using git add, then into the Local Repository using git commit, and finally to GitHub using git push. This process happens every day while developing software. In practice the workflow is: create the project with git init, modify files, add them with git add, commit with a message using git commit -m, push with git push, and repeat — software development is an ongoing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essential Git commands: git init creates a Git repository, git status shows the current project status, git add moves files to the staging area, and git commit saves changes permanently. git log shows commit history. git branch lists branches, git checkout switches between them, and git merge combines them. git clone downloads a repository, git pull downloads the latest updates, and git push uploads your commits to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 frequently — small commits are easier to understand. Write meaningful commit messages: instead of just 'update', write something like 'Added Login Validation'. Use branches and never develop directly on main. Always pull before you push, so you download the latest changes before uploading yours. And never commit secrets like passwords, API keys, or tokens — store them in a .env file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Git is used to track changes in code, and GitHub is used to store repositories online and collaborate with others. Together they help developers work faster, work safely, recover previous versions, and collaborate efficiently. Learning Git and GitHub is one of the first steps toward becoming a professional software developer.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2E33"/>
        </a:solidFill>
      </p:bgPr>
    </p:bg>
    <p:spTree>
      <p:nvGrpSpPr>
        <p:cNvPr id="1" name=""/>
        <p:cNvGrpSpPr/>
        <p:nvPr/>
      </p:nvGrpSpPr>
      <p:grpSpPr>
        <a:xfrm>
          <a:off x="0" y="0"/>
          <a:ext cx="0" cy="0"/>
          <a:chOff x="0" y="0"/>
          <a:chExt cx="0" cy="0"/>
        </a:xfrm>
      </p:grpSpPr>
      <p:sp>
        <p:nvSpPr>
          <p:cNvPr id="2" name="Shape 0"/>
          <p:cNvSpPr/>
          <p:nvPr/>
        </p:nvSpPr>
        <p:spPr>
          <a:xfrm>
            <a:off x="9418320" y="-1645920"/>
            <a:ext cx="4754880" cy="4754880"/>
          </a:xfrm>
          <a:prstGeom prst="ellipse">
            <a:avLst/>
          </a:prstGeom>
          <a:solidFill>
            <a:srgbClr val="011E21"/>
          </a:solidFill>
          <a:ln/>
        </p:spPr>
      </p:sp>
      <p:sp>
        <p:nvSpPr>
          <p:cNvPr id="3" name="Shape 1"/>
          <p:cNvSpPr/>
          <p:nvPr/>
        </p:nvSpPr>
        <p:spPr>
          <a:xfrm>
            <a:off x="-1463040" y="4754880"/>
            <a:ext cx="3840480" cy="3840480"/>
          </a:xfrm>
          <a:prstGeom prst="ellipse">
            <a:avLst/>
          </a:prstGeom>
          <a:solidFill>
            <a:srgbClr val="00A896">
              <a:alpha val="12000"/>
            </a:srgbClr>
          </a:solidFill>
          <a:ln/>
        </p:spPr>
      </p:sp>
      <p:sp>
        <p:nvSpPr>
          <p:cNvPr id="4" name="Text 2"/>
          <p:cNvSpPr/>
          <p:nvPr/>
        </p:nvSpPr>
        <p:spPr>
          <a:xfrm>
            <a:off x="731520" y="2331720"/>
            <a:ext cx="10698480" cy="14630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Git &amp; GitHub</a:t>
            </a:r>
            <a:endParaRPr lang="en-US" sz="4400" dirty="0"/>
          </a:p>
        </p:txBody>
      </p:sp>
      <p:sp>
        <p:nvSpPr>
          <p:cNvPr id="5" name="Text 3"/>
          <p:cNvSpPr/>
          <p:nvPr/>
        </p:nvSpPr>
        <p:spPr>
          <a:xfrm>
            <a:off x="731520" y="3611880"/>
            <a:ext cx="10058400" cy="731520"/>
          </a:xfrm>
          <a:prstGeom prst="rect">
            <a:avLst/>
          </a:prstGeom>
          <a:noFill/>
          <a:ln/>
        </p:spPr>
        <p:txBody>
          <a:bodyPr wrap="square" lIns="0" tIns="0" rIns="0" bIns="0" rtlCol="0" anchor="ctr"/>
          <a:lstStyle/>
          <a:p>
            <a:pPr indent="0" marL="0">
              <a:buNone/>
            </a:pPr>
            <a:r>
              <a:rPr lang="en-US" sz="1800" i="1" dirty="0">
                <a:solidFill>
                  <a:srgbClr val="02C39A"/>
                </a:solidFill>
                <a:latin typeface="Calibri" pitchFamily="34" charset="0"/>
                <a:ea typeface="Calibri" pitchFamily="34" charset="-122"/>
                <a:cs typeface="Calibri" pitchFamily="34" charset="-120"/>
              </a:rPr>
              <a:t>A Beginner's Guide to Version Control and Collaboration</a:t>
            </a:r>
            <a:endParaRPr lang="en-US" sz="1800" dirty="0"/>
          </a:p>
        </p:txBody>
      </p:sp>
      <p:sp>
        <p:nvSpPr>
          <p:cNvPr id="6" name="Text 4"/>
          <p:cNvSpPr/>
          <p:nvPr/>
        </p:nvSpPr>
        <p:spPr>
          <a:xfrm>
            <a:off x="731520" y="6126480"/>
            <a:ext cx="10058400" cy="365760"/>
          </a:xfrm>
          <a:prstGeom prst="rect">
            <a:avLst/>
          </a:prstGeom>
          <a:noFill/>
          <a:ln/>
        </p:spPr>
        <p:txBody>
          <a:bodyPr wrap="square" lIns="0" tIns="0" rIns="0" bIns="0" rtlCol="0" anchor="ctr"/>
          <a:lstStyle/>
          <a:p>
            <a:pPr indent="0" marL="0">
              <a:buNone/>
            </a:pPr>
            <a:r>
              <a:rPr lang="en-US" sz="1200" dirty="0">
                <a:solidFill>
                  <a:srgbClr val="5C7C7E"/>
                </a:solidFill>
                <a:latin typeface="Calibri" pitchFamily="34" charset="0"/>
                <a:ea typeface="Calibri" pitchFamily="34" charset="-122"/>
                <a:cs typeface="Calibri" pitchFamily="34" charset="-120"/>
              </a:rPr>
              <a:t>Smart Deal Alert Project  |  Presented by Sabitha S Karanavar</a:t>
            </a:r>
            <a:endParaRPr lang="en-US" sz="1200" dirty="0"/>
          </a:p>
        </p:txBody>
      </p:sp>
      <p:sp>
        <p:nvSpPr>
          <p:cNvPr id="7" name="Shape 5"/>
          <p:cNvSpPr/>
          <p:nvPr/>
        </p:nvSpPr>
        <p:spPr>
          <a:xfrm>
            <a:off x="9966960" y="914400"/>
            <a:ext cx="1371600" cy="1371600"/>
          </a:xfrm>
          <a:prstGeom prst="ellipse">
            <a:avLst/>
          </a:prstGeom>
          <a:solidFill>
            <a:srgbClr val="00A896"/>
          </a:solidFill>
          <a:ln/>
        </p:spPr>
      </p:sp>
      <p:sp>
        <p:nvSpPr>
          <p:cNvPr id="8" name="Text 6"/>
          <p:cNvSpPr/>
          <p:nvPr/>
        </p:nvSpPr>
        <p:spPr>
          <a:xfrm>
            <a:off x="9966960" y="941832"/>
            <a:ext cx="1371600" cy="1371600"/>
          </a:xfrm>
          <a:prstGeom prst="rect">
            <a:avLst/>
          </a:prstGeom>
          <a:noFill/>
          <a:ln/>
        </p:spPr>
        <p:txBody>
          <a:bodyPr wrap="square" lIns="0" tIns="0" rIns="0" bIns="0" rtlCol="0" anchor="ctr"/>
          <a:lstStyle/>
          <a:p>
            <a:pPr algn="ctr" indent="0" marL="0">
              <a:buNone/>
            </a:pPr>
            <a:r>
              <a:rPr lang="en-US" sz="5100" dirty="0">
                <a:solidFill>
                  <a:srgbClr val="FFFFFF"/>
                </a:solidFill>
                <a:latin typeface="Calibri" pitchFamily="34" charset="0"/>
                <a:ea typeface="Calibri" pitchFamily="34" charset="-122"/>
                <a:cs typeface="Calibri" pitchFamily="34" charset="-120"/>
              </a:rPr>
              <a:t>⌥</a:t>
            </a:r>
            <a:endParaRPr lang="en-US" sz="5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548640" y="658368"/>
            <a:ext cx="10515600" cy="777240"/>
          </a:xfrm>
          <a:prstGeom prst="rect">
            <a:avLst/>
          </a:prstGeom>
          <a:noFill/>
          <a:ln/>
        </p:spPr>
        <p:txBody>
          <a:bodyPr wrap="square" lIns="0" tIns="0" rIns="0" bIns="0" rtlCol="0" anchor="ctr"/>
          <a:lstStyle/>
          <a:p>
            <a:pPr indent="0" marL="0">
              <a:buNone/>
            </a:pPr>
            <a:r>
              <a:rPr lang="en-US" sz="3000" b="1" dirty="0">
                <a:solidFill>
                  <a:srgbClr val="0B2B2E"/>
                </a:solidFill>
                <a:latin typeface="Cambria" pitchFamily="34" charset="0"/>
                <a:ea typeface="Cambria" pitchFamily="34" charset="-122"/>
                <a:cs typeface="Cambria" pitchFamily="34" charset="-120"/>
              </a:rPr>
              <a:t>What We'll Cover Today</a:t>
            </a:r>
            <a:endParaRPr lang="en-US" sz="3000" dirty="0"/>
          </a:p>
        </p:txBody>
      </p:sp>
      <p:sp>
        <p:nvSpPr>
          <p:cNvPr id="4" name="Shape 2"/>
          <p:cNvSpPr/>
          <p:nvPr/>
        </p:nvSpPr>
        <p:spPr>
          <a:xfrm>
            <a:off x="548640" y="1783080"/>
            <a:ext cx="5074920" cy="960120"/>
          </a:xfrm>
          <a:prstGeom prst="roundRect">
            <a:avLst>
              <a:gd name="adj" fmla="val 7619"/>
            </a:avLst>
          </a:prstGeom>
          <a:solidFill>
            <a:srgbClr val="FFFFFF"/>
          </a:solidFill>
          <a:ln w="12700">
            <a:solidFill>
              <a:srgbClr val="D7E9E8"/>
            </a:solidFill>
            <a:prstDash val="solid"/>
          </a:ln>
          <a:effectLst>
            <a:outerShdw sx="100000" sy="100000" kx="0" ky="0" algn="bl" rotWithShape="0" blurRad="76200" dist="25400" dir="5400000">
              <a:srgbClr val="1E3A3C">
                <a:alpha val="12000"/>
              </a:srgbClr>
            </a:outerShdw>
          </a:effectLst>
        </p:spPr>
      </p:sp>
      <p:sp>
        <p:nvSpPr>
          <p:cNvPr id="5" name="Shape 3"/>
          <p:cNvSpPr/>
          <p:nvPr/>
        </p:nvSpPr>
        <p:spPr>
          <a:xfrm>
            <a:off x="749808" y="2039112"/>
            <a:ext cx="457200" cy="457200"/>
          </a:xfrm>
          <a:prstGeom prst="ellipse">
            <a:avLst/>
          </a:prstGeom>
          <a:solidFill>
            <a:srgbClr val="028090"/>
          </a:solidFill>
          <a:ln/>
        </p:spPr>
      </p:sp>
      <p:sp>
        <p:nvSpPr>
          <p:cNvPr id="6" name="Text 4"/>
          <p:cNvSpPr/>
          <p:nvPr/>
        </p:nvSpPr>
        <p:spPr>
          <a:xfrm>
            <a:off x="749808" y="20391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371600" y="1783080"/>
            <a:ext cx="4114800" cy="960120"/>
          </a:xfrm>
          <a:prstGeom prst="rect">
            <a:avLst/>
          </a:prstGeom>
          <a:noFill/>
          <a:ln/>
        </p:spPr>
        <p:txBody>
          <a:bodyPr wrap="square" lIns="0" tIns="0" rIns="0" bIns="0" rtlCol="0" anchor="ctr"/>
          <a:lstStyle/>
          <a:p>
            <a:pPr indent="0" marL="0">
              <a:buNone/>
            </a:pPr>
            <a:r>
              <a:rPr lang="en-US" sz="1350" dirty="0">
                <a:solidFill>
                  <a:srgbClr val="0B2B2E"/>
                </a:solidFill>
                <a:latin typeface="Calibri" pitchFamily="34" charset="0"/>
                <a:ea typeface="Calibri" pitchFamily="34" charset="-122"/>
                <a:cs typeface="Calibri" pitchFamily="34" charset="-120"/>
              </a:rPr>
              <a:t>Version Control — why we need it</a:t>
            </a:r>
            <a:endParaRPr lang="en-US" sz="1350" dirty="0"/>
          </a:p>
        </p:txBody>
      </p:sp>
      <p:sp>
        <p:nvSpPr>
          <p:cNvPr id="8" name="Shape 6"/>
          <p:cNvSpPr/>
          <p:nvPr/>
        </p:nvSpPr>
        <p:spPr>
          <a:xfrm>
            <a:off x="6172200" y="1783080"/>
            <a:ext cx="5074920" cy="960120"/>
          </a:xfrm>
          <a:prstGeom prst="roundRect">
            <a:avLst>
              <a:gd name="adj" fmla="val 7619"/>
            </a:avLst>
          </a:prstGeom>
          <a:solidFill>
            <a:srgbClr val="FFFFFF"/>
          </a:solidFill>
          <a:ln w="12700">
            <a:solidFill>
              <a:srgbClr val="D7E9E8"/>
            </a:solidFill>
            <a:prstDash val="solid"/>
          </a:ln>
          <a:effectLst>
            <a:outerShdw sx="100000" sy="100000" kx="0" ky="0" algn="bl" rotWithShape="0" blurRad="76200" dist="25400" dir="5400000">
              <a:srgbClr val="1E3A3C">
                <a:alpha val="12000"/>
              </a:srgbClr>
            </a:outerShdw>
          </a:effectLst>
        </p:spPr>
      </p:sp>
      <p:sp>
        <p:nvSpPr>
          <p:cNvPr id="9" name="Shape 7"/>
          <p:cNvSpPr/>
          <p:nvPr/>
        </p:nvSpPr>
        <p:spPr>
          <a:xfrm>
            <a:off x="6373368" y="2039112"/>
            <a:ext cx="457200" cy="457200"/>
          </a:xfrm>
          <a:prstGeom prst="ellipse">
            <a:avLst/>
          </a:prstGeom>
          <a:solidFill>
            <a:srgbClr val="00A896"/>
          </a:solidFill>
          <a:ln/>
        </p:spPr>
      </p:sp>
      <p:sp>
        <p:nvSpPr>
          <p:cNvPr id="10" name="Text 8"/>
          <p:cNvSpPr/>
          <p:nvPr/>
        </p:nvSpPr>
        <p:spPr>
          <a:xfrm>
            <a:off x="6373368" y="20391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6995160" y="1783080"/>
            <a:ext cx="4114800" cy="960120"/>
          </a:xfrm>
          <a:prstGeom prst="rect">
            <a:avLst/>
          </a:prstGeom>
          <a:noFill/>
          <a:ln/>
        </p:spPr>
        <p:txBody>
          <a:bodyPr wrap="square" lIns="0" tIns="0" rIns="0" bIns="0" rtlCol="0" anchor="ctr"/>
          <a:lstStyle/>
          <a:p>
            <a:pPr indent="0" marL="0">
              <a:buNone/>
            </a:pPr>
            <a:r>
              <a:rPr lang="en-US" sz="1350" dirty="0">
                <a:solidFill>
                  <a:srgbClr val="0B2B2E"/>
                </a:solidFill>
                <a:latin typeface="Calibri" pitchFamily="34" charset="0"/>
                <a:ea typeface="Calibri" pitchFamily="34" charset="-122"/>
                <a:cs typeface="Calibri" pitchFamily="34" charset="-120"/>
              </a:rPr>
              <a:t>Git — tracking changes locally</a:t>
            </a:r>
            <a:endParaRPr lang="en-US" sz="1350" dirty="0"/>
          </a:p>
        </p:txBody>
      </p:sp>
      <p:sp>
        <p:nvSpPr>
          <p:cNvPr id="12" name="Shape 10"/>
          <p:cNvSpPr/>
          <p:nvPr/>
        </p:nvSpPr>
        <p:spPr>
          <a:xfrm>
            <a:off x="548640" y="3017520"/>
            <a:ext cx="5074920" cy="960120"/>
          </a:xfrm>
          <a:prstGeom prst="roundRect">
            <a:avLst>
              <a:gd name="adj" fmla="val 7619"/>
            </a:avLst>
          </a:prstGeom>
          <a:solidFill>
            <a:srgbClr val="FFFFFF"/>
          </a:solidFill>
          <a:ln w="12700">
            <a:solidFill>
              <a:srgbClr val="D7E9E8"/>
            </a:solidFill>
            <a:prstDash val="solid"/>
          </a:ln>
          <a:effectLst>
            <a:outerShdw sx="100000" sy="100000" kx="0" ky="0" algn="bl" rotWithShape="0" blurRad="76200" dist="25400" dir="5400000">
              <a:srgbClr val="1E3A3C">
                <a:alpha val="12000"/>
              </a:srgbClr>
            </a:outerShdw>
          </a:effectLst>
        </p:spPr>
      </p:sp>
      <p:sp>
        <p:nvSpPr>
          <p:cNvPr id="13" name="Shape 11"/>
          <p:cNvSpPr/>
          <p:nvPr/>
        </p:nvSpPr>
        <p:spPr>
          <a:xfrm>
            <a:off x="749808" y="3273552"/>
            <a:ext cx="457200" cy="457200"/>
          </a:xfrm>
          <a:prstGeom prst="ellipse">
            <a:avLst/>
          </a:prstGeom>
          <a:solidFill>
            <a:srgbClr val="02C39A"/>
          </a:solidFill>
          <a:ln/>
        </p:spPr>
      </p:sp>
      <p:sp>
        <p:nvSpPr>
          <p:cNvPr id="14" name="Text 12"/>
          <p:cNvSpPr/>
          <p:nvPr/>
        </p:nvSpPr>
        <p:spPr>
          <a:xfrm>
            <a:off x="749808" y="327355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1371600" y="3017520"/>
            <a:ext cx="4114800" cy="960120"/>
          </a:xfrm>
          <a:prstGeom prst="rect">
            <a:avLst/>
          </a:prstGeom>
          <a:noFill/>
          <a:ln/>
        </p:spPr>
        <p:txBody>
          <a:bodyPr wrap="square" lIns="0" tIns="0" rIns="0" bIns="0" rtlCol="0" anchor="ctr"/>
          <a:lstStyle/>
          <a:p>
            <a:pPr indent="0" marL="0">
              <a:buNone/>
            </a:pPr>
            <a:r>
              <a:rPr lang="en-US" sz="1350" dirty="0">
                <a:solidFill>
                  <a:srgbClr val="0B2B2E"/>
                </a:solidFill>
                <a:latin typeface="Calibri" pitchFamily="34" charset="0"/>
                <a:ea typeface="Calibri" pitchFamily="34" charset="-122"/>
                <a:cs typeface="Calibri" pitchFamily="34" charset="-120"/>
              </a:rPr>
              <a:t>GitHub — collaborating online</a:t>
            </a:r>
            <a:endParaRPr lang="en-US" sz="1350" dirty="0"/>
          </a:p>
        </p:txBody>
      </p:sp>
      <p:sp>
        <p:nvSpPr>
          <p:cNvPr id="16" name="Shape 14"/>
          <p:cNvSpPr/>
          <p:nvPr/>
        </p:nvSpPr>
        <p:spPr>
          <a:xfrm>
            <a:off x="6172200" y="3017520"/>
            <a:ext cx="5074920" cy="960120"/>
          </a:xfrm>
          <a:prstGeom prst="roundRect">
            <a:avLst>
              <a:gd name="adj" fmla="val 7619"/>
            </a:avLst>
          </a:prstGeom>
          <a:solidFill>
            <a:srgbClr val="FFFFFF"/>
          </a:solidFill>
          <a:ln w="12700">
            <a:solidFill>
              <a:srgbClr val="D7E9E8"/>
            </a:solidFill>
            <a:prstDash val="solid"/>
          </a:ln>
          <a:effectLst>
            <a:outerShdw sx="100000" sy="100000" kx="0" ky="0" algn="bl" rotWithShape="0" blurRad="76200" dist="25400" dir="5400000">
              <a:srgbClr val="1E3A3C">
                <a:alpha val="12000"/>
              </a:srgbClr>
            </a:outerShdw>
          </a:effectLst>
        </p:spPr>
      </p:sp>
      <p:sp>
        <p:nvSpPr>
          <p:cNvPr id="17" name="Shape 15"/>
          <p:cNvSpPr/>
          <p:nvPr/>
        </p:nvSpPr>
        <p:spPr>
          <a:xfrm>
            <a:off x="6373368" y="3273552"/>
            <a:ext cx="457200" cy="457200"/>
          </a:xfrm>
          <a:prstGeom prst="ellipse">
            <a:avLst/>
          </a:prstGeom>
          <a:solidFill>
            <a:srgbClr val="028090"/>
          </a:solidFill>
          <a:ln/>
        </p:spPr>
      </p:sp>
      <p:sp>
        <p:nvSpPr>
          <p:cNvPr id="18" name="Text 16"/>
          <p:cNvSpPr/>
          <p:nvPr/>
        </p:nvSpPr>
        <p:spPr>
          <a:xfrm>
            <a:off x="6373368" y="327355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p:nvPr/>
        </p:nvSpPr>
        <p:spPr>
          <a:xfrm>
            <a:off x="6995160" y="3017520"/>
            <a:ext cx="4114800" cy="960120"/>
          </a:xfrm>
          <a:prstGeom prst="rect">
            <a:avLst/>
          </a:prstGeom>
          <a:noFill/>
          <a:ln/>
        </p:spPr>
        <p:txBody>
          <a:bodyPr wrap="square" lIns="0" tIns="0" rIns="0" bIns="0" rtlCol="0" anchor="ctr"/>
          <a:lstStyle/>
          <a:p>
            <a:pPr indent="0" marL="0">
              <a:buNone/>
            </a:pPr>
            <a:r>
              <a:rPr lang="en-US" sz="1350" dirty="0">
                <a:solidFill>
                  <a:srgbClr val="0B2B2E"/>
                </a:solidFill>
                <a:latin typeface="Calibri" pitchFamily="34" charset="0"/>
                <a:ea typeface="Calibri" pitchFamily="34" charset="-122"/>
                <a:cs typeface="Calibri" pitchFamily="34" charset="-120"/>
              </a:rPr>
              <a:t>Git vs GitHub — the key differences</a:t>
            </a:r>
            <a:endParaRPr lang="en-US" sz="1350" dirty="0"/>
          </a:p>
        </p:txBody>
      </p:sp>
      <p:sp>
        <p:nvSpPr>
          <p:cNvPr id="20" name="Shape 18"/>
          <p:cNvSpPr/>
          <p:nvPr/>
        </p:nvSpPr>
        <p:spPr>
          <a:xfrm>
            <a:off x="548640" y="4251960"/>
            <a:ext cx="5074920" cy="960120"/>
          </a:xfrm>
          <a:prstGeom prst="roundRect">
            <a:avLst>
              <a:gd name="adj" fmla="val 7619"/>
            </a:avLst>
          </a:prstGeom>
          <a:solidFill>
            <a:srgbClr val="FFFFFF"/>
          </a:solidFill>
          <a:ln w="12700">
            <a:solidFill>
              <a:srgbClr val="D7E9E8"/>
            </a:solidFill>
            <a:prstDash val="solid"/>
          </a:ln>
          <a:effectLst>
            <a:outerShdw sx="100000" sy="100000" kx="0" ky="0" algn="bl" rotWithShape="0" blurRad="76200" dist="25400" dir="5400000">
              <a:srgbClr val="1E3A3C">
                <a:alpha val="12000"/>
              </a:srgbClr>
            </a:outerShdw>
          </a:effectLst>
        </p:spPr>
      </p:sp>
      <p:sp>
        <p:nvSpPr>
          <p:cNvPr id="21" name="Shape 19"/>
          <p:cNvSpPr/>
          <p:nvPr/>
        </p:nvSpPr>
        <p:spPr>
          <a:xfrm>
            <a:off x="749808" y="4507992"/>
            <a:ext cx="457200" cy="457200"/>
          </a:xfrm>
          <a:prstGeom prst="ellipse">
            <a:avLst/>
          </a:prstGeom>
          <a:solidFill>
            <a:srgbClr val="00A896"/>
          </a:solidFill>
          <a:ln/>
        </p:spPr>
      </p:sp>
      <p:sp>
        <p:nvSpPr>
          <p:cNvPr id="22" name="Text 20"/>
          <p:cNvSpPr/>
          <p:nvPr/>
        </p:nvSpPr>
        <p:spPr>
          <a:xfrm>
            <a:off x="749808" y="450799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3" name="Text 21"/>
          <p:cNvSpPr/>
          <p:nvPr/>
        </p:nvSpPr>
        <p:spPr>
          <a:xfrm>
            <a:off x="1371600" y="4251960"/>
            <a:ext cx="4114800" cy="960120"/>
          </a:xfrm>
          <a:prstGeom prst="rect">
            <a:avLst/>
          </a:prstGeom>
          <a:noFill/>
          <a:ln/>
        </p:spPr>
        <p:txBody>
          <a:bodyPr wrap="square" lIns="0" tIns="0" rIns="0" bIns="0" rtlCol="0" anchor="ctr"/>
          <a:lstStyle/>
          <a:p>
            <a:pPr indent="0" marL="0">
              <a:buNone/>
            </a:pPr>
            <a:r>
              <a:rPr lang="en-US" sz="1350" dirty="0">
                <a:solidFill>
                  <a:srgbClr val="0B2B2E"/>
                </a:solidFill>
                <a:latin typeface="Calibri" pitchFamily="34" charset="0"/>
                <a:ea typeface="Calibri" pitchFamily="34" charset="-122"/>
                <a:cs typeface="Calibri" pitchFamily="34" charset="-120"/>
              </a:rPr>
              <a:t>Git Workflow &amp; essential commands</a:t>
            </a:r>
            <a:endParaRPr lang="en-US" sz="1350" dirty="0"/>
          </a:p>
        </p:txBody>
      </p:sp>
      <p:sp>
        <p:nvSpPr>
          <p:cNvPr id="24" name="Shape 22"/>
          <p:cNvSpPr/>
          <p:nvPr/>
        </p:nvSpPr>
        <p:spPr>
          <a:xfrm>
            <a:off x="6172200" y="4251960"/>
            <a:ext cx="5074920" cy="960120"/>
          </a:xfrm>
          <a:prstGeom prst="roundRect">
            <a:avLst>
              <a:gd name="adj" fmla="val 7619"/>
            </a:avLst>
          </a:prstGeom>
          <a:solidFill>
            <a:srgbClr val="FFFFFF"/>
          </a:solidFill>
          <a:ln w="12700">
            <a:solidFill>
              <a:srgbClr val="D7E9E8"/>
            </a:solidFill>
            <a:prstDash val="solid"/>
          </a:ln>
          <a:effectLst>
            <a:outerShdw sx="100000" sy="100000" kx="0" ky="0" algn="bl" rotWithShape="0" blurRad="76200" dist="25400" dir="5400000">
              <a:srgbClr val="1E3A3C">
                <a:alpha val="12000"/>
              </a:srgbClr>
            </a:outerShdw>
          </a:effectLst>
        </p:spPr>
      </p:sp>
      <p:sp>
        <p:nvSpPr>
          <p:cNvPr id="25" name="Shape 23"/>
          <p:cNvSpPr/>
          <p:nvPr/>
        </p:nvSpPr>
        <p:spPr>
          <a:xfrm>
            <a:off x="6373368" y="4507992"/>
            <a:ext cx="457200" cy="457200"/>
          </a:xfrm>
          <a:prstGeom prst="ellipse">
            <a:avLst/>
          </a:prstGeom>
          <a:solidFill>
            <a:srgbClr val="02C39A"/>
          </a:solidFill>
          <a:ln/>
        </p:spPr>
      </p:sp>
      <p:sp>
        <p:nvSpPr>
          <p:cNvPr id="26" name="Text 24"/>
          <p:cNvSpPr/>
          <p:nvPr/>
        </p:nvSpPr>
        <p:spPr>
          <a:xfrm>
            <a:off x="6373368" y="450799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7" name="Text 25"/>
          <p:cNvSpPr/>
          <p:nvPr/>
        </p:nvSpPr>
        <p:spPr>
          <a:xfrm>
            <a:off x="6995160" y="4251960"/>
            <a:ext cx="4114800" cy="960120"/>
          </a:xfrm>
          <a:prstGeom prst="rect">
            <a:avLst/>
          </a:prstGeom>
          <a:noFill/>
          <a:ln/>
        </p:spPr>
        <p:txBody>
          <a:bodyPr wrap="square" lIns="0" tIns="0" rIns="0" bIns="0" rtlCol="0" anchor="ctr"/>
          <a:lstStyle/>
          <a:p>
            <a:pPr indent="0" marL="0">
              <a:buNone/>
            </a:pPr>
            <a:r>
              <a:rPr lang="en-US" sz="1350" dirty="0">
                <a:solidFill>
                  <a:srgbClr val="0B2B2E"/>
                </a:solidFill>
                <a:latin typeface="Calibri" pitchFamily="34" charset="0"/>
                <a:ea typeface="Calibri" pitchFamily="34" charset="-122"/>
                <a:cs typeface="Calibri" pitchFamily="34" charset="-120"/>
              </a:rPr>
              <a:t>Best practices for real projects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658368"/>
            <a:ext cx="10515600" cy="777240"/>
          </a:xfrm>
          <a:prstGeom prst="rect">
            <a:avLst/>
          </a:prstGeom>
          <a:noFill/>
          <a:ln/>
        </p:spPr>
        <p:txBody>
          <a:bodyPr wrap="square" lIns="0" tIns="0" rIns="0" bIns="0" rtlCol="0" anchor="ctr"/>
          <a:lstStyle/>
          <a:p>
            <a:pPr indent="0" marL="0">
              <a:buNone/>
            </a:pPr>
            <a:r>
              <a:rPr lang="en-US" sz="3000" b="1" dirty="0">
                <a:solidFill>
                  <a:srgbClr val="0B2B2E"/>
                </a:solidFill>
                <a:latin typeface="Cambria" pitchFamily="34" charset="0"/>
                <a:ea typeface="Cambria" pitchFamily="34" charset="-122"/>
                <a:cs typeface="Cambria" pitchFamily="34" charset="-120"/>
              </a:rPr>
              <a:t>What Is Version Control?</a:t>
            </a:r>
            <a:endParaRPr lang="en-US" sz="3000" dirty="0"/>
          </a:p>
        </p:txBody>
      </p:sp>
      <p:sp>
        <p:nvSpPr>
          <p:cNvPr id="4" name="Text 2"/>
          <p:cNvSpPr/>
          <p:nvPr/>
        </p:nvSpPr>
        <p:spPr>
          <a:xfrm>
            <a:off x="548640" y="1554480"/>
            <a:ext cx="5943600" cy="548640"/>
          </a:xfrm>
          <a:prstGeom prst="rect">
            <a:avLst/>
          </a:prstGeom>
          <a:noFill/>
          <a:ln/>
        </p:spPr>
        <p:txBody>
          <a:bodyPr wrap="square" lIns="0" tIns="0" rIns="0" bIns="0" rtlCol="0" anchor="ctr"/>
          <a:lstStyle/>
          <a:p>
            <a:pPr indent="0" marL="0">
              <a:buNone/>
            </a:pPr>
            <a:r>
              <a:rPr lang="en-US" sz="1400" dirty="0">
                <a:solidFill>
                  <a:srgbClr val="0B2B2E"/>
                </a:solidFill>
                <a:latin typeface="Calibri" pitchFamily="34" charset="0"/>
                <a:ea typeface="Calibri" pitchFamily="34" charset="-122"/>
                <a:cs typeface="Calibri" pitchFamily="34" charset="-120"/>
              </a:rPr>
              <a:t>Imagine writing a project report and saving it as multiple files:</a:t>
            </a:r>
            <a:endParaRPr lang="en-US" sz="1400" dirty="0"/>
          </a:p>
        </p:txBody>
      </p:sp>
      <p:sp>
        <p:nvSpPr>
          <p:cNvPr id="5" name="Shape 3"/>
          <p:cNvSpPr/>
          <p:nvPr/>
        </p:nvSpPr>
        <p:spPr>
          <a:xfrm>
            <a:off x="548640" y="2148840"/>
            <a:ext cx="3291840" cy="384048"/>
          </a:xfrm>
          <a:prstGeom prst="roundRect">
            <a:avLst>
              <a:gd name="adj" fmla="val 14286"/>
            </a:avLst>
          </a:prstGeom>
          <a:solidFill>
            <a:srgbClr val="FFFFFF"/>
          </a:solidFill>
          <a:ln w="12700">
            <a:solidFill>
              <a:srgbClr val="D7E9E8"/>
            </a:solidFill>
            <a:prstDash val="solid"/>
          </a:ln>
        </p:spPr>
      </p:sp>
      <p:sp>
        <p:nvSpPr>
          <p:cNvPr id="6" name="Text 4"/>
          <p:cNvSpPr/>
          <p:nvPr/>
        </p:nvSpPr>
        <p:spPr>
          <a:xfrm>
            <a:off x="685800" y="2148840"/>
            <a:ext cx="3017520" cy="384048"/>
          </a:xfrm>
          <a:prstGeom prst="rect">
            <a:avLst/>
          </a:prstGeom>
          <a:noFill/>
          <a:ln/>
        </p:spPr>
        <p:txBody>
          <a:bodyPr wrap="square" lIns="0" tIns="0" rIns="0" bIns="0" rtlCol="0" anchor="ctr"/>
          <a:lstStyle/>
          <a:p>
            <a:pPr indent="0" marL="0">
              <a:buNone/>
            </a:pPr>
            <a:r>
              <a:rPr lang="en-US" sz="1200" dirty="0">
                <a:solidFill>
                  <a:srgbClr val="5C7C7E"/>
                </a:solidFill>
                <a:latin typeface="Courier New" pitchFamily="34" charset="0"/>
                <a:ea typeface="Courier New" pitchFamily="34" charset="-122"/>
                <a:cs typeface="Courier New" pitchFamily="34" charset="-120"/>
              </a:rPr>
              <a:t>Report.doc</a:t>
            </a:r>
            <a:endParaRPr lang="en-US" sz="1200" dirty="0"/>
          </a:p>
        </p:txBody>
      </p:sp>
      <p:sp>
        <p:nvSpPr>
          <p:cNvPr id="7" name="Shape 5"/>
          <p:cNvSpPr/>
          <p:nvPr/>
        </p:nvSpPr>
        <p:spPr>
          <a:xfrm>
            <a:off x="548640" y="2651760"/>
            <a:ext cx="3291840" cy="384048"/>
          </a:xfrm>
          <a:prstGeom prst="roundRect">
            <a:avLst>
              <a:gd name="adj" fmla="val 14286"/>
            </a:avLst>
          </a:prstGeom>
          <a:solidFill>
            <a:srgbClr val="FFFFFF"/>
          </a:solidFill>
          <a:ln w="12700">
            <a:solidFill>
              <a:srgbClr val="D7E9E8"/>
            </a:solidFill>
            <a:prstDash val="solid"/>
          </a:ln>
        </p:spPr>
      </p:sp>
      <p:sp>
        <p:nvSpPr>
          <p:cNvPr id="8" name="Text 6"/>
          <p:cNvSpPr/>
          <p:nvPr/>
        </p:nvSpPr>
        <p:spPr>
          <a:xfrm>
            <a:off x="685800" y="2651760"/>
            <a:ext cx="3017520" cy="384048"/>
          </a:xfrm>
          <a:prstGeom prst="rect">
            <a:avLst/>
          </a:prstGeom>
          <a:noFill/>
          <a:ln/>
        </p:spPr>
        <p:txBody>
          <a:bodyPr wrap="square" lIns="0" tIns="0" rIns="0" bIns="0" rtlCol="0" anchor="ctr"/>
          <a:lstStyle/>
          <a:p>
            <a:pPr indent="0" marL="0">
              <a:buNone/>
            </a:pPr>
            <a:r>
              <a:rPr lang="en-US" sz="1200" dirty="0">
                <a:solidFill>
                  <a:srgbClr val="5C7C7E"/>
                </a:solidFill>
                <a:latin typeface="Courier New" pitchFamily="34" charset="0"/>
                <a:ea typeface="Courier New" pitchFamily="34" charset="-122"/>
                <a:cs typeface="Courier New" pitchFamily="34" charset="-120"/>
              </a:rPr>
              <a:t>Report_Final.doc</a:t>
            </a:r>
            <a:endParaRPr lang="en-US" sz="1200" dirty="0"/>
          </a:p>
        </p:txBody>
      </p:sp>
      <p:sp>
        <p:nvSpPr>
          <p:cNvPr id="9" name="Shape 7"/>
          <p:cNvSpPr/>
          <p:nvPr/>
        </p:nvSpPr>
        <p:spPr>
          <a:xfrm>
            <a:off x="548640" y="3154680"/>
            <a:ext cx="3291840" cy="384048"/>
          </a:xfrm>
          <a:prstGeom prst="roundRect">
            <a:avLst>
              <a:gd name="adj" fmla="val 14286"/>
            </a:avLst>
          </a:prstGeom>
          <a:solidFill>
            <a:srgbClr val="FFFFFF"/>
          </a:solidFill>
          <a:ln w="12700">
            <a:solidFill>
              <a:srgbClr val="D7E9E8"/>
            </a:solidFill>
            <a:prstDash val="solid"/>
          </a:ln>
        </p:spPr>
      </p:sp>
      <p:sp>
        <p:nvSpPr>
          <p:cNvPr id="10" name="Text 8"/>
          <p:cNvSpPr/>
          <p:nvPr/>
        </p:nvSpPr>
        <p:spPr>
          <a:xfrm>
            <a:off x="685800" y="3154680"/>
            <a:ext cx="3017520" cy="384048"/>
          </a:xfrm>
          <a:prstGeom prst="rect">
            <a:avLst/>
          </a:prstGeom>
          <a:noFill/>
          <a:ln/>
        </p:spPr>
        <p:txBody>
          <a:bodyPr wrap="square" lIns="0" tIns="0" rIns="0" bIns="0" rtlCol="0" anchor="ctr"/>
          <a:lstStyle/>
          <a:p>
            <a:pPr indent="0" marL="0">
              <a:buNone/>
            </a:pPr>
            <a:r>
              <a:rPr lang="en-US" sz="1200" dirty="0">
                <a:solidFill>
                  <a:srgbClr val="5C7C7E"/>
                </a:solidFill>
                <a:latin typeface="Courier New" pitchFamily="34" charset="0"/>
                <a:ea typeface="Courier New" pitchFamily="34" charset="-122"/>
                <a:cs typeface="Courier New" pitchFamily="34" charset="-120"/>
              </a:rPr>
              <a:t>Report_Final2.doc</a:t>
            </a:r>
            <a:endParaRPr lang="en-US" sz="1200" dirty="0"/>
          </a:p>
        </p:txBody>
      </p:sp>
      <p:sp>
        <p:nvSpPr>
          <p:cNvPr id="11" name="Shape 9"/>
          <p:cNvSpPr/>
          <p:nvPr/>
        </p:nvSpPr>
        <p:spPr>
          <a:xfrm>
            <a:off x="548640" y="3657600"/>
            <a:ext cx="3291840" cy="384048"/>
          </a:xfrm>
          <a:prstGeom prst="roundRect">
            <a:avLst>
              <a:gd name="adj" fmla="val 14286"/>
            </a:avLst>
          </a:prstGeom>
          <a:solidFill>
            <a:srgbClr val="FFFFFF"/>
          </a:solidFill>
          <a:ln w="12700">
            <a:solidFill>
              <a:srgbClr val="D7E9E8"/>
            </a:solidFill>
            <a:prstDash val="solid"/>
          </a:ln>
        </p:spPr>
      </p:sp>
      <p:sp>
        <p:nvSpPr>
          <p:cNvPr id="12" name="Text 10"/>
          <p:cNvSpPr/>
          <p:nvPr/>
        </p:nvSpPr>
        <p:spPr>
          <a:xfrm>
            <a:off x="685800" y="3657600"/>
            <a:ext cx="3017520" cy="384048"/>
          </a:xfrm>
          <a:prstGeom prst="rect">
            <a:avLst/>
          </a:prstGeom>
          <a:noFill/>
          <a:ln/>
        </p:spPr>
        <p:txBody>
          <a:bodyPr wrap="square" lIns="0" tIns="0" rIns="0" bIns="0" rtlCol="0" anchor="ctr"/>
          <a:lstStyle/>
          <a:p>
            <a:pPr indent="0" marL="0">
              <a:buNone/>
            </a:pPr>
            <a:r>
              <a:rPr lang="en-US" sz="1200" dirty="0">
                <a:solidFill>
                  <a:srgbClr val="5C7C7E"/>
                </a:solidFill>
                <a:latin typeface="Courier New" pitchFamily="34" charset="0"/>
                <a:ea typeface="Courier New" pitchFamily="34" charset="-122"/>
                <a:cs typeface="Courier New" pitchFamily="34" charset="-120"/>
              </a:rPr>
              <a:t>Report_Final_Updated.doc</a:t>
            </a:r>
            <a:endParaRPr lang="en-US" sz="1200" dirty="0"/>
          </a:p>
        </p:txBody>
      </p:sp>
      <p:sp>
        <p:nvSpPr>
          <p:cNvPr id="13" name="Text 11"/>
          <p:cNvSpPr/>
          <p:nvPr/>
        </p:nvSpPr>
        <p:spPr>
          <a:xfrm>
            <a:off x="548640" y="4343400"/>
            <a:ext cx="3840480" cy="548640"/>
          </a:xfrm>
          <a:prstGeom prst="rect">
            <a:avLst/>
          </a:prstGeom>
          <a:noFill/>
          <a:ln/>
        </p:spPr>
        <p:txBody>
          <a:bodyPr wrap="square" lIns="0" tIns="0" rIns="0" bIns="0" rtlCol="0" anchor="ctr"/>
          <a:lstStyle/>
          <a:p>
            <a:pPr indent="0" marL="0">
              <a:buNone/>
            </a:pPr>
            <a:r>
              <a:rPr lang="en-US" sz="1300" i="1" dirty="0">
                <a:solidFill>
                  <a:srgbClr val="5C7C7E"/>
                </a:solidFill>
                <a:latin typeface="Calibri" pitchFamily="34" charset="0"/>
                <a:ea typeface="Calibri" pitchFamily="34" charset="-122"/>
                <a:cs typeface="Calibri" pitchFamily="34" charset="-120"/>
              </a:rPr>
              <a:t>After a few days, no one knows which file is the latest.</a:t>
            </a:r>
            <a:endParaRPr lang="en-US" sz="1300" dirty="0"/>
          </a:p>
        </p:txBody>
      </p:sp>
      <p:sp>
        <p:nvSpPr>
          <p:cNvPr id="14" name="Shape 12"/>
          <p:cNvSpPr/>
          <p:nvPr/>
        </p:nvSpPr>
        <p:spPr>
          <a:xfrm>
            <a:off x="4297680" y="1554480"/>
            <a:ext cx="7315200" cy="3337560"/>
          </a:xfrm>
          <a:prstGeom prst="roundRect">
            <a:avLst>
              <a:gd name="adj" fmla="val 2740"/>
            </a:avLst>
          </a:prstGeom>
          <a:solidFill>
            <a:srgbClr val="028090"/>
          </a:solidFill>
          <a:ln/>
        </p:spPr>
      </p:sp>
      <p:sp>
        <p:nvSpPr>
          <p:cNvPr id="15" name="Text 13"/>
          <p:cNvSpPr/>
          <p:nvPr/>
        </p:nvSpPr>
        <p:spPr>
          <a:xfrm>
            <a:off x="4663440" y="1783080"/>
            <a:ext cx="658368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Version Control Records:</a:t>
            </a:r>
            <a:endParaRPr lang="en-US" sz="1700" dirty="0"/>
          </a:p>
        </p:txBody>
      </p:sp>
      <p:sp>
        <p:nvSpPr>
          <p:cNvPr id="16" name="Shape 14"/>
          <p:cNvSpPr/>
          <p:nvPr/>
        </p:nvSpPr>
        <p:spPr>
          <a:xfrm>
            <a:off x="4709160" y="2386584"/>
            <a:ext cx="128016" cy="128016"/>
          </a:xfrm>
          <a:prstGeom prst="ellipse">
            <a:avLst/>
          </a:prstGeom>
          <a:solidFill>
            <a:srgbClr val="02C39A"/>
          </a:solidFill>
          <a:ln/>
        </p:spPr>
      </p:sp>
      <p:sp>
        <p:nvSpPr>
          <p:cNvPr id="17" name="Text 15"/>
          <p:cNvSpPr/>
          <p:nvPr/>
        </p:nvSpPr>
        <p:spPr>
          <a:xfrm>
            <a:off x="4983480" y="2331720"/>
            <a:ext cx="63093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Who changed the code</a:t>
            </a:r>
            <a:endParaRPr lang="en-US" sz="1400" dirty="0"/>
          </a:p>
        </p:txBody>
      </p:sp>
      <p:sp>
        <p:nvSpPr>
          <p:cNvPr id="18" name="Shape 16"/>
          <p:cNvSpPr/>
          <p:nvPr/>
        </p:nvSpPr>
        <p:spPr>
          <a:xfrm>
            <a:off x="4709160" y="2843784"/>
            <a:ext cx="128016" cy="128016"/>
          </a:xfrm>
          <a:prstGeom prst="ellipse">
            <a:avLst/>
          </a:prstGeom>
          <a:solidFill>
            <a:srgbClr val="02C39A"/>
          </a:solidFill>
          <a:ln/>
        </p:spPr>
      </p:sp>
      <p:sp>
        <p:nvSpPr>
          <p:cNvPr id="19" name="Text 17"/>
          <p:cNvSpPr/>
          <p:nvPr/>
        </p:nvSpPr>
        <p:spPr>
          <a:xfrm>
            <a:off x="4983480" y="2788920"/>
            <a:ext cx="63093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What was changed</a:t>
            </a:r>
            <a:endParaRPr lang="en-US" sz="1400" dirty="0"/>
          </a:p>
        </p:txBody>
      </p:sp>
      <p:sp>
        <p:nvSpPr>
          <p:cNvPr id="20" name="Shape 18"/>
          <p:cNvSpPr/>
          <p:nvPr/>
        </p:nvSpPr>
        <p:spPr>
          <a:xfrm>
            <a:off x="4709160" y="3300984"/>
            <a:ext cx="128016" cy="128016"/>
          </a:xfrm>
          <a:prstGeom prst="ellipse">
            <a:avLst/>
          </a:prstGeom>
          <a:solidFill>
            <a:srgbClr val="02C39A"/>
          </a:solidFill>
          <a:ln/>
        </p:spPr>
      </p:sp>
      <p:sp>
        <p:nvSpPr>
          <p:cNvPr id="21" name="Text 19"/>
          <p:cNvSpPr/>
          <p:nvPr/>
        </p:nvSpPr>
        <p:spPr>
          <a:xfrm>
            <a:off x="4983480" y="3246120"/>
            <a:ext cx="63093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When it was changed</a:t>
            </a:r>
            <a:endParaRPr lang="en-US" sz="1400" dirty="0"/>
          </a:p>
        </p:txBody>
      </p:sp>
      <p:sp>
        <p:nvSpPr>
          <p:cNvPr id="22" name="Shape 20"/>
          <p:cNvSpPr/>
          <p:nvPr/>
        </p:nvSpPr>
        <p:spPr>
          <a:xfrm>
            <a:off x="4709160" y="3758184"/>
            <a:ext cx="128016" cy="128016"/>
          </a:xfrm>
          <a:prstGeom prst="ellipse">
            <a:avLst/>
          </a:prstGeom>
          <a:solidFill>
            <a:srgbClr val="02C39A"/>
          </a:solidFill>
          <a:ln/>
        </p:spPr>
      </p:sp>
      <p:sp>
        <p:nvSpPr>
          <p:cNvPr id="23" name="Text 21"/>
          <p:cNvSpPr/>
          <p:nvPr/>
        </p:nvSpPr>
        <p:spPr>
          <a:xfrm>
            <a:off x="4983480" y="3703320"/>
            <a:ext cx="63093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Why it was changed</a:t>
            </a:r>
            <a:endParaRPr lang="en-US" sz="1400" dirty="0"/>
          </a:p>
        </p:txBody>
      </p:sp>
      <p:sp>
        <p:nvSpPr>
          <p:cNvPr id="24" name="Shape 22"/>
          <p:cNvSpPr/>
          <p:nvPr/>
        </p:nvSpPr>
        <p:spPr>
          <a:xfrm>
            <a:off x="4663440" y="4251960"/>
            <a:ext cx="6583680" cy="0"/>
          </a:xfrm>
          <a:prstGeom prst="line">
            <a:avLst/>
          </a:prstGeom>
          <a:noFill/>
          <a:ln w="12700">
            <a:solidFill>
              <a:srgbClr val="FFFFFF">
                <a:alpha val="40000"/>
              </a:srgbClr>
            </a:solidFill>
            <a:prstDash val="solid"/>
          </a:ln>
        </p:spPr>
      </p:sp>
      <p:sp>
        <p:nvSpPr>
          <p:cNvPr id="25" name="Text 23"/>
          <p:cNvSpPr/>
          <p:nvPr/>
        </p:nvSpPr>
        <p:spPr>
          <a:xfrm>
            <a:off x="4663440" y="4389120"/>
            <a:ext cx="6583680" cy="411480"/>
          </a:xfrm>
          <a:prstGeom prst="rect">
            <a:avLst/>
          </a:prstGeom>
          <a:noFill/>
          <a:ln/>
        </p:spPr>
        <p:txBody>
          <a:bodyPr wrap="square" lIns="0" tIns="0" rIns="0" bIns="0" rtlCol="0" anchor="ctr"/>
          <a:lstStyle/>
          <a:p>
            <a:pPr indent="0" marL="0">
              <a:buNone/>
            </a:pPr>
            <a:r>
              <a:rPr lang="en-US" sz="1200" i="1" dirty="0">
                <a:solidFill>
                  <a:srgbClr val="F4FAF9"/>
                </a:solidFill>
                <a:latin typeface="Calibri" pitchFamily="34" charset="0"/>
                <a:ea typeface="Calibri" pitchFamily="34" charset="-122"/>
                <a:cs typeface="Calibri" pitchFamily="34" charset="-120"/>
              </a:rPr>
              <a:t>Benefits: full history · easy restores · multi-developer teamwork · no accidental lost work</a:t>
            </a:r>
            <a:endParaRPr lang="en-US" sz="1200" dirty="0"/>
          </a:p>
        </p:txBody>
      </p:sp>
      <p:sp>
        <p:nvSpPr>
          <p:cNvPr id="26" name="Text 24"/>
          <p:cNvSpPr/>
          <p:nvPr/>
        </p:nvSpPr>
        <p:spPr>
          <a:xfrm>
            <a:off x="548640" y="5074920"/>
            <a:ext cx="11064240" cy="822960"/>
          </a:xfrm>
          <a:prstGeom prst="rect">
            <a:avLst/>
          </a:prstGeom>
          <a:solidFill>
            <a:srgbClr val="E6F4F3"/>
          </a:solidFill>
          <a:ln/>
        </p:spPr>
        <p:txBody>
          <a:bodyPr wrap="square" lIns="0" tIns="0" rIns="0" bIns="0" rtlCol="0" anchor="ctr"/>
          <a:lstStyle/>
          <a:p>
            <a:pPr indent="0" marL="0">
              <a:buNone/>
            </a:pPr>
            <a:r>
              <a:rPr lang="en-US" sz="1350" i="1" dirty="0">
                <a:solidFill>
                  <a:srgbClr val="0B2B2E"/>
                </a:solidFill>
                <a:latin typeface="Calibri" pitchFamily="34" charset="0"/>
                <a:ea typeface="Calibri" pitchFamily="34" charset="-122"/>
                <a:cs typeface="Calibri" pitchFamily="34" charset="-120"/>
              </a:rPr>
              <a:t>Real-life example: think of Google Docs — every edit is saved and previous versions stay available. Git works the same way, but for source code.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THE TOOL</a:t>
            </a:r>
            <a:endParaRPr lang="en-US" sz="1200" dirty="0"/>
          </a:p>
        </p:txBody>
      </p:sp>
      <p:sp>
        <p:nvSpPr>
          <p:cNvPr id="3" name="Text 1"/>
          <p:cNvSpPr/>
          <p:nvPr/>
        </p:nvSpPr>
        <p:spPr>
          <a:xfrm>
            <a:off x="548640" y="658368"/>
            <a:ext cx="10515600" cy="777240"/>
          </a:xfrm>
          <a:prstGeom prst="rect">
            <a:avLst/>
          </a:prstGeom>
          <a:noFill/>
          <a:ln/>
        </p:spPr>
        <p:txBody>
          <a:bodyPr wrap="square" lIns="0" tIns="0" rIns="0" bIns="0" rtlCol="0" anchor="ctr"/>
          <a:lstStyle/>
          <a:p>
            <a:pPr indent="0" marL="0">
              <a:buNone/>
            </a:pPr>
            <a:r>
              <a:rPr lang="en-US" sz="3000" b="1" dirty="0">
                <a:solidFill>
                  <a:srgbClr val="0B2B2E"/>
                </a:solidFill>
                <a:latin typeface="Cambria" pitchFamily="34" charset="0"/>
                <a:ea typeface="Cambria" pitchFamily="34" charset="-122"/>
                <a:cs typeface="Cambria" pitchFamily="34" charset="-120"/>
              </a:rPr>
              <a:t>What Is Git?</a:t>
            </a:r>
            <a:endParaRPr lang="en-US" sz="3000" dirty="0"/>
          </a:p>
        </p:txBody>
      </p:sp>
      <p:sp>
        <p:nvSpPr>
          <p:cNvPr id="4" name="Shape 2"/>
          <p:cNvSpPr/>
          <p:nvPr/>
        </p:nvSpPr>
        <p:spPr>
          <a:xfrm>
            <a:off x="548640" y="1600200"/>
            <a:ext cx="4937760" cy="4480560"/>
          </a:xfrm>
          <a:prstGeom prst="roundRect">
            <a:avLst>
              <a:gd name="adj" fmla="val 2041"/>
            </a:avLst>
          </a:prstGeom>
          <a:solidFill>
            <a:srgbClr val="012E33"/>
          </a:solidFill>
          <a:ln/>
        </p:spPr>
      </p:sp>
      <p:sp>
        <p:nvSpPr>
          <p:cNvPr id="5" name="Shape 3"/>
          <p:cNvSpPr/>
          <p:nvPr/>
        </p:nvSpPr>
        <p:spPr>
          <a:xfrm>
            <a:off x="914400" y="1920240"/>
            <a:ext cx="1005840" cy="1005840"/>
          </a:xfrm>
          <a:prstGeom prst="ellipse">
            <a:avLst/>
          </a:prstGeom>
          <a:solidFill>
            <a:srgbClr val="02C39A"/>
          </a:solidFill>
          <a:ln/>
        </p:spPr>
      </p:sp>
      <p:sp>
        <p:nvSpPr>
          <p:cNvPr id="6" name="Text 4"/>
          <p:cNvSpPr/>
          <p:nvPr/>
        </p:nvSpPr>
        <p:spPr>
          <a:xfrm>
            <a:off x="914400" y="1940357"/>
            <a:ext cx="1005840" cy="1005840"/>
          </a:xfrm>
          <a:prstGeom prst="rect">
            <a:avLst/>
          </a:prstGeom>
          <a:noFill/>
          <a:ln/>
        </p:spPr>
        <p:txBody>
          <a:bodyPr wrap="square" lIns="0" tIns="0" rIns="0" bIns="0" rtlCol="0" anchor="ctr"/>
          <a:lstStyle/>
          <a:p>
            <a:pPr algn="ctr" indent="0" marL="0">
              <a:buNone/>
            </a:pPr>
            <a:r>
              <a:rPr lang="en-US" sz="3740" dirty="0">
                <a:solidFill>
                  <a:srgbClr val="FFFFFF"/>
                </a:solidFill>
                <a:latin typeface="Calibri" pitchFamily="34" charset="0"/>
                <a:ea typeface="Calibri" pitchFamily="34" charset="-122"/>
                <a:cs typeface="Calibri" pitchFamily="34" charset="-120"/>
              </a:rPr>
              <a:t>⌥</a:t>
            </a:r>
            <a:endParaRPr lang="en-US" sz="3740" dirty="0"/>
          </a:p>
        </p:txBody>
      </p:sp>
      <p:sp>
        <p:nvSpPr>
          <p:cNvPr id="7" name="Text 5"/>
          <p:cNvSpPr/>
          <p:nvPr/>
        </p:nvSpPr>
        <p:spPr>
          <a:xfrm>
            <a:off x="822960" y="3063240"/>
            <a:ext cx="4389120" cy="365760"/>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Created by Linus Torvalds</a:t>
            </a:r>
            <a:endParaRPr lang="en-US" sz="1300" dirty="0"/>
          </a:p>
        </p:txBody>
      </p:sp>
      <p:sp>
        <p:nvSpPr>
          <p:cNvPr id="8" name="Text 6"/>
          <p:cNvSpPr/>
          <p:nvPr/>
        </p:nvSpPr>
        <p:spPr>
          <a:xfrm>
            <a:off x="822960" y="3401568"/>
            <a:ext cx="4389120" cy="320040"/>
          </a:xfrm>
          <a:prstGeom prst="rect">
            <a:avLst/>
          </a:prstGeom>
          <a:noFill/>
          <a:ln/>
        </p:spPr>
        <p:txBody>
          <a:bodyPr wrap="square" lIns="0" tIns="0" rIns="0" bIns="0" rtlCol="0" anchor="ctr"/>
          <a:lstStyle/>
          <a:p>
            <a:pPr indent="0" marL="0">
              <a:buNone/>
            </a:pPr>
            <a:r>
              <a:rPr lang="en-US" sz="1200" i="1" dirty="0">
                <a:solidFill>
                  <a:srgbClr val="F4FAF9"/>
                </a:solidFill>
                <a:latin typeface="Calibri" pitchFamily="34" charset="0"/>
                <a:ea typeface="Calibri" pitchFamily="34" charset="-122"/>
                <a:cs typeface="Calibri" pitchFamily="34" charset="-120"/>
              </a:rPr>
              <a:t>the creator of Linux</a:t>
            </a:r>
            <a:endParaRPr lang="en-US" sz="1200" dirty="0"/>
          </a:p>
        </p:txBody>
      </p:sp>
      <p:sp>
        <p:nvSpPr>
          <p:cNvPr id="9" name="Text 7"/>
          <p:cNvSpPr/>
          <p:nvPr/>
        </p:nvSpPr>
        <p:spPr>
          <a:xfrm>
            <a:off x="822960" y="3931920"/>
            <a:ext cx="4389120" cy="8229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Git is a Version Control System installed on your own computer.</a:t>
            </a:r>
            <a:endParaRPr lang="en-US" sz="1350" dirty="0"/>
          </a:p>
        </p:txBody>
      </p:sp>
      <p:sp>
        <p:nvSpPr>
          <p:cNvPr id="10" name="Text 8"/>
          <p:cNvSpPr/>
          <p:nvPr/>
        </p:nvSpPr>
        <p:spPr>
          <a:xfrm>
            <a:off x="822960" y="4892040"/>
            <a:ext cx="4389120" cy="1005840"/>
          </a:xfrm>
          <a:prstGeom prst="rect">
            <a:avLst/>
          </a:prstGeom>
          <a:noFill/>
          <a:ln/>
        </p:spPr>
        <p:txBody>
          <a:bodyPr wrap="square" lIns="0" tIns="0" rIns="0" bIns="0" rtlCol="0" anchor="ctr"/>
          <a:lstStyle/>
          <a:p>
            <a:pPr indent="0" marL="0">
              <a:buNone/>
            </a:pPr>
            <a:r>
              <a:rPr lang="en-US" sz="1250" i="1" dirty="0">
                <a:solidFill>
                  <a:srgbClr val="F4FAF9"/>
                </a:solidFill>
                <a:latin typeface="Calibri" pitchFamily="34" charset="0"/>
                <a:ea typeface="Calibri" pitchFamily="34" charset="-122"/>
                <a:cs typeface="Calibri" pitchFamily="34" charset="-120"/>
              </a:rPr>
              <a:t>Works offline — no internet needed for most operations. Everything is stored locally.</a:t>
            </a:r>
            <a:endParaRPr lang="en-US" sz="1250" dirty="0"/>
          </a:p>
        </p:txBody>
      </p:sp>
      <p:sp>
        <p:nvSpPr>
          <p:cNvPr id="11" name="Text 9"/>
          <p:cNvSpPr/>
          <p:nvPr/>
        </p:nvSpPr>
        <p:spPr>
          <a:xfrm>
            <a:off x="5852160" y="1691640"/>
            <a:ext cx="5486400" cy="411480"/>
          </a:xfrm>
          <a:prstGeom prst="rect">
            <a:avLst/>
          </a:prstGeom>
          <a:noFill/>
          <a:ln/>
        </p:spPr>
        <p:txBody>
          <a:bodyPr wrap="square" lIns="0" tIns="0" rIns="0" bIns="0" rtlCol="0" anchor="ctr"/>
          <a:lstStyle/>
          <a:p>
            <a:pPr indent="0" marL="0">
              <a:buNone/>
            </a:pPr>
            <a:r>
              <a:rPr lang="en-US" sz="1700" b="1" dirty="0">
                <a:solidFill>
                  <a:srgbClr val="0B2B2E"/>
                </a:solidFill>
                <a:latin typeface="Cambria" pitchFamily="34" charset="0"/>
                <a:ea typeface="Cambria" pitchFamily="34" charset="-122"/>
                <a:cs typeface="Cambria" pitchFamily="34" charset="-120"/>
              </a:rPr>
              <a:t>Git helps developers:</a:t>
            </a:r>
            <a:endParaRPr lang="en-US" sz="1700" dirty="0"/>
          </a:p>
        </p:txBody>
      </p:sp>
      <p:sp>
        <p:nvSpPr>
          <p:cNvPr id="12" name="Shape 10"/>
          <p:cNvSpPr/>
          <p:nvPr/>
        </p:nvSpPr>
        <p:spPr>
          <a:xfrm>
            <a:off x="5852160" y="2286000"/>
            <a:ext cx="5760720" cy="548640"/>
          </a:xfrm>
          <a:prstGeom prst="roundRect">
            <a:avLst>
              <a:gd name="adj" fmla="val 13333"/>
            </a:avLst>
          </a:prstGeom>
          <a:solidFill>
            <a:srgbClr val="FFFFFF"/>
          </a:solidFill>
          <a:ln w="12700">
            <a:solidFill>
              <a:srgbClr val="D7E9E8"/>
            </a:solidFill>
            <a:prstDash val="solid"/>
          </a:ln>
        </p:spPr>
      </p:sp>
      <p:sp>
        <p:nvSpPr>
          <p:cNvPr id="13" name="Shape 11"/>
          <p:cNvSpPr/>
          <p:nvPr/>
        </p:nvSpPr>
        <p:spPr>
          <a:xfrm>
            <a:off x="5989320" y="2395728"/>
            <a:ext cx="329184" cy="329184"/>
          </a:xfrm>
          <a:prstGeom prst="ellipse">
            <a:avLst/>
          </a:prstGeom>
          <a:solidFill>
            <a:srgbClr val="00A896"/>
          </a:solidFill>
          <a:ln/>
        </p:spPr>
      </p:sp>
      <p:sp>
        <p:nvSpPr>
          <p:cNvPr id="14" name="Text 12"/>
          <p:cNvSpPr/>
          <p:nvPr/>
        </p:nvSpPr>
        <p:spPr>
          <a:xfrm>
            <a:off x="5989320" y="23957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3"/>
          <p:cNvSpPr/>
          <p:nvPr/>
        </p:nvSpPr>
        <p:spPr>
          <a:xfrm>
            <a:off x="6492240" y="2286000"/>
            <a:ext cx="5029200" cy="548640"/>
          </a:xfrm>
          <a:prstGeom prst="rect">
            <a:avLst/>
          </a:prstGeom>
          <a:noFill/>
          <a:ln/>
        </p:spPr>
        <p:txBody>
          <a:bodyPr wrap="square" lIns="0" tIns="0" rIns="0" bIns="0" rtlCol="0" anchor="ctr"/>
          <a:lstStyle/>
          <a:p>
            <a:pPr indent="0" marL="0">
              <a:buNone/>
            </a:pPr>
            <a:r>
              <a:rPr lang="en-US" sz="1350" dirty="0">
                <a:solidFill>
                  <a:srgbClr val="0B2B2E"/>
                </a:solidFill>
                <a:latin typeface="Calibri" pitchFamily="34" charset="0"/>
                <a:ea typeface="Calibri" pitchFamily="34" charset="-122"/>
                <a:cs typeface="Calibri" pitchFamily="34" charset="-120"/>
              </a:rPr>
              <a:t>Save project history</a:t>
            </a:r>
            <a:endParaRPr lang="en-US" sz="1350" dirty="0"/>
          </a:p>
        </p:txBody>
      </p:sp>
      <p:sp>
        <p:nvSpPr>
          <p:cNvPr id="16" name="Shape 14"/>
          <p:cNvSpPr/>
          <p:nvPr/>
        </p:nvSpPr>
        <p:spPr>
          <a:xfrm>
            <a:off x="5852160" y="2999232"/>
            <a:ext cx="5760720" cy="548640"/>
          </a:xfrm>
          <a:prstGeom prst="roundRect">
            <a:avLst>
              <a:gd name="adj" fmla="val 13333"/>
            </a:avLst>
          </a:prstGeom>
          <a:solidFill>
            <a:srgbClr val="FFFFFF"/>
          </a:solidFill>
          <a:ln w="12700">
            <a:solidFill>
              <a:srgbClr val="D7E9E8"/>
            </a:solidFill>
            <a:prstDash val="solid"/>
          </a:ln>
        </p:spPr>
      </p:sp>
      <p:sp>
        <p:nvSpPr>
          <p:cNvPr id="17" name="Shape 15"/>
          <p:cNvSpPr/>
          <p:nvPr/>
        </p:nvSpPr>
        <p:spPr>
          <a:xfrm>
            <a:off x="5989320" y="3108960"/>
            <a:ext cx="329184" cy="329184"/>
          </a:xfrm>
          <a:prstGeom prst="ellipse">
            <a:avLst/>
          </a:prstGeom>
          <a:solidFill>
            <a:srgbClr val="00A896"/>
          </a:solidFill>
          <a:ln/>
        </p:spPr>
      </p:sp>
      <p:sp>
        <p:nvSpPr>
          <p:cNvPr id="18" name="Text 16"/>
          <p:cNvSpPr/>
          <p:nvPr/>
        </p:nvSpPr>
        <p:spPr>
          <a:xfrm>
            <a:off x="5989320" y="31089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Text 17"/>
          <p:cNvSpPr/>
          <p:nvPr/>
        </p:nvSpPr>
        <p:spPr>
          <a:xfrm>
            <a:off x="6492240" y="2999232"/>
            <a:ext cx="5029200" cy="548640"/>
          </a:xfrm>
          <a:prstGeom prst="rect">
            <a:avLst/>
          </a:prstGeom>
          <a:noFill/>
          <a:ln/>
        </p:spPr>
        <p:txBody>
          <a:bodyPr wrap="square" lIns="0" tIns="0" rIns="0" bIns="0" rtlCol="0" anchor="ctr"/>
          <a:lstStyle/>
          <a:p>
            <a:pPr indent="0" marL="0">
              <a:buNone/>
            </a:pPr>
            <a:r>
              <a:rPr lang="en-US" sz="1350" dirty="0">
                <a:solidFill>
                  <a:srgbClr val="0B2B2E"/>
                </a:solidFill>
                <a:latin typeface="Calibri" pitchFamily="34" charset="0"/>
                <a:ea typeface="Calibri" pitchFamily="34" charset="-122"/>
                <a:cs typeface="Calibri" pitchFamily="34" charset="-120"/>
              </a:rPr>
              <a:t>Track code changes</a:t>
            </a:r>
            <a:endParaRPr lang="en-US" sz="1350" dirty="0"/>
          </a:p>
        </p:txBody>
      </p:sp>
      <p:sp>
        <p:nvSpPr>
          <p:cNvPr id="20" name="Shape 18"/>
          <p:cNvSpPr/>
          <p:nvPr/>
        </p:nvSpPr>
        <p:spPr>
          <a:xfrm>
            <a:off x="5852160" y="3712464"/>
            <a:ext cx="5760720" cy="548640"/>
          </a:xfrm>
          <a:prstGeom prst="roundRect">
            <a:avLst>
              <a:gd name="adj" fmla="val 13333"/>
            </a:avLst>
          </a:prstGeom>
          <a:solidFill>
            <a:srgbClr val="FFFFFF"/>
          </a:solidFill>
          <a:ln w="12700">
            <a:solidFill>
              <a:srgbClr val="D7E9E8"/>
            </a:solidFill>
            <a:prstDash val="solid"/>
          </a:ln>
        </p:spPr>
      </p:sp>
      <p:sp>
        <p:nvSpPr>
          <p:cNvPr id="21" name="Shape 19"/>
          <p:cNvSpPr/>
          <p:nvPr/>
        </p:nvSpPr>
        <p:spPr>
          <a:xfrm>
            <a:off x="5989320" y="3822192"/>
            <a:ext cx="329184" cy="329184"/>
          </a:xfrm>
          <a:prstGeom prst="ellipse">
            <a:avLst/>
          </a:prstGeom>
          <a:solidFill>
            <a:srgbClr val="00A896"/>
          </a:solidFill>
          <a:ln/>
        </p:spPr>
      </p:sp>
      <p:sp>
        <p:nvSpPr>
          <p:cNvPr id="22" name="Text 20"/>
          <p:cNvSpPr/>
          <p:nvPr/>
        </p:nvSpPr>
        <p:spPr>
          <a:xfrm>
            <a:off x="5989320" y="38221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1"/>
          <p:cNvSpPr/>
          <p:nvPr/>
        </p:nvSpPr>
        <p:spPr>
          <a:xfrm>
            <a:off x="6492240" y="3712464"/>
            <a:ext cx="5029200" cy="548640"/>
          </a:xfrm>
          <a:prstGeom prst="rect">
            <a:avLst/>
          </a:prstGeom>
          <a:noFill/>
          <a:ln/>
        </p:spPr>
        <p:txBody>
          <a:bodyPr wrap="square" lIns="0" tIns="0" rIns="0" bIns="0" rtlCol="0" anchor="ctr"/>
          <a:lstStyle/>
          <a:p>
            <a:pPr indent="0" marL="0">
              <a:buNone/>
            </a:pPr>
            <a:r>
              <a:rPr lang="en-US" sz="1350" dirty="0">
                <a:solidFill>
                  <a:srgbClr val="0B2B2E"/>
                </a:solidFill>
                <a:latin typeface="Calibri" pitchFamily="34" charset="0"/>
                <a:ea typeface="Calibri" pitchFamily="34" charset="-122"/>
                <a:cs typeface="Calibri" pitchFamily="34" charset="-120"/>
              </a:rPr>
              <a:t>Create branches</a:t>
            </a:r>
            <a:endParaRPr lang="en-US" sz="1350" dirty="0"/>
          </a:p>
        </p:txBody>
      </p:sp>
      <p:sp>
        <p:nvSpPr>
          <p:cNvPr id="24" name="Shape 22"/>
          <p:cNvSpPr/>
          <p:nvPr/>
        </p:nvSpPr>
        <p:spPr>
          <a:xfrm>
            <a:off x="5852160" y="4425696"/>
            <a:ext cx="5760720" cy="548640"/>
          </a:xfrm>
          <a:prstGeom prst="roundRect">
            <a:avLst>
              <a:gd name="adj" fmla="val 13333"/>
            </a:avLst>
          </a:prstGeom>
          <a:solidFill>
            <a:srgbClr val="FFFFFF"/>
          </a:solidFill>
          <a:ln w="12700">
            <a:solidFill>
              <a:srgbClr val="D7E9E8"/>
            </a:solidFill>
            <a:prstDash val="solid"/>
          </a:ln>
        </p:spPr>
      </p:sp>
      <p:sp>
        <p:nvSpPr>
          <p:cNvPr id="25" name="Shape 23"/>
          <p:cNvSpPr/>
          <p:nvPr/>
        </p:nvSpPr>
        <p:spPr>
          <a:xfrm>
            <a:off x="5989320" y="4535424"/>
            <a:ext cx="329184" cy="329184"/>
          </a:xfrm>
          <a:prstGeom prst="ellipse">
            <a:avLst/>
          </a:prstGeom>
          <a:solidFill>
            <a:srgbClr val="00A896"/>
          </a:solidFill>
          <a:ln/>
        </p:spPr>
      </p:sp>
      <p:sp>
        <p:nvSpPr>
          <p:cNvPr id="26" name="Text 24"/>
          <p:cNvSpPr/>
          <p:nvPr/>
        </p:nvSpPr>
        <p:spPr>
          <a:xfrm>
            <a:off x="5989320" y="45354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6492240" y="4425696"/>
            <a:ext cx="5029200" cy="548640"/>
          </a:xfrm>
          <a:prstGeom prst="rect">
            <a:avLst/>
          </a:prstGeom>
          <a:noFill/>
          <a:ln/>
        </p:spPr>
        <p:txBody>
          <a:bodyPr wrap="square" lIns="0" tIns="0" rIns="0" bIns="0" rtlCol="0" anchor="ctr"/>
          <a:lstStyle/>
          <a:p>
            <a:pPr indent="0" marL="0">
              <a:buNone/>
            </a:pPr>
            <a:r>
              <a:rPr lang="en-US" sz="1350" dirty="0">
                <a:solidFill>
                  <a:srgbClr val="0B2B2E"/>
                </a:solidFill>
                <a:latin typeface="Calibri" pitchFamily="34" charset="0"/>
                <a:ea typeface="Calibri" pitchFamily="34" charset="-122"/>
                <a:cs typeface="Calibri" pitchFamily="34" charset="-120"/>
              </a:rPr>
              <a:t>Merge code safely</a:t>
            </a:r>
            <a:endParaRPr lang="en-US" sz="1350" dirty="0"/>
          </a:p>
        </p:txBody>
      </p:sp>
      <p:sp>
        <p:nvSpPr>
          <p:cNvPr id="28" name="Shape 26"/>
          <p:cNvSpPr/>
          <p:nvPr/>
        </p:nvSpPr>
        <p:spPr>
          <a:xfrm>
            <a:off x="5852160" y="5138928"/>
            <a:ext cx="5760720" cy="548640"/>
          </a:xfrm>
          <a:prstGeom prst="roundRect">
            <a:avLst>
              <a:gd name="adj" fmla="val 13333"/>
            </a:avLst>
          </a:prstGeom>
          <a:solidFill>
            <a:srgbClr val="FFFFFF"/>
          </a:solidFill>
          <a:ln w="12700">
            <a:solidFill>
              <a:srgbClr val="D7E9E8"/>
            </a:solidFill>
            <a:prstDash val="solid"/>
          </a:ln>
        </p:spPr>
      </p:sp>
      <p:sp>
        <p:nvSpPr>
          <p:cNvPr id="29" name="Shape 27"/>
          <p:cNvSpPr/>
          <p:nvPr/>
        </p:nvSpPr>
        <p:spPr>
          <a:xfrm>
            <a:off x="5989320" y="5248656"/>
            <a:ext cx="329184" cy="329184"/>
          </a:xfrm>
          <a:prstGeom prst="ellipse">
            <a:avLst/>
          </a:prstGeom>
          <a:solidFill>
            <a:srgbClr val="00A896"/>
          </a:solidFill>
          <a:ln/>
        </p:spPr>
      </p:sp>
      <p:sp>
        <p:nvSpPr>
          <p:cNvPr id="30" name="Text 28"/>
          <p:cNvSpPr/>
          <p:nvPr/>
        </p:nvSpPr>
        <p:spPr>
          <a:xfrm>
            <a:off x="5989320" y="524865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p:nvPr/>
        </p:nvSpPr>
        <p:spPr>
          <a:xfrm>
            <a:off x="6492240" y="5138928"/>
            <a:ext cx="5029200" cy="548640"/>
          </a:xfrm>
          <a:prstGeom prst="rect">
            <a:avLst/>
          </a:prstGeom>
          <a:noFill/>
          <a:ln/>
        </p:spPr>
        <p:txBody>
          <a:bodyPr wrap="square" lIns="0" tIns="0" rIns="0" bIns="0" rtlCol="0" anchor="ctr"/>
          <a:lstStyle/>
          <a:p>
            <a:pPr indent="0" marL="0">
              <a:buNone/>
            </a:pPr>
            <a:r>
              <a:rPr lang="en-US" sz="1350" dirty="0">
                <a:solidFill>
                  <a:srgbClr val="0B2B2E"/>
                </a:solidFill>
                <a:latin typeface="Calibri" pitchFamily="34" charset="0"/>
                <a:ea typeface="Calibri" pitchFamily="34" charset="-122"/>
                <a:cs typeface="Calibri" pitchFamily="34" charset="-120"/>
              </a:rPr>
              <a:t>Work offline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CORE BENEFITS</a:t>
            </a:r>
            <a:endParaRPr lang="en-US" sz="1200" dirty="0"/>
          </a:p>
        </p:txBody>
      </p:sp>
      <p:sp>
        <p:nvSpPr>
          <p:cNvPr id="3" name="Text 1"/>
          <p:cNvSpPr/>
          <p:nvPr/>
        </p:nvSpPr>
        <p:spPr>
          <a:xfrm>
            <a:off x="548640" y="658368"/>
            <a:ext cx="10515600" cy="777240"/>
          </a:xfrm>
          <a:prstGeom prst="rect">
            <a:avLst/>
          </a:prstGeom>
          <a:noFill/>
          <a:ln/>
        </p:spPr>
        <p:txBody>
          <a:bodyPr wrap="square" lIns="0" tIns="0" rIns="0" bIns="0" rtlCol="0" anchor="ctr"/>
          <a:lstStyle/>
          <a:p>
            <a:pPr indent="0" marL="0">
              <a:buNone/>
            </a:pPr>
            <a:r>
              <a:rPr lang="en-US" sz="3000" b="1" dirty="0">
                <a:solidFill>
                  <a:srgbClr val="0B2B2E"/>
                </a:solidFill>
                <a:latin typeface="Cambria" pitchFamily="34" charset="0"/>
                <a:ea typeface="Cambria" pitchFamily="34" charset="-122"/>
                <a:cs typeface="Cambria" pitchFamily="34" charset="-120"/>
              </a:rPr>
              <a:t>Why Use Git?</a:t>
            </a:r>
            <a:endParaRPr lang="en-US" sz="3000" dirty="0"/>
          </a:p>
        </p:txBody>
      </p:sp>
      <p:sp>
        <p:nvSpPr>
          <p:cNvPr id="4" name="Shape 2"/>
          <p:cNvSpPr/>
          <p:nvPr/>
        </p:nvSpPr>
        <p:spPr>
          <a:xfrm>
            <a:off x="548640" y="1737360"/>
            <a:ext cx="2121408" cy="4206240"/>
          </a:xfrm>
          <a:prstGeom prst="roundRect">
            <a:avLst>
              <a:gd name="adj" fmla="val 4310"/>
            </a:avLst>
          </a:prstGeom>
          <a:solidFill>
            <a:srgbClr val="FFFFFF"/>
          </a:solidFill>
          <a:ln w="12700">
            <a:solidFill>
              <a:srgbClr val="D7E9E8"/>
            </a:solidFill>
            <a:prstDash val="solid"/>
          </a:ln>
          <a:effectLst>
            <a:outerShdw sx="100000" sy="100000" kx="0" ky="0" algn="bl" rotWithShape="0" blurRad="76200" dist="25400" dir="5400000">
              <a:srgbClr val="1E3A3C">
                <a:alpha val="10000"/>
              </a:srgbClr>
            </a:outerShdw>
          </a:effectLst>
        </p:spPr>
      </p:sp>
      <p:sp>
        <p:nvSpPr>
          <p:cNvPr id="5" name="Shape 3"/>
          <p:cNvSpPr/>
          <p:nvPr/>
        </p:nvSpPr>
        <p:spPr>
          <a:xfrm>
            <a:off x="1266444" y="2057400"/>
            <a:ext cx="685800" cy="685800"/>
          </a:xfrm>
          <a:prstGeom prst="ellipse">
            <a:avLst/>
          </a:prstGeom>
          <a:solidFill>
            <a:srgbClr val="028090"/>
          </a:solidFill>
          <a:ln/>
        </p:spPr>
      </p:sp>
      <p:sp>
        <p:nvSpPr>
          <p:cNvPr id="6" name="Text 4"/>
          <p:cNvSpPr/>
          <p:nvPr/>
        </p:nvSpPr>
        <p:spPr>
          <a:xfrm>
            <a:off x="1266444" y="2071116"/>
            <a:ext cx="685800" cy="685800"/>
          </a:xfrm>
          <a:prstGeom prst="rect">
            <a:avLst/>
          </a:prstGeom>
          <a:noFill/>
          <a:ln/>
        </p:spPr>
        <p:txBody>
          <a:bodyPr wrap="square" lIns="0" tIns="0" rIns="0" bIns="0" rtlCol="0" anchor="ctr"/>
          <a:lstStyle/>
          <a:p>
            <a:pPr algn="ctr" indent="0" marL="0">
              <a:buNone/>
            </a:pPr>
            <a:r>
              <a:rPr lang="en-US" sz="2550" dirty="0">
                <a:solidFill>
                  <a:srgbClr val="FFFFFF"/>
                </a:solidFill>
                <a:latin typeface="Calibri" pitchFamily="34" charset="0"/>
                <a:ea typeface="Calibri" pitchFamily="34" charset="-122"/>
                <a:cs typeface="Calibri" pitchFamily="34" charset="-120"/>
              </a:rPr>
              <a:t>⏱</a:t>
            </a:r>
            <a:endParaRPr lang="en-US" sz="2550" dirty="0"/>
          </a:p>
        </p:txBody>
      </p:sp>
      <p:sp>
        <p:nvSpPr>
          <p:cNvPr id="7" name="Text 5"/>
          <p:cNvSpPr/>
          <p:nvPr/>
        </p:nvSpPr>
        <p:spPr>
          <a:xfrm>
            <a:off x="685800" y="2971800"/>
            <a:ext cx="1847088" cy="457200"/>
          </a:xfrm>
          <a:prstGeom prst="rect">
            <a:avLst/>
          </a:prstGeom>
          <a:noFill/>
          <a:ln/>
        </p:spPr>
        <p:txBody>
          <a:bodyPr wrap="square" lIns="0" tIns="0" rIns="0" bIns="0" rtlCol="0" anchor="ctr"/>
          <a:lstStyle/>
          <a:p>
            <a:pPr algn="ctr" indent="0" marL="0">
              <a:buNone/>
            </a:pPr>
            <a:r>
              <a:rPr lang="en-US" sz="1450" b="1" dirty="0">
                <a:solidFill>
                  <a:srgbClr val="0B2B2E"/>
                </a:solidFill>
                <a:latin typeface="Cambria" pitchFamily="34" charset="0"/>
                <a:ea typeface="Cambria" pitchFamily="34" charset="-122"/>
                <a:cs typeface="Cambria" pitchFamily="34" charset="-120"/>
              </a:rPr>
              <a:t>History</a:t>
            </a:r>
            <a:endParaRPr lang="en-US" sz="1450" dirty="0"/>
          </a:p>
        </p:txBody>
      </p:sp>
      <p:sp>
        <p:nvSpPr>
          <p:cNvPr id="8" name="Text 6"/>
          <p:cNvSpPr/>
          <p:nvPr/>
        </p:nvSpPr>
        <p:spPr>
          <a:xfrm>
            <a:off x="731520" y="3520440"/>
            <a:ext cx="1755648" cy="2286000"/>
          </a:xfrm>
          <a:prstGeom prst="rect">
            <a:avLst/>
          </a:prstGeom>
          <a:noFill/>
          <a:ln/>
        </p:spPr>
        <p:txBody>
          <a:bodyPr wrap="square" lIns="0" tIns="0" rIns="0" bIns="0" rtlCol="0" anchor="ctr"/>
          <a:lstStyle/>
          <a:p>
            <a:pPr algn="ctr" indent="0" marL="0">
              <a:buNone/>
            </a:pPr>
            <a:r>
              <a:rPr lang="en-US" sz="1150" dirty="0">
                <a:solidFill>
                  <a:srgbClr val="5C7C7E"/>
                </a:solidFill>
                <a:latin typeface="Calibri" pitchFamily="34" charset="0"/>
                <a:ea typeface="Calibri" pitchFamily="34" charset="-122"/>
                <a:cs typeface="Calibri" pitchFamily="34" charset="-120"/>
              </a:rPr>
              <a:t>Git remembers every commit. If a bug appears, check earlier versions.</a:t>
            </a:r>
            <a:endParaRPr lang="en-US" sz="1150" dirty="0"/>
          </a:p>
        </p:txBody>
      </p:sp>
      <p:sp>
        <p:nvSpPr>
          <p:cNvPr id="9" name="Shape 7"/>
          <p:cNvSpPr/>
          <p:nvPr/>
        </p:nvSpPr>
        <p:spPr>
          <a:xfrm>
            <a:off x="2871216" y="1737360"/>
            <a:ext cx="2121408" cy="4206240"/>
          </a:xfrm>
          <a:prstGeom prst="roundRect">
            <a:avLst>
              <a:gd name="adj" fmla="val 4310"/>
            </a:avLst>
          </a:prstGeom>
          <a:solidFill>
            <a:srgbClr val="FFFFFF"/>
          </a:solidFill>
          <a:ln w="12700">
            <a:solidFill>
              <a:srgbClr val="D7E9E8"/>
            </a:solidFill>
            <a:prstDash val="solid"/>
          </a:ln>
          <a:effectLst>
            <a:outerShdw sx="100000" sy="100000" kx="0" ky="0" algn="bl" rotWithShape="0" blurRad="76200" dist="25400" dir="5400000">
              <a:srgbClr val="1E3A3C">
                <a:alpha val="10000"/>
              </a:srgbClr>
            </a:outerShdw>
          </a:effectLst>
        </p:spPr>
      </p:sp>
      <p:sp>
        <p:nvSpPr>
          <p:cNvPr id="10" name="Shape 8"/>
          <p:cNvSpPr/>
          <p:nvPr/>
        </p:nvSpPr>
        <p:spPr>
          <a:xfrm>
            <a:off x="3589020" y="2057400"/>
            <a:ext cx="685800" cy="685800"/>
          </a:xfrm>
          <a:prstGeom prst="ellipse">
            <a:avLst/>
          </a:prstGeom>
          <a:solidFill>
            <a:srgbClr val="00A896"/>
          </a:solidFill>
          <a:ln/>
        </p:spPr>
      </p:sp>
      <p:sp>
        <p:nvSpPr>
          <p:cNvPr id="11" name="Text 9"/>
          <p:cNvSpPr/>
          <p:nvPr/>
        </p:nvSpPr>
        <p:spPr>
          <a:xfrm>
            <a:off x="3589020" y="2071116"/>
            <a:ext cx="685800" cy="685800"/>
          </a:xfrm>
          <a:prstGeom prst="rect">
            <a:avLst/>
          </a:prstGeom>
          <a:noFill/>
          <a:ln/>
        </p:spPr>
        <p:txBody>
          <a:bodyPr wrap="square" lIns="0" tIns="0" rIns="0" bIns="0" rtlCol="0" anchor="ctr"/>
          <a:lstStyle/>
          <a:p>
            <a:pPr algn="ctr" indent="0" marL="0">
              <a:buNone/>
            </a:pPr>
            <a:r>
              <a:rPr lang="en-US" sz="2550" dirty="0">
                <a:solidFill>
                  <a:srgbClr val="FFFFFF"/>
                </a:solidFill>
                <a:latin typeface="Calibri" pitchFamily="34" charset="0"/>
                <a:ea typeface="Calibri" pitchFamily="34" charset="-122"/>
                <a:cs typeface="Calibri" pitchFamily="34" charset="-120"/>
              </a:rPr>
              <a:t>↺</a:t>
            </a:r>
            <a:endParaRPr lang="en-US" sz="2550" dirty="0"/>
          </a:p>
        </p:txBody>
      </p:sp>
      <p:sp>
        <p:nvSpPr>
          <p:cNvPr id="12" name="Text 10"/>
          <p:cNvSpPr/>
          <p:nvPr/>
        </p:nvSpPr>
        <p:spPr>
          <a:xfrm>
            <a:off x="3008376" y="2971800"/>
            <a:ext cx="1847088" cy="457200"/>
          </a:xfrm>
          <a:prstGeom prst="rect">
            <a:avLst/>
          </a:prstGeom>
          <a:noFill/>
          <a:ln/>
        </p:spPr>
        <p:txBody>
          <a:bodyPr wrap="square" lIns="0" tIns="0" rIns="0" bIns="0" rtlCol="0" anchor="ctr"/>
          <a:lstStyle/>
          <a:p>
            <a:pPr algn="ctr" indent="0" marL="0">
              <a:buNone/>
            </a:pPr>
            <a:r>
              <a:rPr lang="en-US" sz="1450" b="1" dirty="0">
                <a:solidFill>
                  <a:srgbClr val="0B2B2E"/>
                </a:solidFill>
                <a:latin typeface="Cambria" pitchFamily="34" charset="0"/>
                <a:ea typeface="Cambria" pitchFamily="34" charset="-122"/>
                <a:cs typeface="Cambria" pitchFamily="34" charset="-120"/>
              </a:rPr>
              <a:t>Undo Mistakes</a:t>
            </a:r>
            <a:endParaRPr lang="en-US" sz="1450" dirty="0"/>
          </a:p>
        </p:txBody>
      </p:sp>
      <p:sp>
        <p:nvSpPr>
          <p:cNvPr id="13" name="Text 11"/>
          <p:cNvSpPr/>
          <p:nvPr/>
        </p:nvSpPr>
        <p:spPr>
          <a:xfrm>
            <a:off x="3054096" y="3520440"/>
            <a:ext cx="1755648" cy="2286000"/>
          </a:xfrm>
          <a:prstGeom prst="rect">
            <a:avLst/>
          </a:prstGeom>
          <a:noFill/>
          <a:ln/>
        </p:spPr>
        <p:txBody>
          <a:bodyPr wrap="square" lIns="0" tIns="0" rIns="0" bIns="0" rtlCol="0" anchor="ctr"/>
          <a:lstStyle/>
          <a:p>
            <a:pPr algn="ctr" indent="0" marL="0">
              <a:buNone/>
            </a:pPr>
            <a:r>
              <a:rPr lang="en-US" sz="1150" dirty="0">
                <a:solidFill>
                  <a:srgbClr val="5C7C7E"/>
                </a:solidFill>
                <a:latin typeface="Calibri" pitchFamily="34" charset="0"/>
                <a:ea typeface="Calibri" pitchFamily="34" charset="-122"/>
                <a:cs typeface="Calibri" pitchFamily="34" charset="-120"/>
              </a:rPr>
              <a:t>Deleted important code? Git lets you restore it instantly.</a:t>
            </a:r>
            <a:endParaRPr lang="en-US" sz="1150" dirty="0"/>
          </a:p>
        </p:txBody>
      </p:sp>
      <p:sp>
        <p:nvSpPr>
          <p:cNvPr id="14" name="Shape 12"/>
          <p:cNvSpPr/>
          <p:nvPr/>
        </p:nvSpPr>
        <p:spPr>
          <a:xfrm>
            <a:off x="5193792" y="1737360"/>
            <a:ext cx="2121408" cy="4206240"/>
          </a:xfrm>
          <a:prstGeom prst="roundRect">
            <a:avLst>
              <a:gd name="adj" fmla="val 4310"/>
            </a:avLst>
          </a:prstGeom>
          <a:solidFill>
            <a:srgbClr val="FFFFFF"/>
          </a:solidFill>
          <a:ln w="12700">
            <a:solidFill>
              <a:srgbClr val="D7E9E8"/>
            </a:solidFill>
            <a:prstDash val="solid"/>
          </a:ln>
          <a:effectLst>
            <a:outerShdw sx="100000" sy="100000" kx="0" ky="0" algn="bl" rotWithShape="0" blurRad="76200" dist="25400" dir="5400000">
              <a:srgbClr val="1E3A3C">
                <a:alpha val="10000"/>
              </a:srgbClr>
            </a:outerShdw>
          </a:effectLst>
        </p:spPr>
      </p:sp>
      <p:sp>
        <p:nvSpPr>
          <p:cNvPr id="15" name="Shape 13"/>
          <p:cNvSpPr/>
          <p:nvPr/>
        </p:nvSpPr>
        <p:spPr>
          <a:xfrm>
            <a:off x="5911596" y="2057400"/>
            <a:ext cx="685800" cy="685800"/>
          </a:xfrm>
          <a:prstGeom prst="ellipse">
            <a:avLst/>
          </a:prstGeom>
          <a:solidFill>
            <a:srgbClr val="02C39A"/>
          </a:solidFill>
          <a:ln/>
        </p:spPr>
      </p:sp>
      <p:sp>
        <p:nvSpPr>
          <p:cNvPr id="16" name="Text 14"/>
          <p:cNvSpPr/>
          <p:nvPr/>
        </p:nvSpPr>
        <p:spPr>
          <a:xfrm>
            <a:off x="5911596" y="2071116"/>
            <a:ext cx="685800" cy="685800"/>
          </a:xfrm>
          <a:prstGeom prst="rect">
            <a:avLst/>
          </a:prstGeom>
          <a:noFill/>
          <a:ln/>
        </p:spPr>
        <p:txBody>
          <a:bodyPr wrap="square" lIns="0" tIns="0" rIns="0" bIns="0" rtlCol="0" anchor="ctr"/>
          <a:lstStyle/>
          <a:p>
            <a:pPr algn="ctr" indent="0" marL="0">
              <a:buNone/>
            </a:pPr>
            <a:r>
              <a:rPr lang="en-US" sz="2550" dirty="0">
                <a:solidFill>
                  <a:srgbClr val="FFFFFF"/>
                </a:solidFill>
                <a:latin typeface="Calibri" pitchFamily="34" charset="0"/>
                <a:ea typeface="Calibri" pitchFamily="34" charset="-122"/>
                <a:cs typeface="Calibri" pitchFamily="34" charset="-120"/>
              </a:rPr>
              <a:t>⑂</a:t>
            </a:r>
            <a:endParaRPr lang="en-US" sz="2550" dirty="0"/>
          </a:p>
        </p:txBody>
      </p:sp>
      <p:sp>
        <p:nvSpPr>
          <p:cNvPr id="17" name="Text 15"/>
          <p:cNvSpPr/>
          <p:nvPr/>
        </p:nvSpPr>
        <p:spPr>
          <a:xfrm>
            <a:off x="5330952" y="2971800"/>
            <a:ext cx="1847088" cy="457200"/>
          </a:xfrm>
          <a:prstGeom prst="rect">
            <a:avLst/>
          </a:prstGeom>
          <a:noFill/>
          <a:ln/>
        </p:spPr>
        <p:txBody>
          <a:bodyPr wrap="square" lIns="0" tIns="0" rIns="0" bIns="0" rtlCol="0" anchor="ctr"/>
          <a:lstStyle/>
          <a:p>
            <a:pPr algn="ctr" indent="0" marL="0">
              <a:buNone/>
            </a:pPr>
            <a:r>
              <a:rPr lang="en-US" sz="1450" b="1" dirty="0">
                <a:solidFill>
                  <a:srgbClr val="0B2B2E"/>
                </a:solidFill>
                <a:latin typeface="Cambria" pitchFamily="34" charset="0"/>
                <a:ea typeface="Cambria" pitchFamily="34" charset="-122"/>
                <a:cs typeface="Cambria" pitchFamily="34" charset="-120"/>
              </a:rPr>
              <a:t>Branches</a:t>
            </a:r>
            <a:endParaRPr lang="en-US" sz="1450" dirty="0"/>
          </a:p>
        </p:txBody>
      </p:sp>
      <p:sp>
        <p:nvSpPr>
          <p:cNvPr id="18" name="Text 16"/>
          <p:cNvSpPr/>
          <p:nvPr/>
        </p:nvSpPr>
        <p:spPr>
          <a:xfrm>
            <a:off x="5376672" y="3520440"/>
            <a:ext cx="1755648" cy="2286000"/>
          </a:xfrm>
          <a:prstGeom prst="rect">
            <a:avLst/>
          </a:prstGeom>
          <a:noFill/>
          <a:ln/>
        </p:spPr>
        <p:txBody>
          <a:bodyPr wrap="square" lIns="0" tIns="0" rIns="0" bIns="0" rtlCol="0" anchor="ctr"/>
          <a:lstStyle/>
          <a:p>
            <a:pPr algn="ctr" indent="0" marL="0">
              <a:buNone/>
            </a:pPr>
            <a:r>
              <a:rPr lang="en-US" sz="1150" dirty="0">
                <a:solidFill>
                  <a:srgbClr val="5C7C7E"/>
                </a:solidFill>
                <a:latin typeface="Calibri" pitchFamily="34" charset="0"/>
                <a:ea typeface="Calibri" pitchFamily="34" charset="-122"/>
                <a:cs typeface="Calibri" pitchFamily="34" charset="-120"/>
              </a:rPr>
              <a:t>Create separate branches to safely experiment without affecting main code.</a:t>
            </a:r>
            <a:endParaRPr lang="en-US" sz="1150" dirty="0"/>
          </a:p>
        </p:txBody>
      </p:sp>
      <p:sp>
        <p:nvSpPr>
          <p:cNvPr id="19" name="Shape 17"/>
          <p:cNvSpPr/>
          <p:nvPr/>
        </p:nvSpPr>
        <p:spPr>
          <a:xfrm>
            <a:off x="7516368" y="1737360"/>
            <a:ext cx="2121408" cy="4206240"/>
          </a:xfrm>
          <a:prstGeom prst="roundRect">
            <a:avLst>
              <a:gd name="adj" fmla="val 4310"/>
            </a:avLst>
          </a:prstGeom>
          <a:solidFill>
            <a:srgbClr val="FFFFFF"/>
          </a:solidFill>
          <a:ln w="12700">
            <a:solidFill>
              <a:srgbClr val="D7E9E8"/>
            </a:solidFill>
            <a:prstDash val="solid"/>
          </a:ln>
          <a:effectLst>
            <a:outerShdw sx="100000" sy="100000" kx="0" ky="0" algn="bl" rotWithShape="0" blurRad="76200" dist="25400" dir="5400000">
              <a:srgbClr val="1E3A3C">
                <a:alpha val="10000"/>
              </a:srgbClr>
            </a:outerShdw>
          </a:effectLst>
        </p:spPr>
      </p:sp>
      <p:sp>
        <p:nvSpPr>
          <p:cNvPr id="20" name="Shape 18"/>
          <p:cNvSpPr/>
          <p:nvPr/>
        </p:nvSpPr>
        <p:spPr>
          <a:xfrm>
            <a:off x="8234172" y="2057400"/>
            <a:ext cx="685800" cy="685800"/>
          </a:xfrm>
          <a:prstGeom prst="ellipse">
            <a:avLst/>
          </a:prstGeom>
          <a:solidFill>
            <a:srgbClr val="028090"/>
          </a:solidFill>
          <a:ln/>
        </p:spPr>
      </p:sp>
      <p:sp>
        <p:nvSpPr>
          <p:cNvPr id="21" name="Text 19"/>
          <p:cNvSpPr/>
          <p:nvPr/>
        </p:nvSpPr>
        <p:spPr>
          <a:xfrm>
            <a:off x="8234172" y="2071116"/>
            <a:ext cx="685800" cy="685800"/>
          </a:xfrm>
          <a:prstGeom prst="rect">
            <a:avLst/>
          </a:prstGeom>
          <a:noFill/>
          <a:ln/>
        </p:spPr>
        <p:txBody>
          <a:bodyPr wrap="square" lIns="0" tIns="0" rIns="0" bIns="0" rtlCol="0" anchor="ctr"/>
          <a:lstStyle/>
          <a:p>
            <a:pPr algn="ctr" indent="0" marL="0">
              <a:buNone/>
            </a:pPr>
            <a:r>
              <a:rPr lang="en-US" sz="2550" dirty="0">
                <a:solidFill>
                  <a:srgbClr val="FFFFFF"/>
                </a:solidFill>
                <a:latin typeface="Calibri" pitchFamily="34" charset="0"/>
                <a:ea typeface="Calibri" pitchFamily="34" charset="-122"/>
                <a:cs typeface="Calibri" pitchFamily="34" charset="-120"/>
              </a:rPr>
              <a:t>⇄</a:t>
            </a:r>
            <a:endParaRPr lang="en-US" sz="2550" dirty="0"/>
          </a:p>
        </p:txBody>
      </p:sp>
      <p:sp>
        <p:nvSpPr>
          <p:cNvPr id="22" name="Text 20"/>
          <p:cNvSpPr/>
          <p:nvPr/>
        </p:nvSpPr>
        <p:spPr>
          <a:xfrm>
            <a:off x="7653528" y="2971800"/>
            <a:ext cx="1847088" cy="457200"/>
          </a:xfrm>
          <a:prstGeom prst="rect">
            <a:avLst/>
          </a:prstGeom>
          <a:noFill/>
          <a:ln/>
        </p:spPr>
        <p:txBody>
          <a:bodyPr wrap="square" lIns="0" tIns="0" rIns="0" bIns="0" rtlCol="0" anchor="ctr"/>
          <a:lstStyle/>
          <a:p>
            <a:pPr algn="ctr" indent="0" marL="0">
              <a:buNone/>
            </a:pPr>
            <a:r>
              <a:rPr lang="en-US" sz="1450" b="1" dirty="0">
                <a:solidFill>
                  <a:srgbClr val="0B2B2E"/>
                </a:solidFill>
                <a:latin typeface="Cambria" pitchFamily="34" charset="0"/>
                <a:ea typeface="Cambria" pitchFamily="34" charset="-122"/>
                <a:cs typeface="Cambria" pitchFamily="34" charset="-120"/>
              </a:rPr>
              <a:t>Merge</a:t>
            </a:r>
            <a:endParaRPr lang="en-US" sz="1450" dirty="0"/>
          </a:p>
        </p:txBody>
      </p:sp>
      <p:sp>
        <p:nvSpPr>
          <p:cNvPr id="23" name="Text 21"/>
          <p:cNvSpPr/>
          <p:nvPr/>
        </p:nvSpPr>
        <p:spPr>
          <a:xfrm>
            <a:off x="7699248" y="3520440"/>
            <a:ext cx="1755648" cy="2286000"/>
          </a:xfrm>
          <a:prstGeom prst="rect">
            <a:avLst/>
          </a:prstGeom>
          <a:noFill/>
          <a:ln/>
        </p:spPr>
        <p:txBody>
          <a:bodyPr wrap="square" lIns="0" tIns="0" rIns="0" bIns="0" rtlCol="0" anchor="ctr"/>
          <a:lstStyle/>
          <a:p>
            <a:pPr algn="ctr" indent="0" marL="0">
              <a:buNone/>
            </a:pPr>
            <a:r>
              <a:rPr lang="en-US" sz="1150" dirty="0">
                <a:solidFill>
                  <a:srgbClr val="5C7C7E"/>
                </a:solidFill>
                <a:latin typeface="Calibri" pitchFamily="34" charset="0"/>
                <a:ea typeface="Calibri" pitchFamily="34" charset="-122"/>
                <a:cs typeface="Calibri" pitchFamily="34" charset="-120"/>
              </a:rPr>
              <a:t>Once tested, Git combines a branch back into the main project.</a:t>
            </a:r>
            <a:endParaRPr lang="en-US" sz="1150" dirty="0"/>
          </a:p>
        </p:txBody>
      </p:sp>
      <p:sp>
        <p:nvSpPr>
          <p:cNvPr id="24" name="Shape 22"/>
          <p:cNvSpPr/>
          <p:nvPr/>
        </p:nvSpPr>
        <p:spPr>
          <a:xfrm>
            <a:off x="9838944" y="1737360"/>
            <a:ext cx="2121408" cy="4206240"/>
          </a:xfrm>
          <a:prstGeom prst="roundRect">
            <a:avLst>
              <a:gd name="adj" fmla="val 4310"/>
            </a:avLst>
          </a:prstGeom>
          <a:solidFill>
            <a:srgbClr val="FFFFFF"/>
          </a:solidFill>
          <a:ln w="12700">
            <a:solidFill>
              <a:srgbClr val="D7E9E8"/>
            </a:solidFill>
            <a:prstDash val="solid"/>
          </a:ln>
          <a:effectLst>
            <a:outerShdw sx="100000" sy="100000" kx="0" ky="0" algn="bl" rotWithShape="0" blurRad="76200" dist="25400" dir="5400000">
              <a:srgbClr val="1E3A3C">
                <a:alpha val="10000"/>
              </a:srgbClr>
            </a:outerShdw>
          </a:effectLst>
        </p:spPr>
      </p:sp>
      <p:sp>
        <p:nvSpPr>
          <p:cNvPr id="25" name="Shape 23"/>
          <p:cNvSpPr/>
          <p:nvPr/>
        </p:nvSpPr>
        <p:spPr>
          <a:xfrm>
            <a:off x="10556748" y="2057400"/>
            <a:ext cx="685800" cy="685800"/>
          </a:xfrm>
          <a:prstGeom prst="ellipse">
            <a:avLst/>
          </a:prstGeom>
          <a:solidFill>
            <a:srgbClr val="00A896"/>
          </a:solidFill>
          <a:ln/>
        </p:spPr>
      </p:sp>
      <p:sp>
        <p:nvSpPr>
          <p:cNvPr id="26" name="Text 24"/>
          <p:cNvSpPr/>
          <p:nvPr/>
        </p:nvSpPr>
        <p:spPr>
          <a:xfrm>
            <a:off x="10556748" y="2071116"/>
            <a:ext cx="685800" cy="685800"/>
          </a:xfrm>
          <a:prstGeom prst="rect">
            <a:avLst/>
          </a:prstGeom>
          <a:noFill/>
          <a:ln/>
        </p:spPr>
        <p:txBody>
          <a:bodyPr wrap="square" lIns="0" tIns="0" rIns="0" bIns="0" rtlCol="0" anchor="ctr"/>
          <a:lstStyle/>
          <a:p>
            <a:pPr algn="ctr" indent="0" marL="0">
              <a:buNone/>
            </a:pPr>
            <a:r>
              <a:rPr lang="en-US" sz="2550" dirty="0">
                <a:solidFill>
                  <a:srgbClr val="FFFFFF"/>
                </a:solidFill>
                <a:latin typeface="Calibri" pitchFamily="34" charset="0"/>
                <a:ea typeface="Calibri" pitchFamily="34" charset="-122"/>
                <a:cs typeface="Calibri" pitchFamily="34" charset="-120"/>
              </a:rPr>
              <a:t>☁</a:t>
            </a:r>
            <a:endParaRPr lang="en-US" sz="2550" dirty="0"/>
          </a:p>
        </p:txBody>
      </p:sp>
      <p:sp>
        <p:nvSpPr>
          <p:cNvPr id="27" name="Text 25"/>
          <p:cNvSpPr/>
          <p:nvPr/>
        </p:nvSpPr>
        <p:spPr>
          <a:xfrm>
            <a:off x="9976104" y="2971800"/>
            <a:ext cx="1847088" cy="457200"/>
          </a:xfrm>
          <a:prstGeom prst="rect">
            <a:avLst/>
          </a:prstGeom>
          <a:noFill/>
          <a:ln/>
        </p:spPr>
        <p:txBody>
          <a:bodyPr wrap="square" lIns="0" tIns="0" rIns="0" bIns="0" rtlCol="0" anchor="ctr"/>
          <a:lstStyle/>
          <a:p>
            <a:pPr algn="ctr" indent="0" marL="0">
              <a:buNone/>
            </a:pPr>
            <a:r>
              <a:rPr lang="en-US" sz="1450" b="1" dirty="0">
                <a:solidFill>
                  <a:srgbClr val="0B2B2E"/>
                </a:solidFill>
                <a:latin typeface="Cambria" pitchFamily="34" charset="0"/>
                <a:ea typeface="Cambria" pitchFamily="34" charset="-122"/>
                <a:cs typeface="Cambria" pitchFamily="34" charset="-120"/>
              </a:rPr>
              <a:t>Offline Work</a:t>
            </a:r>
            <a:endParaRPr lang="en-US" sz="1450" dirty="0"/>
          </a:p>
        </p:txBody>
      </p:sp>
      <p:sp>
        <p:nvSpPr>
          <p:cNvPr id="28" name="Text 26"/>
          <p:cNvSpPr/>
          <p:nvPr/>
        </p:nvSpPr>
        <p:spPr>
          <a:xfrm>
            <a:off x="10021824" y="3520440"/>
            <a:ext cx="1755648" cy="2286000"/>
          </a:xfrm>
          <a:prstGeom prst="rect">
            <a:avLst/>
          </a:prstGeom>
          <a:noFill/>
          <a:ln/>
        </p:spPr>
        <p:txBody>
          <a:bodyPr wrap="square" lIns="0" tIns="0" rIns="0" bIns="0" rtlCol="0" anchor="ctr"/>
          <a:lstStyle/>
          <a:p>
            <a:pPr algn="ctr" indent="0" marL="0">
              <a:buNone/>
            </a:pPr>
            <a:r>
              <a:rPr lang="en-US" sz="1150" dirty="0">
                <a:solidFill>
                  <a:srgbClr val="5C7C7E"/>
                </a:solidFill>
                <a:latin typeface="Calibri" pitchFamily="34" charset="0"/>
                <a:ea typeface="Calibri" pitchFamily="34" charset="-122"/>
                <a:cs typeface="Calibri" pitchFamily="34" charset="-120"/>
              </a:rPr>
              <a:t>No internet required. Push to GitHub later when you're ready.</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THE PLATFORM</a:t>
            </a:r>
            <a:endParaRPr lang="en-US" sz="1200" dirty="0"/>
          </a:p>
        </p:txBody>
      </p:sp>
      <p:sp>
        <p:nvSpPr>
          <p:cNvPr id="3" name="Text 1"/>
          <p:cNvSpPr/>
          <p:nvPr/>
        </p:nvSpPr>
        <p:spPr>
          <a:xfrm>
            <a:off x="548640" y="658368"/>
            <a:ext cx="10515600" cy="777240"/>
          </a:xfrm>
          <a:prstGeom prst="rect">
            <a:avLst/>
          </a:prstGeom>
          <a:noFill/>
          <a:ln/>
        </p:spPr>
        <p:txBody>
          <a:bodyPr wrap="square" lIns="0" tIns="0" rIns="0" bIns="0" rtlCol="0" anchor="ctr"/>
          <a:lstStyle/>
          <a:p>
            <a:pPr indent="0" marL="0">
              <a:buNone/>
            </a:pPr>
            <a:r>
              <a:rPr lang="en-US" sz="3000" b="1" dirty="0">
                <a:solidFill>
                  <a:srgbClr val="0B2B2E"/>
                </a:solidFill>
                <a:latin typeface="Cambria" pitchFamily="34" charset="0"/>
                <a:ea typeface="Cambria" pitchFamily="34" charset="-122"/>
                <a:cs typeface="Cambria" pitchFamily="34" charset="-120"/>
              </a:rPr>
              <a:t>What Is GitHub?</a:t>
            </a:r>
            <a:endParaRPr lang="en-US" sz="3000" dirty="0"/>
          </a:p>
        </p:txBody>
      </p:sp>
      <p:sp>
        <p:nvSpPr>
          <p:cNvPr id="4" name="Text 2"/>
          <p:cNvSpPr/>
          <p:nvPr/>
        </p:nvSpPr>
        <p:spPr>
          <a:xfrm>
            <a:off x="548640" y="1600200"/>
            <a:ext cx="10972800" cy="457200"/>
          </a:xfrm>
          <a:prstGeom prst="rect">
            <a:avLst/>
          </a:prstGeom>
          <a:noFill/>
          <a:ln/>
        </p:spPr>
        <p:txBody>
          <a:bodyPr wrap="square" lIns="0" tIns="0" rIns="0" bIns="0" rtlCol="0" anchor="ctr"/>
          <a:lstStyle/>
          <a:p>
            <a:pPr indent="0" marL="0">
              <a:buNone/>
            </a:pPr>
            <a:r>
              <a:rPr lang="en-US" sz="1600" dirty="0">
                <a:solidFill>
                  <a:srgbClr val="0B2B2E"/>
                </a:solidFill>
                <a:latin typeface="Calibri" pitchFamily="34" charset="0"/>
                <a:ea typeface="Calibri" pitchFamily="34" charset="-122"/>
                <a:cs typeface="Calibri" pitchFamily="34" charset="-120"/>
              </a:rPr>
              <a:t>GitHub is an online platform that stores Git repositories.</a:t>
            </a:r>
            <a:endParaRPr lang="en-US" sz="1600" dirty="0"/>
          </a:p>
        </p:txBody>
      </p:sp>
      <p:sp>
        <p:nvSpPr>
          <p:cNvPr id="5" name="Shape 3"/>
          <p:cNvSpPr/>
          <p:nvPr/>
        </p:nvSpPr>
        <p:spPr>
          <a:xfrm>
            <a:off x="548640" y="2286000"/>
            <a:ext cx="5349240" cy="1828800"/>
          </a:xfrm>
          <a:prstGeom prst="roundRect">
            <a:avLst>
              <a:gd name="adj" fmla="val 5000"/>
            </a:avLst>
          </a:prstGeom>
          <a:solidFill>
            <a:srgbClr val="E6F4F3"/>
          </a:solidFill>
          <a:ln/>
        </p:spPr>
      </p:sp>
      <p:sp>
        <p:nvSpPr>
          <p:cNvPr id="6" name="Shape 4"/>
          <p:cNvSpPr/>
          <p:nvPr/>
        </p:nvSpPr>
        <p:spPr>
          <a:xfrm>
            <a:off x="868680" y="2560320"/>
            <a:ext cx="777240" cy="777240"/>
          </a:xfrm>
          <a:prstGeom prst="ellipse">
            <a:avLst/>
          </a:prstGeom>
          <a:solidFill>
            <a:srgbClr val="028090"/>
          </a:solidFill>
          <a:ln/>
        </p:spPr>
      </p:sp>
      <p:sp>
        <p:nvSpPr>
          <p:cNvPr id="7" name="Text 5"/>
          <p:cNvSpPr/>
          <p:nvPr/>
        </p:nvSpPr>
        <p:spPr>
          <a:xfrm>
            <a:off x="868680" y="2575865"/>
            <a:ext cx="777240" cy="777240"/>
          </a:xfrm>
          <a:prstGeom prst="rect">
            <a:avLst/>
          </a:prstGeom>
          <a:noFill/>
          <a:ln/>
        </p:spPr>
        <p:txBody>
          <a:bodyPr wrap="square" lIns="0" tIns="0" rIns="0" bIns="0" rtlCol="0" anchor="ctr"/>
          <a:lstStyle/>
          <a:p>
            <a:pPr algn="ctr" indent="0" marL="0">
              <a:buNone/>
            </a:pPr>
            <a:r>
              <a:rPr lang="en-US" sz="2890" dirty="0">
                <a:solidFill>
                  <a:srgbClr val="FFFFFF"/>
                </a:solidFill>
                <a:latin typeface="Calibri" pitchFamily="34" charset="0"/>
                <a:ea typeface="Calibri" pitchFamily="34" charset="-122"/>
                <a:cs typeface="Calibri" pitchFamily="34" charset="-120"/>
              </a:rPr>
              <a:t>⌥</a:t>
            </a:r>
            <a:endParaRPr lang="en-US" sz="2890" dirty="0"/>
          </a:p>
        </p:txBody>
      </p:sp>
      <p:sp>
        <p:nvSpPr>
          <p:cNvPr id="8" name="Text 6"/>
          <p:cNvSpPr/>
          <p:nvPr/>
        </p:nvSpPr>
        <p:spPr>
          <a:xfrm>
            <a:off x="1828800" y="2606040"/>
            <a:ext cx="3840480" cy="365760"/>
          </a:xfrm>
          <a:prstGeom prst="rect">
            <a:avLst/>
          </a:prstGeom>
          <a:noFill/>
          <a:ln/>
        </p:spPr>
        <p:txBody>
          <a:bodyPr wrap="square" lIns="0" tIns="0" rIns="0" bIns="0" rtlCol="0" anchor="ctr"/>
          <a:lstStyle/>
          <a:p>
            <a:pPr indent="0" marL="0">
              <a:buNone/>
            </a:pPr>
            <a:r>
              <a:rPr lang="en-US" sz="1800" b="1" dirty="0">
                <a:solidFill>
                  <a:srgbClr val="0B2B2E"/>
                </a:solidFill>
                <a:latin typeface="Cambria" pitchFamily="34" charset="0"/>
                <a:ea typeface="Cambria" pitchFamily="34" charset="-122"/>
                <a:cs typeface="Cambria" pitchFamily="34" charset="-120"/>
              </a:rPr>
              <a:t>Git</a:t>
            </a:r>
            <a:endParaRPr lang="en-US" sz="1800" dirty="0"/>
          </a:p>
        </p:txBody>
      </p:sp>
      <p:sp>
        <p:nvSpPr>
          <p:cNvPr id="9" name="Text 7"/>
          <p:cNvSpPr/>
          <p:nvPr/>
        </p:nvSpPr>
        <p:spPr>
          <a:xfrm>
            <a:off x="1828800" y="2971800"/>
            <a:ext cx="3840480" cy="822960"/>
          </a:xfrm>
          <a:prstGeom prst="rect">
            <a:avLst/>
          </a:prstGeom>
          <a:noFill/>
          <a:ln/>
        </p:spPr>
        <p:txBody>
          <a:bodyPr wrap="square" lIns="0" tIns="0" rIns="0" bIns="0" rtlCol="0" anchor="ctr"/>
          <a:lstStyle/>
          <a:p>
            <a:pPr indent="0" marL="0">
              <a:buNone/>
            </a:pPr>
            <a:r>
              <a:rPr lang="en-US" sz="1300" dirty="0">
                <a:solidFill>
                  <a:srgbClr val="5C7C7E"/>
                </a:solidFill>
                <a:latin typeface="Calibri" pitchFamily="34" charset="0"/>
                <a:ea typeface="Calibri" pitchFamily="34" charset="-122"/>
                <a:cs typeface="Calibri" pitchFamily="34" charset="-120"/>
              </a:rPr>
              <a:t>= Microsoft Word</a:t>
            </a:r>
            <a:endParaRPr lang="en-US" sz="1300" dirty="0"/>
          </a:p>
          <a:p>
            <a:pPr indent="0" marL="0">
              <a:buNone/>
            </a:pPr>
            <a:r>
              <a:rPr lang="en-US" sz="1300" dirty="0">
                <a:solidFill>
                  <a:srgbClr val="5C7C7E"/>
                </a:solidFill>
                <a:latin typeface="Calibri" pitchFamily="34" charset="0"/>
                <a:ea typeface="Calibri" pitchFamily="34" charset="-122"/>
                <a:cs typeface="Calibri" pitchFamily="34" charset="-120"/>
              </a:rPr>
              <a:t>Saves your work locally</a:t>
            </a:r>
            <a:endParaRPr lang="en-US" sz="1300" dirty="0"/>
          </a:p>
        </p:txBody>
      </p:sp>
      <p:sp>
        <p:nvSpPr>
          <p:cNvPr id="10" name="Shape 8"/>
          <p:cNvSpPr/>
          <p:nvPr/>
        </p:nvSpPr>
        <p:spPr>
          <a:xfrm>
            <a:off x="6263640" y="2286000"/>
            <a:ext cx="5349240" cy="1828800"/>
          </a:xfrm>
          <a:prstGeom prst="roundRect">
            <a:avLst>
              <a:gd name="adj" fmla="val 5000"/>
            </a:avLst>
          </a:prstGeom>
          <a:solidFill>
            <a:srgbClr val="012E33"/>
          </a:solidFill>
          <a:ln/>
        </p:spPr>
      </p:sp>
      <p:sp>
        <p:nvSpPr>
          <p:cNvPr id="11" name="Shape 9"/>
          <p:cNvSpPr/>
          <p:nvPr/>
        </p:nvSpPr>
        <p:spPr>
          <a:xfrm>
            <a:off x="6583680" y="2560320"/>
            <a:ext cx="777240" cy="777240"/>
          </a:xfrm>
          <a:prstGeom prst="ellipse">
            <a:avLst/>
          </a:prstGeom>
          <a:solidFill>
            <a:srgbClr val="02C39A"/>
          </a:solidFill>
          <a:ln/>
        </p:spPr>
      </p:sp>
      <p:sp>
        <p:nvSpPr>
          <p:cNvPr id="12" name="Text 10"/>
          <p:cNvSpPr/>
          <p:nvPr/>
        </p:nvSpPr>
        <p:spPr>
          <a:xfrm>
            <a:off x="6583680" y="2575865"/>
            <a:ext cx="777240" cy="777240"/>
          </a:xfrm>
          <a:prstGeom prst="rect">
            <a:avLst/>
          </a:prstGeom>
          <a:noFill/>
          <a:ln/>
        </p:spPr>
        <p:txBody>
          <a:bodyPr wrap="square" lIns="0" tIns="0" rIns="0" bIns="0" rtlCol="0" anchor="ctr"/>
          <a:lstStyle/>
          <a:p>
            <a:pPr algn="ctr" indent="0" marL="0">
              <a:buNone/>
            </a:pPr>
            <a:r>
              <a:rPr lang="en-US" sz="2890" dirty="0">
                <a:solidFill>
                  <a:srgbClr val="FFFFFF"/>
                </a:solidFill>
                <a:latin typeface="Calibri" pitchFamily="34" charset="0"/>
                <a:ea typeface="Calibri" pitchFamily="34" charset="-122"/>
                <a:cs typeface="Calibri" pitchFamily="34" charset="-120"/>
              </a:rPr>
              <a:t>☁</a:t>
            </a:r>
            <a:endParaRPr lang="en-US" sz="2890" dirty="0"/>
          </a:p>
        </p:txBody>
      </p:sp>
      <p:sp>
        <p:nvSpPr>
          <p:cNvPr id="13" name="Text 11"/>
          <p:cNvSpPr/>
          <p:nvPr/>
        </p:nvSpPr>
        <p:spPr>
          <a:xfrm>
            <a:off x="7543800" y="2606040"/>
            <a:ext cx="384048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GitHub</a:t>
            </a:r>
            <a:endParaRPr lang="en-US" sz="1800" dirty="0"/>
          </a:p>
        </p:txBody>
      </p:sp>
      <p:sp>
        <p:nvSpPr>
          <p:cNvPr id="14" name="Text 12"/>
          <p:cNvSpPr/>
          <p:nvPr/>
        </p:nvSpPr>
        <p:spPr>
          <a:xfrm>
            <a:off x="7543800" y="2971800"/>
            <a:ext cx="3840480" cy="822960"/>
          </a:xfrm>
          <a:prstGeom prst="rect">
            <a:avLst/>
          </a:prstGeom>
          <a:noFill/>
          <a:ln/>
        </p:spPr>
        <p:txBody>
          <a:bodyPr wrap="square" lIns="0" tIns="0" rIns="0" bIns="0" rtlCol="0" anchor="ctr"/>
          <a:lstStyle/>
          <a:p>
            <a:pPr indent="0" marL="0">
              <a:buNone/>
            </a:pPr>
            <a:r>
              <a:rPr lang="en-US" sz="1300" dirty="0">
                <a:solidFill>
                  <a:srgbClr val="F4FAF9"/>
                </a:solidFill>
                <a:latin typeface="Calibri" pitchFamily="34" charset="0"/>
                <a:ea typeface="Calibri" pitchFamily="34" charset="-122"/>
                <a:cs typeface="Calibri" pitchFamily="34" charset="-120"/>
              </a:rPr>
              <a:t>= Google Drive</a:t>
            </a:r>
            <a:endParaRPr lang="en-US" sz="1300" dirty="0"/>
          </a:p>
          <a:p>
            <a:pPr indent="0" marL="0">
              <a:buNone/>
            </a:pPr>
            <a:r>
              <a:rPr lang="en-US" sz="1300" dirty="0">
                <a:solidFill>
                  <a:srgbClr val="F4FAF9"/>
                </a:solidFill>
                <a:latin typeface="Calibri" pitchFamily="34" charset="0"/>
                <a:ea typeface="Calibri" pitchFamily="34" charset="-122"/>
                <a:cs typeface="Calibri" pitchFamily="34" charset="-120"/>
              </a:rPr>
              <a:t>Stores it online, for everyone</a:t>
            </a:r>
            <a:endParaRPr lang="en-US" sz="1300" dirty="0"/>
          </a:p>
        </p:txBody>
      </p:sp>
      <p:sp>
        <p:nvSpPr>
          <p:cNvPr id="15" name="Text 13"/>
          <p:cNvSpPr/>
          <p:nvPr/>
        </p:nvSpPr>
        <p:spPr>
          <a:xfrm>
            <a:off x="548640" y="4434840"/>
            <a:ext cx="3657600" cy="365760"/>
          </a:xfrm>
          <a:prstGeom prst="rect">
            <a:avLst/>
          </a:prstGeom>
          <a:noFill/>
          <a:ln/>
        </p:spPr>
        <p:txBody>
          <a:bodyPr wrap="square" lIns="0" tIns="0" rIns="0" bIns="0" rtlCol="0" anchor="ctr"/>
          <a:lstStyle/>
          <a:p>
            <a:pPr indent="0" marL="0">
              <a:buNone/>
            </a:pPr>
            <a:r>
              <a:rPr lang="en-US" sz="1400" b="1" dirty="0">
                <a:solidFill>
                  <a:srgbClr val="00A896"/>
                </a:solidFill>
                <a:latin typeface="Calibri" pitchFamily="34" charset="0"/>
                <a:ea typeface="Calibri" pitchFamily="34" charset="-122"/>
                <a:cs typeface="Calibri" pitchFamily="34" charset="-120"/>
              </a:rPr>
              <a:t>GitHub allows:</a:t>
            </a:r>
            <a:endParaRPr lang="en-US" sz="1400" dirty="0"/>
          </a:p>
        </p:txBody>
      </p:sp>
      <p:sp>
        <p:nvSpPr>
          <p:cNvPr id="16" name="Shape 14"/>
          <p:cNvSpPr/>
          <p:nvPr/>
        </p:nvSpPr>
        <p:spPr>
          <a:xfrm>
            <a:off x="548640" y="4846320"/>
            <a:ext cx="2560320" cy="685800"/>
          </a:xfrm>
          <a:prstGeom prst="roundRect">
            <a:avLst>
              <a:gd name="adj" fmla="val 46667"/>
            </a:avLst>
          </a:prstGeom>
          <a:solidFill>
            <a:srgbClr val="FFFFFF"/>
          </a:solidFill>
          <a:ln w="15875">
            <a:solidFill>
              <a:srgbClr val="00A896"/>
            </a:solidFill>
            <a:prstDash val="solid"/>
          </a:ln>
        </p:spPr>
      </p:sp>
      <p:sp>
        <p:nvSpPr>
          <p:cNvPr id="17" name="Text 15"/>
          <p:cNvSpPr/>
          <p:nvPr/>
        </p:nvSpPr>
        <p:spPr>
          <a:xfrm>
            <a:off x="548640" y="4846320"/>
            <a:ext cx="2560320" cy="685800"/>
          </a:xfrm>
          <a:prstGeom prst="rect">
            <a:avLst/>
          </a:prstGeom>
          <a:noFill/>
          <a:ln/>
        </p:spPr>
        <p:txBody>
          <a:bodyPr wrap="square" lIns="0" tIns="0" rIns="0" bIns="0" rtlCol="0" anchor="ctr"/>
          <a:lstStyle/>
          <a:p>
            <a:pPr algn="ctr" indent="0" marL="0">
              <a:buNone/>
            </a:pPr>
            <a:r>
              <a:rPr lang="en-US" sz="1250" b="1" dirty="0">
                <a:solidFill>
                  <a:srgbClr val="028090"/>
                </a:solidFill>
                <a:latin typeface="Calibri" pitchFamily="34" charset="0"/>
                <a:ea typeface="Calibri" pitchFamily="34" charset="-122"/>
                <a:cs typeface="Calibri" pitchFamily="34" charset="-120"/>
              </a:rPr>
              <a:t>Sharing code</a:t>
            </a:r>
            <a:endParaRPr lang="en-US" sz="1250" dirty="0"/>
          </a:p>
        </p:txBody>
      </p:sp>
      <p:sp>
        <p:nvSpPr>
          <p:cNvPr id="18" name="Shape 16"/>
          <p:cNvSpPr/>
          <p:nvPr/>
        </p:nvSpPr>
        <p:spPr>
          <a:xfrm>
            <a:off x="3337560" y="4846320"/>
            <a:ext cx="2560320" cy="685800"/>
          </a:xfrm>
          <a:prstGeom prst="roundRect">
            <a:avLst>
              <a:gd name="adj" fmla="val 46667"/>
            </a:avLst>
          </a:prstGeom>
          <a:solidFill>
            <a:srgbClr val="FFFFFF"/>
          </a:solidFill>
          <a:ln w="15875">
            <a:solidFill>
              <a:srgbClr val="00A896"/>
            </a:solidFill>
            <a:prstDash val="solid"/>
          </a:ln>
        </p:spPr>
      </p:sp>
      <p:sp>
        <p:nvSpPr>
          <p:cNvPr id="19" name="Text 17"/>
          <p:cNvSpPr/>
          <p:nvPr/>
        </p:nvSpPr>
        <p:spPr>
          <a:xfrm>
            <a:off x="3337560" y="4846320"/>
            <a:ext cx="2560320" cy="685800"/>
          </a:xfrm>
          <a:prstGeom prst="rect">
            <a:avLst/>
          </a:prstGeom>
          <a:noFill/>
          <a:ln/>
        </p:spPr>
        <p:txBody>
          <a:bodyPr wrap="square" lIns="0" tIns="0" rIns="0" bIns="0" rtlCol="0" anchor="ctr"/>
          <a:lstStyle/>
          <a:p>
            <a:pPr algn="ctr" indent="0" marL="0">
              <a:buNone/>
            </a:pPr>
            <a:r>
              <a:rPr lang="en-US" sz="1250" b="1" dirty="0">
                <a:solidFill>
                  <a:srgbClr val="028090"/>
                </a:solidFill>
                <a:latin typeface="Calibri" pitchFamily="34" charset="0"/>
                <a:ea typeface="Calibri" pitchFamily="34" charset="-122"/>
                <a:cs typeface="Calibri" pitchFamily="34" charset="-120"/>
              </a:rPr>
              <a:t>Collaboration</a:t>
            </a:r>
            <a:endParaRPr lang="en-US" sz="1250" dirty="0"/>
          </a:p>
        </p:txBody>
      </p:sp>
      <p:sp>
        <p:nvSpPr>
          <p:cNvPr id="20" name="Shape 18"/>
          <p:cNvSpPr/>
          <p:nvPr/>
        </p:nvSpPr>
        <p:spPr>
          <a:xfrm>
            <a:off x="6126480" y="4846320"/>
            <a:ext cx="2560320" cy="685800"/>
          </a:xfrm>
          <a:prstGeom prst="roundRect">
            <a:avLst>
              <a:gd name="adj" fmla="val 46667"/>
            </a:avLst>
          </a:prstGeom>
          <a:solidFill>
            <a:srgbClr val="FFFFFF"/>
          </a:solidFill>
          <a:ln w="15875">
            <a:solidFill>
              <a:srgbClr val="00A896"/>
            </a:solidFill>
            <a:prstDash val="solid"/>
          </a:ln>
        </p:spPr>
      </p:sp>
      <p:sp>
        <p:nvSpPr>
          <p:cNvPr id="21" name="Text 19"/>
          <p:cNvSpPr/>
          <p:nvPr/>
        </p:nvSpPr>
        <p:spPr>
          <a:xfrm>
            <a:off x="6126480" y="4846320"/>
            <a:ext cx="2560320" cy="685800"/>
          </a:xfrm>
          <a:prstGeom prst="rect">
            <a:avLst/>
          </a:prstGeom>
          <a:noFill/>
          <a:ln/>
        </p:spPr>
        <p:txBody>
          <a:bodyPr wrap="square" lIns="0" tIns="0" rIns="0" bIns="0" rtlCol="0" anchor="ctr"/>
          <a:lstStyle/>
          <a:p>
            <a:pPr algn="ctr" indent="0" marL="0">
              <a:buNone/>
            </a:pPr>
            <a:r>
              <a:rPr lang="en-US" sz="1250" b="1" dirty="0">
                <a:solidFill>
                  <a:srgbClr val="028090"/>
                </a:solidFill>
                <a:latin typeface="Calibri" pitchFamily="34" charset="0"/>
                <a:ea typeface="Calibri" pitchFamily="34" charset="-122"/>
                <a:cs typeface="Calibri" pitchFamily="34" charset="-120"/>
              </a:rPr>
              <a:t>Backup</a:t>
            </a:r>
            <a:endParaRPr lang="en-US" sz="1250" dirty="0"/>
          </a:p>
        </p:txBody>
      </p:sp>
      <p:sp>
        <p:nvSpPr>
          <p:cNvPr id="22" name="Shape 20"/>
          <p:cNvSpPr/>
          <p:nvPr/>
        </p:nvSpPr>
        <p:spPr>
          <a:xfrm>
            <a:off x="8915400" y="4846320"/>
            <a:ext cx="2560320" cy="685800"/>
          </a:xfrm>
          <a:prstGeom prst="roundRect">
            <a:avLst>
              <a:gd name="adj" fmla="val 46667"/>
            </a:avLst>
          </a:prstGeom>
          <a:solidFill>
            <a:srgbClr val="FFFFFF"/>
          </a:solidFill>
          <a:ln w="15875">
            <a:solidFill>
              <a:srgbClr val="00A896"/>
            </a:solidFill>
            <a:prstDash val="solid"/>
          </a:ln>
        </p:spPr>
      </p:sp>
      <p:sp>
        <p:nvSpPr>
          <p:cNvPr id="23" name="Text 21"/>
          <p:cNvSpPr/>
          <p:nvPr/>
        </p:nvSpPr>
        <p:spPr>
          <a:xfrm>
            <a:off x="8915400" y="4846320"/>
            <a:ext cx="2560320" cy="685800"/>
          </a:xfrm>
          <a:prstGeom prst="rect">
            <a:avLst/>
          </a:prstGeom>
          <a:noFill/>
          <a:ln/>
        </p:spPr>
        <p:txBody>
          <a:bodyPr wrap="square" lIns="0" tIns="0" rIns="0" bIns="0" rtlCol="0" anchor="ctr"/>
          <a:lstStyle/>
          <a:p>
            <a:pPr algn="ctr" indent="0" marL="0">
              <a:buNone/>
            </a:pPr>
            <a:r>
              <a:rPr lang="en-US" sz="1250" b="1" dirty="0">
                <a:solidFill>
                  <a:srgbClr val="028090"/>
                </a:solidFill>
                <a:latin typeface="Calibri" pitchFamily="34" charset="0"/>
                <a:ea typeface="Calibri" pitchFamily="34" charset="-122"/>
                <a:cs typeface="Calibri" pitchFamily="34" charset="-120"/>
              </a:rPr>
              <a:t>Project management</a:t>
            </a:r>
            <a:endParaRPr lang="en-US" sz="1250" dirty="0"/>
          </a:p>
        </p:txBody>
      </p:sp>
      <p:sp>
        <p:nvSpPr>
          <p:cNvPr id="24" name="Text 22"/>
          <p:cNvSpPr/>
          <p:nvPr/>
        </p:nvSpPr>
        <p:spPr>
          <a:xfrm>
            <a:off x="548640" y="5806440"/>
            <a:ext cx="10972800" cy="365760"/>
          </a:xfrm>
          <a:prstGeom prst="rect">
            <a:avLst/>
          </a:prstGeom>
          <a:noFill/>
          <a:ln/>
        </p:spPr>
        <p:txBody>
          <a:bodyPr wrap="square" lIns="0" tIns="0" rIns="0" bIns="0" rtlCol="0" anchor="ctr"/>
          <a:lstStyle/>
          <a:p>
            <a:pPr indent="0" marL="0">
              <a:buNone/>
            </a:pPr>
            <a:r>
              <a:rPr lang="en-US" sz="1250" i="1" dirty="0">
                <a:solidFill>
                  <a:srgbClr val="5C7C7E"/>
                </a:solidFill>
                <a:latin typeface="Calibri" pitchFamily="34" charset="0"/>
                <a:ea typeface="Calibri" pitchFamily="34" charset="-122"/>
                <a:cs typeface="Calibri" pitchFamily="34" charset="-120"/>
              </a:rPr>
              <a:t>Millions of developers use GitHub every day.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CORE BENEFITS</a:t>
            </a:r>
            <a:endParaRPr lang="en-US" sz="1200" dirty="0"/>
          </a:p>
        </p:txBody>
      </p:sp>
      <p:sp>
        <p:nvSpPr>
          <p:cNvPr id="3" name="Text 1"/>
          <p:cNvSpPr/>
          <p:nvPr/>
        </p:nvSpPr>
        <p:spPr>
          <a:xfrm>
            <a:off x="548640" y="658368"/>
            <a:ext cx="10515600" cy="777240"/>
          </a:xfrm>
          <a:prstGeom prst="rect">
            <a:avLst/>
          </a:prstGeom>
          <a:noFill/>
          <a:ln/>
        </p:spPr>
        <p:txBody>
          <a:bodyPr wrap="square" lIns="0" tIns="0" rIns="0" bIns="0" rtlCol="0" anchor="ctr"/>
          <a:lstStyle/>
          <a:p>
            <a:pPr indent="0" marL="0">
              <a:buNone/>
            </a:pPr>
            <a:r>
              <a:rPr lang="en-US" sz="3000" b="1" dirty="0">
                <a:solidFill>
                  <a:srgbClr val="0B2B2E"/>
                </a:solidFill>
                <a:latin typeface="Cambria" pitchFamily="34" charset="0"/>
                <a:ea typeface="Cambria" pitchFamily="34" charset="-122"/>
                <a:cs typeface="Cambria" pitchFamily="34" charset="-120"/>
              </a:rPr>
              <a:t>Why Use GitHub?</a:t>
            </a:r>
            <a:endParaRPr lang="en-US" sz="3000" dirty="0"/>
          </a:p>
        </p:txBody>
      </p:sp>
      <p:sp>
        <p:nvSpPr>
          <p:cNvPr id="4" name="Shape 2"/>
          <p:cNvSpPr/>
          <p:nvPr/>
        </p:nvSpPr>
        <p:spPr>
          <a:xfrm>
            <a:off x="548640" y="1691640"/>
            <a:ext cx="5349240" cy="1965960"/>
          </a:xfrm>
          <a:prstGeom prst="roundRect">
            <a:avLst>
              <a:gd name="adj" fmla="val 4651"/>
            </a:avLst>
          </a:prstGeom>
          <a:solidFill>
            <a:srgbClr val="FFFFFF"/>
          </a:solidFill>
          <a:ln w="12700">
            <a:solidFill>
              <a:srgbClr val="D7E9E8"/>
            </a:solidFill>
            <a:prstDash val="solid"/>
          </a:ln>
          <a:effectLst>
            <a:outerShdw sx="100000" sy="100000" kx="0" ky="0" algn="bl" rotWithShape="0" blurRad="76200" dist="25400" dir="5400000">
              <a:srgbClr val="1E3A3C">
                <a:alpha val="10000"/>
              </a:srgbClr>
            </a:outerShdw>
          </a:effectLst>
        </p:spPr>
      </p:sp>
      <p:sp>
        <p:nvSpPr>
          <p:cNvPr id="5" name="Shape 3"/>
          <p:cNvSpPr/>
          <p:nvPr/>
        </p:nvSpPr>
        <p:spPr>
          <a:xfrm>
            <a:off x="822960" y="2263140"/>
            <a:ext cx="822960" cy="822960"/>
          </a:xfrm>
          <a:prstGeom prst="ellipse">
            <a:avLst/>
          </a:prstGeom>
          <a:solidFill>
            <a:srgbClr val="028090"/>
          </a:solidFill>
          <a:ln/>
        </p:spPr>
      </p:sp>
      <p:sp>
        <p:nvSpPr>
          <p:cNvPr id="6" name="Text 4"/>
          <p:cNvSpPr/>
          <p:nvPr/>
        </p:nvSpPr>
        <p:spPr>
          <a:xfrm>
            <a:off x="822960" y="2279599"/>
            <a:ext cx="822960" cy="822960"/>
          </a:xfrm>
          <a:prstGeom prst="rect">
            <a:avLst/>
          </a:prstGeom>
          <a:noFill/>
          <a:ln/>
        </p:spPr>
        <p:txBody>
          <a:bodyPr wrap="square" lIns="0" tIns="0" rIns="0" bIns="0" rtlCol="0" anchor="ctr"/>
          <a:lstStyle/>
          <a:p>
            <a:pPr algn="ctr" indent="0" marL="0">
              <a:buNone/>
            </a:pPr>
            <a:r>
              <a:rPr lang="en-US" sz="3060" dirty="0">
                <a:solidFill>
                  <a:srgbClr val="FFFFFF"/>
                </a:solidFill>
                <a:latin typeface="Calibri" pitchFamily="34" charset="0"/>
                <a:ea typeface="Calibri" pitchFamily="34" charset="-122"/>
                <a:cs typeface="Calibri" pitchFamily="34" charset="-120"/>
              </a:rPr>
              <a:t>⇄</a:t>
            </a:r>
            <a:endParaRPr lang="en-US" sz="3060" dirty="0"/>
          </a:p>
        </p:txBody>
      </p:sp>
      <p:sp>
        <p:nvSpPr>
          <p:cNvPr id="7" name="Text 5"/>
          <p:cNvSpPr/>
          <p:nvPr/>
        </p:nvSpPr>
        <p:spPr>
          <a:xfrm>
            <a:off x="1874520" y="1920240"/>
            <a:ext cx="3794760" cy="411480"/>
          </a:xfrm>
          <a:prstGeom prst="rect">
            <a:avLst/>
          </a:prstGeom>
          <a:noFill/>
          <a:ln/>
        </p:spPr>
        <p:txBody>
          <a:bodyPr wrap="square" lIns="0" tIns="0" rIns="0" bIns="0" rtlCol="0" anchor="ctr"/>
          <a:lstStyle/>
          <a:p>
            <a:pPr indent="0" marL="0">
              <a:buNone/>
            </a:pPr>
            <a:r>
              <a:rPr lang="en-US" sz="1600" b="1" dirty="0">
                <a:solidFill>
                  <a:srgbClr val="0B2B2E"/>
                </a:solidFill>
                <a:latin typeface="Cambria" pitchFamily="34" charset="0"/>
                <a:ea typeface="Cambria" pitchFamily="34" charset="-122"/>
                <a:cs typeface="Cambria" pitchFamily="34" charset="-120"/>
              </a:rPr>
              <a:t>Collaboration</a:t>
            </a:r>
            <a:endParaRPr lang="en-US" sz="1600" dirty="0"/>
          </a:p>
        </p:txBody>
      </p:sp>
      <p:sp>
        <p:nvSpPr>
          <p:cNvPr id="8" name="Text 6"/>
          <p:cNvSpPr/>
          <p:nvPr/>
        </p:nvSpPr>
        <p:spPr>
          <a:xfrm>
            <a:off x="1874520" y="2377440"/>
            <a:ext cx="3794760" cy="1143000"/>
          </a:xfrm>
          <a:prstGeom prst="rect">
            <a:avLst/>
          </a:prstGeom>
          <a:noFill/>
          <a:ln/>
        </p:spPr>
        <p:txBody>
          <a:bodyPr wrap="square" lIns="0" tIns="0" rIns="0" bIns="0" rtlCol="0" anchor="ctr"/>
          <a:lstStyle/>
          <a:p>
            <a:pPr indent="0" marL="0">
              <a:buNone/>
            </a:pPr>
            <a:r>
              <a:rPr lang="en-US" sz="1250" dirty="0">
                <a:solidFill>
                  <a:srgbClr val="5C7C7E"/>
                </a:solidFill>
                <a:latin typeface="Calibri" pitchFamily="34" charset="0"/>
                <a:ea typeface="Calibri" pitchFamily="34" charset="-122"/>
                <a:cs typeface="Calibri" pitchFamily="34" charset="-120"/>
              </a:rPr>
              <a:t>Multiple developers contribute to the same project at once.</a:t>
            </a:r>
            <a:endParaRPr lang="en-US" sz="1250" dirty="0"/>
          </a:p>
        </p:txBody>
      </p:sp>
      <p:sp>
        <p:nvSpPr>
          <p:cNvPr id="9" name="Shape 7"/>
          <p:cNvSpPr/>
          <p:nvPr/>
        </p:nvSpPr>
        <p:spPr>
          <a:xfrm>
            <a:off x="6172200" y="1691640"/>
            <a:ext cx="5349240" cy="1965960"/>
          </a:xfrm>
          <a:prstGeom prst="roundRect">
            <a:avLst>
              <a:gd name="adj" fmla="val 4651"/>
            </a:avLst>
          </a:prstGeom>
          <a:solidFill>
            <a:srgbClr val="FFFFFF"/>
          </a:solidFill>
          <a:ln w="12700">
            <a:solidFill>
              <a:srgbClr val="D7E9E8"/>
            </a:solidFill>
            <a:prstDash val="solid"/>
          </a:ln>
          <a:effectLst>
            <a:outerShdw sx="100000" sy="100000" kx="0" ky="0" algn="bl" rotWithShape="0" blurRad="76200" dist="25400" dir="5400000">
              <a:srgbClr val="1E3A3C">
                <a:alpha val="10000"/>
              </a:srgbClr>
            </a:outerShdw>
          </a:effectLst>
        </p:spPr>
      </p:sp>
      <p:sp>
        <p:nvSpPr>
          <p:cNvPr id="10" name="Shape 8"/>
          <p:cNvSpPr/>
          <p:nvPr/>
        </p:nvSpPr>
        <p:spPr>
          <a:xfrm>
            <a:off x="6446520" y="2263140"/>
            <a:ext cx="822960" cy="822960"/>
          </a:xfrm>
          <a:prstGeom prst="ellipse">
            <a:avLst/>
          </a:prstGeom>
          <a:solidFill>
            <a:srgbClr val="00A896"/>
          </a:solidFill>
          <a:ln/>
        </p:spPr>
      </p:sp>
      <p:sp>
        <p:nvSpPr>
          <p:cNvPr id="11" name="Text 9"/>
          <p:cNvSpPr/>
          <p:nvPr/>
        </p:nvSpPr>
        <p:spPr>
          <a:xfrm>
            <a:off x="6446520" y="2279599"/>
            <a:ext cx="822960" cy="822960"/>
          </a:xfrm>
          <a:prstGeom prst="rect">
            <a:avLst/>
          </a:prstGeom>
          <a:noFill/>
          <a:ln/>
        </p:spPr>
        <p:txBody>
          <a:bodyPr wrap="square" lIns="0" tIns="0" rIns="0" bIns="0" rtlCol="0" anchor="ctr"/>
          <a:lstStyle/>
          <a:p>
            <a:pPr algn="ctr" indent="0" marL="0">
              <a:buNone/>
            </a:pPr>
            <a:r>
              <a:rPr lang="en-US" sz="3060" dirty="0">
                <a:solidFill>
                  <a:srgbClr val="FFFFFF"/>
                </a:solidFill>
                <a:latin typeface="Calibri" pitchFamily="34" charset="0"/>
                <a:ea typeface="Calibri" pitchFamily="34" charset="-122"/>
                <a:cs typeface="Calibri" pitchFamily="34" charset="-120"/>
              </a:rPr>
              <a:t>☁</a:t>
            </a:r>
            <a:endParaRPr lang="en-US" sz="3060" dirty="0"/>
          </a:p>
        </p:txBody>
      </p:sp>
      <p:sp>
        <p:nvSpPr>
          <p:cNvPr id="12" name="Text 10"/>
          <p:cNvSpPr/>
          <p:nvPr/>
        </p:nvSpPr>
        <p:spPr>
          <a:xfrm>
            <a:off x="7498080" y="1920240"/>
            <a:ext cx="3794760" cy="411480"/>
          </a:xfrm>
          <a:prstGeom prst="rect">
            <a:avLst/>
          </a:prstGeom>
          <a:noFill/>
          <a:ln/>
        </p:spPr>
        <p:txBody>
          <a:bodyPr wrap="square" lIns="0" tIns="0" rIns="0" bIns="0" rtlCol="0" anchor="ctr"/>
          <a:lstStyle/>
          <a:p>
            <a:pPr indent="0" marL="0">
              <a:buNone/>
            </a:pPr>
            <a:r>
              <a:rPr lang="en-US" sz="1600" b="1" dirty="0">
                <a:solidFill>
                  <a:srgbClr val="0B2B2E"/>
                </a:solidFill>
                <a:latin typeface="Cambria" pitchFamily="34" charset="0"/>
                <a:ea typeface="Cambria" pitchFamily="34" charset="-122"/>
                <a:cs typeface="Cambria" pitchFamily="34" charset="-120"/>
              </a:rPr>
              <a:t>Backup</a:t>
            </a:r>
            <a:endParaRPr lang="en-US" sz="1600" dirty="0"/>
          </a:p>
        </p:txBody>
      </p:sp>
      <p:sp>
        <p:nvSpPr>
          <p:cNvPr id="13" name="Text 11"/>
          <p:cNvSpPr/>
          <p:nvPr/>
        </p:nvSpPr>
        <p:spPr>
          <a:xfrm>
            <a:off x="7498080" y="2377440"/>
            <a:ext cx="3794760" cy="1143000"/>
          </a:xfrm>
          <a:prstGeom prst="rect">
            <a:avLst/>
          </a:prstGeom>
          <a:noFill/>
          <a:ln/>
        </p:spPr>
        <p:txBody>
          <a:bodyPr wrap="square" lIns="0" tIns="0" rIns="0" bIns="0" rtlCol="0" anchor="ctr"/>
          <a:lstStyle/>
          <a:p>
            <a:pPr indent="0" marL="0">
              <a:buNone/>
            </a:pPr>
            <a:r>
              <a:rPr lang="en-US" sz="1250" dirty="0">
                <a:solidFill>
                  <a:srgbClr val="5C7C7E"/>
                </a:solidFill>
                <a:latin typeface="Calibri" pitchFamily="34" charset="0"/>
                <a:ea typeface="Calibri" pitchFamily="34" charset="-122"/>
                <a:cs typeface="Calibri" pitchFamily="34" charset="-120"/>
              </a:rPr>
              <a:t>Projects stay safe in the cloud — even if your computer crashes.</a:t>
            </a:r>
            <a:endParaRPr lang="en-US" sz="1250" dirty="0"/>
          </a:p>
        </p:txBody>
      </p:sp>
      <p:sp>
        <p:nvSpPr>
          <p:cNvPr id="14" name="Shape 12"/>
          <p:cNvSpPr/>
          <p:nvPr/>
        </p:nvSpPr>
        <p:spPr>
          <a:xfrm>
            <a:off x="548640" y="3931920"/>
            <a:ext cx="5349240" cy="1965960"/>
          </a:xfrm>
          <a:prstGeom prst="roundRect">
            <a:avLst>
              <a:gd name="adj" fmla="val 4651"/>
            </a:avLst>
          </a:prstGeom>
          <a:solidFill>
            <a:srgbClr val="FFFFFF"/>
          </a:solidFill>
          <a:ln w="12700">
            <a:solidFill>
              <a:srgbClr val="D7E9E8"/>
            </a:solidFill>
            <a:prstDash val="solid"/>
          </a:ln>
          <a:effectLst>
            <a:outerShdw sx="100000" sy="100000" kx="0" ky="0" algn="bl" rotWithShape="0" blurRad="76200" dist="25400" dir="5400000">
              <a:srgbClr val="1E3A3C">
                <a:alpha val="10000"/>
              </a:srgbClr>
            </a:outerShdw>
          </a:effectLst>
        </p:spPr>
      </p:sp>
      <p:sp>
        <p:nvSpPr>
          <p:cNvPr id="15" name="Shape 13"/>
          <p:cNvSpPr/>
          <p:nvPr/>
        </p:nvSpPr>
        <p:spPr>
          <a:xfrm>
            <a:off x="822960" y="4503420"/>
            <a:ext cx="822960" cy="822960"/>
          </a:xfrm>
          <a:prstGeom prst="ellipse">
            <a:avLst/>
          </a:prstGeom>
          <a:solidFill>
            <a:srgbClr val="02C39A"/>
          </a:solidFill>
          <a:ln/>
        </p:spPr>
      </p:sp>
      <p:sp>
        <p:nvSpPr>
          <p:cNvPr id="16" name="Text 14"/>
          <p:cNvSpPr/>
          <p:nvPr/>
        </p:nvSpPr>
        <p:spPr>
          <a:xfrm>
            <a:off x="822960" y="4519879"/>
            <a:ext cx="822960" cy="822960"/>
          </a:xfrm>
          <a:prstGeom prst="rect">
            <a:avLst/>
          </a:prstGeom>
          <a:noFill/>
          <a:ln/>
        </p:spPr>
        <p:txBody>
          <a:bodyPr wrap="square" lIns="0" tIns="0" rIns="0" bIns="0" rtlCol="0" anchor="ctr"/>
          <a:lstStyle/>
          <a:p>
            <a:pPr algn="ctr" indent="0" marL="0">
              <a:buNone/>
            </a:pPr>
            <a:r>
              <a:rPr lang="en-US" sz="3060" dirty="0">
                <a:solidFill>
                  <a:srgbClr val="FFFFFF"/>
                </a:solidFill>
                <a:latin typeface="Calibri" pitchFamily="34" charset="0"/>
                <a:ea typeface="Calibri" pitchFamily="34" charset="-122"/>
                <a:cs typeface="Calibri" pitchFamily="34" charset="-120"/>
              </a:rPr>
              <a:t>✓</a:t>
            </a:r>
            <a:endParaRPr lang="en-US" sz="3060" dirty="0"/>
          </a:p>
        </p:txBody>
      </p:sp>
      <p:sp>
        <p:nvSpPr>
          <p:cNvPr id="17" name="Text 15"/>
          <p:cNvSpPr/>
          <p:nvPr/>
        </p:nvSpPr>
        <p:spPr>
          <a:xfrm>
            <a:off x="1874520" y="4160520"/>
            <a:ext cx="3794760" cy="411480"/>
          </a:xfrm>
          <a:prstGeom prst="rect">
            <a:avLst/>
          </a:prstGeom>
          <a:noFill/>
          <a:ln/>
        </p:spPr>
        <p:txBody>
          <a:bodyPr wrap="square" lIns="0" tIns="0" rIns="0" bIns="0" rtlCol="0" anchor="ctr"/>
          <a:lstStyle/>
          <a:p>
            <a:pPr indent="0" marL="0">
              <a:buNone/>
            </a:pPr>
            <a:r>
              <a:rPr lang="en-US" sz="1600" b="1" dirty="0">
                <a:solidFill>
                  <a:srgbClr val="0B2B2E"/>
                </a:solidFill>
                <a:latin typeface="Cambria" pitchFamily="34" charset="0"/>
                <a:ea typeface="Cambria" pitchFamily="34" charset="-122"/>
                <a:cs typeface="Cambria" pitchFamily="34" charset="-120"/>
              </a:rPr>
              <a:t>Code Review</a:t>
            </a:r>
            <a:endParaRPr lang="en-US" sz="1600" dirty="0"/>
          </a:p>
        </p:txBody>
      </p:sp>
      <p:sp>
        <p:nvSpPr>
          <p:cNvPr id="18" name="Text 16"/>
          <p:cNvSpPr/>
          <p:nvPr/>
        </p:nvSpPr>
        <p:spPr>
          <a:xfrm>
            <a:off x="1874520" y="4617720"/>
            <a:ext cx="3794760" cy="1143000"/>
          </a:xfrm>
          <a:prstGeom prst="rect">
            <a:avLst/>
          </a:prstGeom>
          <a:noFill/>
          <a:ln/>
        </p:spPr>
        <p:txBody>
          <a:bodyPr wrap="square" lIns="0" tIns="0" rIns="0" bIns="0" rtlCol="0" anchor="ctr"/>
          <a:lstStyle/>
          <a:p>
            <a:pPr indent="0" marL="0">
              <a:buNone/>
            </a:pPr>
            <a:r>
              <a:rPr lang="en-US" sz="1250" dirty="0">
                <a:solidFill>
                  <a:srgbClr val="5C7C7E"/>
                </a:solidFill>
                <a:latin typeface="Calibri" pitchFamily="34" charset="0"/>
                <a:ea typeface="Calibri" pitchFamily="34" charset="-122"/>
                <a:cs typeface="Calibri" pitchFamily="34" charset="-120"/>
              </a:rPr>
              <a:t>Developers review each other's code via Pull Requests, improving quality.</a:t>
            </a:r>
            <a:endParaRPr lang="en-US" sz="1250" dirty="0"/>
          </a:p>
        </p:txBody>
      </p:sp>
      <p:sp>
        <p:nvSpPr>
          <p:cNvPr id="19" name="Shape 17"/>
          <p:cNvSpPr/>
          <p:nvPr/>
        </p:nvSpPr>
        <p:spPr>
          <a:xfrm>
            <a:off x="6172200" y="3931920"/>
            <a:ext cx="5349240" cy="1965960"/>
          </a:xfrm>
          <a:prstGeom prst="roundRect">
            <a:avLst>
              <a:gd name="adj" fmla="val 4651"/>
            </a:avLst>
          </a:prstGeom>
          <a:solidFill>
            <a:srgbClr val="FFFFFF"/>
          </a:solidFill>
          <a:ln w="12700">
            <a:solidFill>
              <a:srgbClr val="D7E9E8"/>
            </a:solidFill>
            <a:prstDash val="solid"/>
          </a:ln>
          <a:effectLst>
            <a:outerShdw sx="100000" sy="100000" kx="0" ky="0" algn="bl" rotWithShape="0" blurRad="76200" dist="25400" dir="5400000">
              <a:srgbClr val="1E3A3C">
                <a:alpha val="10000"/>
              </a:srgbClr>
            </a:outerShdw>
          </a:effectLst>
        </p:spPr>
      </p:sp>
      <p:sp>
        <p:nvSpPr>
          <p:cNvPr id="20" name="Shape 18"/>
          <p:cNvSpPr/>
          <p:nvPr/>
        </p:nvSpPr>
        <p:spPr>
          <a:xfrm>
            <a:off x="6446520" y="4503420"/>
            <a:ext cx="822960" cy="822960"/>
          </a:xfrm>
          <a:prstGeom prst="ellipse">
            <a:avLst/>
          </a:prstGeom>
          <a:solidFill>
            <a:srgbClr val="028090"/>
          </a:solidFill>
          <a:ln/>
        </p:spPr>
      </p:sp>
      <p:sp>
        <p:nvSpPr>
          <p:cNvPr id="21" name="Text 19"/>
          <p:cNvSpPr/>
          <p:nvPr/>
        </p:nvSpPr>
        <p:spPr>
          <a:xfrm>
            <a:off x="6446520" y="4519879"/>
            <a:ext cx="822960" cy="822960"/>
          </a:xfrm>
          <a:prstGeom prst="rect">
            <a:avLst/>
          </a:prstGeom>
          <a:noFill/>
          <a:ln/>
        </p:spPr>
        <p:txBody>
          <a:bodyPr wrap="square" lIns="0" tIns="0" rIns="0" bIns="0" rtlCol="0" anchor="ctr"/>
          <a:lstStyle/>
          <a:p>
            <a:pPr algn="ctr" indent="0" marL="0">
              <a:buNone/>
            </a:pPr>
            <a:r>
              <a:rPr lang="en-US" sz="3060" dirty="0">
                <a:solidFill>
                  <a:srgbClr val="FFFFFF"/>
                </a:solidFill>
                <a:latin typeface="Calibri" pitchFamily="34" charset="0"/>
                <a:ea typeface="Calibri" pitchFamily="34" charset="-122"/>
                <a:cs typeface="Calibri" pitchFamily="34" charset="-120"/>
              </a:rPr>
              <a:t>★</a:t>
            </a:r>
            <a:endParaRPr lang="en-US" sz="3060" dirty="0"/>
          </a:p>
        </p:txBody>
      </p:sp>
      <p:sp>
        <p:nvSpPr>
          <p:cNvPr id="22" name="Text 20"/>
          <p:cNvSpPr/>
          <p:nvPr/>
        </p:nvSpPr>
        <p:spPr>
          <a:xfrm>
            <a:off x="7498080" y="4160520"/>
            <a:ext cx="3794760" cy="411480"/>
          </a:xfrm>
          <a:prstGeom prst="rect">
            <a:avLst/>
          </a:prstGeom>
          <a:noFill/>
          <a:ln/>
        </p:spPr>
        <p:txBody>
          <a:bodyPr wrap="square" lIns="0" tIns="0" rIns="0" bIns="0" rtlCol="0" anchor="ctr"/>
          <a:lstStyle/>
          <a:p>
            <a:pPr indent="0" marL="0">
              <a:buNone/>
            </a:pPr>
            <a:r>
              <a:rPr lang="en-US" sz="1600" b="1" dirty="0">
                <a:solidFill>
                  <a:srgbClr val="0B2B2E"/>
                </a:solidFill>
                <a:latin typeface="Cambria" pitchFamily="34" charset="0"/>
                <a:ea typeface="Cambria" pitchFamily="34" charset="-122"/>
                <a:cs typeface="Cambria" pitchFamily="34" charset="-120"/>
              </a:rPr>
              <a:t>Portfolio</a:t>
            </a:r>
            <a:endParaRPr lang="en-US" sz="1600" dirty="0"/>
          </a:p>
        </p:txBody>
      </p:sp>
      <p:sp>
        <p:nvSpPr>
          <p:cNvPr id="23" name="Text 21"/>
          <p:cNvSpPr/>
          <p:nvPr/>
        </p:nvSpPr>
        <p:spPr>
          <a:xfrm>
            <a:off x="7498080" y="4617720"/>
            <a:ext cx="3794760" cy="1143000"/>
          </a:xfrm>
          <a:prstGeom prst="rect">
            <a:avLst/>
          </a:prstGeom>
          <a:noFill/>
          <a:ln/>
        </p:spPr>
        <p:txBody>
          <a:bodyPr wrap="square" lIns="0" tIns="0" rIns="0" bIns="0" rtlCol="0" anchor="ctr"/>
          <a:lstStyle/>
          <a:p>
            <a:pPr indent="0" marL="0">
              <a:buNone/>
            </a:pPr>
            <a:r>
              <a:rPr lang="en-US" sz="1250" dirty="0">
                <a:solidFill>
                  <a:srgbClr val="5C7C7E"/>
                </a:solidFill>
                <a:latin typeface="Calibri" pitchFamily="34" charset="0"/>
                <a:ea typeface="Calibri" pitchFamily="34" charset="-122"/>
                <a:cs typeface="Calibri" pitchFamily="34" charset="-120"/>
              </a:rPr>
              <a:t>Students &amp; professionals showcase projects — recruiters check GitHub profiles.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COMPARISON</a:t>
            </a:r>
            <a:endParaRPr lang="en-US" sz="1200" dirty="0"/>
          </a:p>
        </p:txBody>
      </p:sp>
      <p:sp>
        <p:nvSpPr>
          <p:cNvPr id="3" name="Text 1"/>
          <p:cNvSpPr/>
          <p:nvPr/>
        </p:nvSpPr>
        <p:spPr>
          <a:xfrm>
            <a:off x="548640" y="658368"/>
            <a:ext cx="10515600" cy="777240"/>
          </a:xfrm>
          <a:prstGeom prst="rect">
            <a:avLst/>
          </a:prstGeom>
          <a:noFill/>
          <a:ln/>
        </p:spPr>
        <p:txBody>
          <a:bodyPr wrap="square" lIns="0" tIns="0" rIns="0" bIns="0" rtlCol="0" anchor="ctr"/>
          <a:lstStyle/>
          <a:p>
            <a:pPr indent="0" marL="0">
              <a:buNone/>
            </a:pPr>
            <a:r>
              <a:rPr lang="en-US" sz="3000" b="1" dirty="0">
                <a:solidFill>
                  <a:srgbClr val="0B2B2E"/>
                </a:solidFill>
                <a:latin typeface="Cambria" pitchFamily="34" charset="0"/>
                <a:ea typeface="Cambria" pitchFamily="34" charset="-122"/>
                <a:cs typeface="Cambria" pitchFamily="34" charset="-120"/>
              </a:rPr>
              <a:t>Git vs GitHub</a:t>
            </a:r>
            <a:endParaRPr lang="en-US" sz="3000" dirty="0"/>
          </a:p>
        </p:txBody>
      </p:sp>
      <p:sp>
        <p:nvSpPr>
          <p:cNvPr id="4" name="Shape 2"/>
          <p:cNvSpPr/>
          <p:nvPr/>
        </p:nvSpPr>
        <p:spPr>
          <a:xfrm>
            <a:off x="822960" y="1645920"/>
            <a:ext cx="5120640" cy="548640"/>
          </a:xfrm>
          <a:prstGeom prst="roundRect">
            <a:avLst>
              <a:gd name="adj" fmla="val 13333"/>
            </a:avLst>
          </a:prstGeom>
          <a:solidFill>
            <a:srgbClr val="028090"/>
          </a:solidFill>
          <a:ln/>
        </p:spPr>
      </p:sp>
      <p:sp>
        <p:nvSpPr>
          <p:cNvPr id="5" name="Text 3"/>
          <p:cNvSpPr/>
          <p:nvPr/>
        </p:nvSpPr>
        <p:spPr>
          <a:xfrm>
            <a:off x="822960" y="1645920"/>
            <a:ext cx="5120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Git</a:t>
            </a:r>
            <a:endParaRPr lang="en-US" sz="1800" dirty="0"/>
          </a:p>
        </p:txBody>
      </p:sp>
      <p:sp>
        <p:nvSpPr>
          <p:cNvPr id="6" name="Shape 4"/>
          <p:cNvSpPr/>
          <p:nvPr/>
        </p:nvSpPr>
        <p:spPr>
          <a:xfrm>
            <a:off x="6309360" y="1645920"/>
            <a:ext cx="5120640" cy="548640"/>
          </a:xfrm>
          <a:prstGeom prst="roundRect">
            <a:avLst>
              <a:gd name="adj" fmla="val 13333"/>
            </a:avLst>
          </a:prstGeom>
          <a:solidFill>
            <a:srgbClr val="012E33"/>
          </a:solidFill>
          <a:ln/>
        </p:spPr>
      </p:sp>
      <p:sp>
        <p:nvSpPr>
          <p:cNvPr id="7" name="Text 5"/>
          <p:cNvSpPr/>
          <p:nvPr/>
        </p:nvSpPr>
        <p:spPr>
          <a:xfrm>
            <a:off x="6309360" y="1645920"/>
            <a:ext cx="5120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GitHub</a:t>
            </a:r>
            <a:endParaRPr lang="en-US" sz="1800" dirty="0"/>
          </a:p>
        </p:txBody>
      </p:sp>
      <p:sp>
        <p:nvSpPr>
          <p:cNvPr id="8" name="Shape 6"/>
          <p:cNvSpPr/>
          <p:nvPr/>
        </p:nvSpPr>
        <p:spPr>
          <a:xfrm>
            <a:off x="822960" y="2286000"/>
            <a:ext cx="5120640" cy="621792"/>
          </a:xfrm>
          <a:prstGeom prst="rect">
            <a:avLst/>
          </a:prstGeom>
          <a:solidFill>
            <a:srgbClr val="FFFFFF"/>
          </a:solidFill>
          <a:ln w="9525">
            <a:solidFill>
              <a:srgbClr val="D7E9E8"/>
            </a:solidFill>
            <a:prstDash val="solid"/>
          </a:ln>
        </p:spPr>
      </p:sp>
      <p:sp>
        <p:nvSpPr>
          <p:cNvPr id="9" name="Text 7"/>
          <p:cNvSpPr/>
          <p:nvPr/>
        </p:nvSpPr>
        <p:spPr>
          <a:xfrm>
            <a:off x="1005840" y="2286000"/>
            <a:ext cx="4754880" cy="621792"/>
          </a:xfrm>
          <a:prstGeom prst="rect">
            <a:avLst/>
          </a:prstGeom>
          <a:noFill/>
          <a:ln/>
        </p:spPr>
        <p:txBody>
          <a:bodyPr wrap="square" lIns="0" tIns="0" rIns="0" bIns="0" rtlCol="0" anchor="ctr"/>
          <a:lstStyle/>
          <a:p>
            <a:pPr indent="0" marL="0">
              <a:buNone/>
            </a:pPr>
            <a:r>
              <a:rPr lang="en-US" sz="1300" dirty="0">
                <a:solidFill>
                  <a:srgbClr val="0B2B2E"/>
                </a:solidFill>
                <a:latin typeface="Calibri" pitchFamily="34" charset="0"/>
                <a:ea typeface="Calibri" pitchFamily="34" charset="-122"/>
                <a:cs typeface="Calibri" pitchFamily="34" charset="-120"/>
              </a:rPr>
              <a:t>Software</a:t>
            </a:r>
            <a:endParaRPr lang="en-US" sz="1300" dirty="0"/>
          </a:p>
        </p:txBody>
      </p:sp>
      <p:sp>
        <p:nvSpPr>
          <p:cNvPr id="10" name="Shape 8"/>
          <p:cNvSpPr/>
          <p:nvPr/>
        </p:nvSpPr>
        <p:spPr>
          <a:xfrm>
            <a:off x="6309360" y="2286000"/>
            <a:ext cx="5120640" cy="621792"/>
          </a:xfrm>
          <a:prstGeom prst="rect">
            <a:avLst/>
          </a:prstGeom>
          <a:solidFill>
            <a:srgbClr val="FFFFFF"/>
          </a:solidFill>
          <a:ln w="9525">
            <a:solidFill>
              <a:srgbClr val="D7E9E8"/>
            </a:solidFill>
            <a:prstDash val="solid"/>
          </a:ln>
        </p:spPr>
      </p:sp>
      <p:sp>
        <p:nvSpPr>
          <p:cNvPr id="11" name="Text 9"/>
          <p:cNvSpPr/>
          <p:nvPr/>
        </p:nvSpPr>
        <p:spPr>
          <a:xfrm>
            <a:off x="6492240" y="2286000"/>
            <a:ext cx="4754880" cy="621792"/>
          </a:xfrm>
          <a:prstGeom prst="rect">
            <a:avLst/>
          </a:prstGeom>
          <a:noFill/>
          <a:ln/>
        </p:spPr>
        <p:txBody>
          <a:bodyPr wrap="square" lIns="0" tIns="0" rIns="0" bIns="0" rtlCol="0" anchor="ctr"/>
          <a:lstStyle/>
          <a:p>
            <a:pPr indent="0" marL="0">
              <a:buNone/>
            </a:pPr>
            <a:r>
              <a:rPr lang="en-US" sz="1300" dirty="0">
                <a:solidFill>
                  <a:srgbClr val="0B2B2E"/>
                </a:solidFill>
                <a:latin typeface="Calibri" pitchFamily="34" charset="0"/>
                <a:ea typeface="Calibri" pitchFamily="34" charset="-122"/>
                <a:cs typeface="Calibri" pitchFamily="34" charset="-120"/>
              </a:rPr>
              <a:t>Website</a:t>
            </a:r>
            <a:endParaRPr lang="en-US" sz="1300" dirty="0"/>
          </a:p>
        </p:txBody>
      </p:sp>
      <p:sp>
        <p:nvSpPr>
          <p:cNvPr id="12" name="Shape 10"/>
          <p:cNvSpPr/>
          <p:nvPr/>
        </p:nvSpPr>
        <p:spPr>
          <a:xfrm>
            <a:off x="822960" y="2907792"/>
            <a:ext cx="5120640" cy="621792"/>
          </a:xfrm>
          <a:prstGeom prst="rect">
            <a:avLst/>
          </a:prstGeom>
          <a:solidFill>
            <a:srgbClr val="EAF6F5"/>
          </a:solidFill>
          <a:ln w="9525">
            <a:solidFill>
              <a:srgbClr val="D7E9E8"/>
            </a:solidFill>
            <a:prstDash val="solid"/>
          </a:ln>
        </p:spPr>
      </p:sp>
      <p:sp>
        <p:nvSpPr>
          <p:cNvPr id="13" name="Text 11"/>
          <p:cNvSpPr/>
          <p:nvPr/>
        </p:nvSpPr>
        <p:spPr>
          <a:xfrm>
            <a:off x="1005840" y="2907792"/>
            <a:ext cx="4754880" cy="621792"/>
          </a:xfrm>
          <a:prstGeom prst="rect">
            <a:avLst/>
          </a:prstGeom>
          <a:noFill/>
          <a:ln/>
        </p:spPr>
        <p:txBody>
          <a:bodyPr wrap="square" lIns="0" tIns="0" rIns="0" bIns="0" rtlCol="0" anchor="ctr"/>
          <a:lstStyle/>
          <a:p>
            <a:pPr indent="0" marL="0">
              <a:buNone/>
            </a:pPr>
            <a:r>
              <a:rPr lang="en-US" sz="1300" dirty="0">
                <a:solidFill>
                  <a:srgbClr val="0B2B2E"/>
                </a:solidFill>
                <a:latin typeface="Calibri" pitchFamily="34" charset="0"/>
                <a:ea typeface="Calibri" pitchFamily="34" charset="-122"/>
                <a:cs typeface="Calibri" pitchFamily="34" charset="-120"/>
              </a:rPr>
              <a:t>Installed locally</a:t>
            </a:r>
            <a:endParaRPr lang="en-US" sz="1300" dirty="0"/>
          </a:p>
        </p:txBody>
      </p:sp>
      <p:sp>
        <p:nvSpPr>
          <p:cNvPr id="14" name="Shape 12"/>
          <p:cNvSpPr/>
          <p:nvPr/>
        </p:nvSpPr>
        <p:spPr>
          <a:xfrm>
            <a:off x="6309360" y="2907792"/>
            <a:ext cx="5120640" cy="621792"/>
          </a:xfrm>
          <a:prstGeom prst="rect">
            <a:avLst/>
          </a:prstGeom>
          <a:solidFill>
            <a:srgbClr val="EAF6F5"/>
          </a:solidFill>
          <a:ln w="9525">
            <a:solidFill>
              <a:srgbClr val="D7E9E8"/>
            </a:solidFill>
            <a:prstDash val="solid"/>
          </a:ln>
        </p:spPr>
      </p:sp>
      <p:sp>
        <p:nvSpPr>
          <p:cNvPr id="15" name="Text 13"/>
          <p:cNvSpPr/>
          <p:nvPr/>
        </p:nvSpPr>
        <p:spPr>
          <a:xfrm>
            <a:off x="6492240" y="2907792"/>
            <a:ext cx="4754880" cy="621792"/>
          </a:xfrm>
          <a:prstGeom prst="rect">
            <a:avLst/>
          </a:prstGeom>
          <a:noFill/>
          <a:ln/>
        </p:spPr>
        <p:txBody>
          <a:bodyPr wrap="square" lIns="0" tIns="0" rIns="0" bIns="0" rtlCol="0" anchor="ctr"/>
          <a:lstStyle/>
          <a:p>
            <a:pPr indent="0" marL="0">
              <a:buNone/>
            </a:pPr>
            <a:r>
              <a:rPr lang="en-US" sz="1300" dirty="0">
                <a:solidFill>
                  <a:srgbClr val="0B2B2E"/>
                </a:solidFill>
                <a:latin typeface="Calibri" pitchFamily="34" charset="0"/>
                <a:ea typeface="Calibri" pitchFamily="34" charset="-122"/>
                <a:cs typeface="Calibri" pitchFamily="34" charset="-120"/>
              </a:rPr>
              <a:t>Runs online</a:t>
            </a:r>
            <a:endParaRPr lang="en-US" sz="1300" dirty="0"/>
          </a:p>
        </p:txBody>
      </p:sp>
      <p:sp>
        <p:nvSpPr>
          <p:cNvPr id="16" name="Shape 14"/>
          <p:cNvSpPr/>
          <p:nvPr/>
        </p:nvSpPr>
        <p:spPr>
          <a:xfrm>
            <a:off x="822960" y="3529584"/>
            <a:ext cx="5120640" cy="621792"/>
          </a:xfrm>
          <a:prstGeom prst="rect">
            <a:avLst/>
          </a:prstGeom>
          <a:solidFill>
            <a:srgbClr val="FFFFFF"/>
          </a:solidFill>
          <a:ln w="9525">
            <a:solidFill>
              <a:srgbClr val="D7E9E8"/>
            </a:solidFill>
            <a:prstDash val="solid"/>
          </a:ln>
        </p:spPr>
      </p:sp>
      <p:sp>
        <p:nvSpPr>
          <p:cNvPr id="17" name="Text 15"/>
          <p:cNvSpPr/>
          <p:nvPr/>
        </p:nvSpPr>
        <p:spPr>
          <a:xfrm>
            <a:off x="1005840" y="3529584"/>
            <a:ext cx="4754880" cy="621792"/>
          </a:xfrm>
          <a:prstGeom prst="rect">
            <a:avLst/>
          </a:prstGeom>
          <a:noFill/>
          <a:ln/>
        </p:spPr>
        <p:txBody>
          <a:bodyPr wrap="square" lIns="0" tIns="0" rIns="0" bIns="0" rtlCol="0" anchor="ctr"/>
          <a:lstStyle/>
          <a:p>
            <a:pPr indent="0" marL="0">
              <a:buNone/>
            </a:pPr>
            <a:r>
              <a:rPr lang="en-US" sz="1300" dirty="0">
                <a:solidFill>
                  <a:srgbClr val="0B2B2E"/>
                </a:solidFill>
                <a:latin typeface="Calibri" pitchFamily="34" charset="0"/>
                <a:ea typeface="Calibri" pitchFamily="34" charset="-122"/>
                <a:cs typeface="Calibri" pitchFamily="34" charset="-120"/>
              </a:rPr>
              <a:t>Tracks versions</a:t>
            </a:r>
            <a:endParaRPr lang="en-US" sz="1300" dirty="0"/>
          </a:p>
        </p:txBody>
      </p:sp>
      <p:sp>
        <p:nvSpPr>
          <p:cNvPr id="18" name="Shape 16"/>
          <p:cNvSpPr/>
          <p:nvPr/>
        </p:nvSpPr>
        <p:spPr>
          <a:xfrm>
            <a:off x="6309360" y="3529584"/>
            <a:ext cx="5120640" cy="621792"/>
          </a:xfrm>
          <a:prstGeom prst="rect">
            <a:avLst/>
          </a:prstGeom>
          <a:solidFill>
            <a:srgbClr val="FFFFFF"/>
          </a:solidFill>
          <a:ln w="9525">
            <a:solidFill>
              <a:srgbClr val="D7E9E8"/>
            </a:solidFill>
            <a:prstDash val="solid"/>
          </a:ln>
        </p:spPr>
      </p:sp>
      <p:sp>
        <p:nvSpPr>
          <p:cNvPr id="19" name="Text 17"/>
          <p:cNvSpPr/>
          <p:nvPr/>
        </p:nvSpPr>
        <p:spPr>
          <a:xfrm>
            <a:off x="6492240" y="3529584"/>
            <a:ext cx="4754880" cy="621792"/>
          </a:xfrm>
          <a:prstGeom prst="rect">
            <a:avLst/>
          </a:prstGeom>
          <a:noFill/>
          <a:ln/>
        </p:spPr>
        <p:txBody>
          <a:bodyPr wrap="square" lIns="0" tIns="0" rIns="0" bIns="0" rtlCol="0" anchor="ctr"/>
          <a:lstStyle/>
          <a:p>
            <a:pPr indent="0" marL="0">
              <a:buNone/>
            </a:pPr>
            <a:r>
              <a:rPr lang="en-US" sz="1300" dirty="0">
                <a:solidFill>
                  <a:srgbClr val="0B2B2E"/>
                </a:solidFill>
                <a:latin typeface="Calibri" pitchFamily="34" charset="0"/>
                <a:ea typeface="Calibri" pitchFamily="34" charset="-122"/>
                <a:cs typeface="Calibri" pitchFamily="34" charset="-120"/>
              </a:rPr>
              <a:t>Hosts repositories</a:t>
            </a:r>
            <a:endParaRPr lang="en-US" sz="1300" dirty="0"/>
          </a:p>
        </p:txBody>
      </p:sp>
      <p:sp>
        <p:nvSpPr>
          <p:cNvPr id="20" name="Shape 18"/>
          <p:cNvSpPr/>
          <p:nvPr/>
        </p:nvSpPr>
        <p:spPr>
          <a:xfrm>
            <a:off x="822960" y="4151376"/>
            <a:ext cx="5120640" cy="621792"/>
          </a:xfrm>
          <a:prstGeom prst="rect">
            <a:avLst/>
          </a:prstGeom>
          <a:solidFill>
            <a:srgbClr val="EAF6F5"/>
          </a:solidFill>
          <a:ln w="9525">
            <a:solidFill>
              <a:srgbClr val="D7E9E8"/>
            </a:solidFill>
            <a:prstDash val="solid"/>
          </a:ln>
        </p:spPr>
      </p:sp>
      <p:sp>
        <p:nvSpPr>
          <p:cNvPr id="21" name="Text 19"/>
          <p:cNvSpPr/>
          <p:nvPr/>
        </p:nvSpPr>
        <p:spPr>
          <a:xfrm>
            <a:off x="1005840" y="4151376"/>
            <a:ext cx="4754880" cy="621792"/>
          </a:xfrm>
          <a:prstGeom prst="rect">
            <a:avLst/>
          </a:prstGeom>
          <a:noFill/>
          <a:ln/>
        </p:spPr>
        <p:txBody>
          <a:bodyPr wrap="square" lIns="0" tIns="0" rIns="0" bIns="0" rtlCol="0" anchor="ctr"/>
          <a:lstStyle/>
          <a:p>
            <a:pPr indent="0" marL="0">
              <a:buNone/>
            </a:pPr>
            <a:r>
              <a:rPr lang="en-US" sz="1300" dirty="0">
                <a:solidFill>
                  <a:srgbClr val="0B2B2E"/>
                </a:solidFill>
                <a:latin typeface="Calibri" pitchFamily="34" charset="0"/>
                <a:ea typeface="Calibri" pitchFamily="34" charset="-122"/>
                <a:cs typeface="Calibri" pitchFamily="34" charset="-120"/>
              </a:rPr>
              <a:t>Works offline</a:t>
            </a:r>
            <a:endParaRPr lang="en-US" sz="1300" dirty="0"/>
          </a:p>
        </p:txBody>
      </p:sp>
      <p:sp>
        <p:nvSpPr>
          <p:cNvPr id="22" name="Shape 20"/>
          <p:cNvSpPr/>
          <p:nvPr/>
        </p:nvSpPr>
        <p:spPr>
          <a:xfrm>
            <a:off x="6309360" y="4151376"/>
            <a:ext cx="5120640" cy="621792"/>
          </a:xfrm>
          <a:prstGeom prst="rect">
            <a:avLst/>
          </a:prstGeom>
          <a:solidFill>
            <a:srgbClr val="EAF6F5"/>
          </a:solidFill>
          <a:ln w="9525">
            <a:solidFill>
              <a:srgbClr val="D7E9E8"/>
            </a:solidFill>
            <a:prstDash val="solid"/>
          </a:ln>
        </p:spPr>
      </p:sp>
      <p:sp>
        <p:nvSpPr>
          <p:cNvPr id="23" name="Text 21"/>
          <p:cNvSpPr/>
          <p:nvPr/>
        </p:nvSpPr>
        <p:spPr>
          <a:xfrm>
            <a:off x="6492240" y="4151376"/>
            <a:ext cx="4754880" cy="621792"/>
          </a:xfrm>
          <a:prstGeom prst="rect">
            <a:avLst/>
          </a:prstGeom>
          <a:noFill/>
          <a:ln/>
        </p:spPr>
        <p:txBody>
          <a:bodyPr wrap="square" lIns="0" tIns="0" rIns="0" bIns="0" rtlCol="0" anchor="ctr"/>
          <a:lstStyle/>
          <a:p>
            <a:pPr indent="0" marL="0">
              <a:buNone/>
            </a:pPr>
            <a:r>
              <a:rPr lang="en-US" sz="1300" dirty="0">
                <a:solidFill>
                  <a:srgbClr val="0B2B2E"/>
                </a:solidFill>
                <a:latin typeface="Calibri" pitchFamily="34" charset="0"/>
                <a:ea typeface="Calibri" pitchFamily="34" charset="-122"/>
                <a:cs typeface="Calibri" pitchFamily="34" charset="-120"/>
              </a:rPr>
              <a:t>Requires internet</a:t>
            </a:r>
            <a:endParaRPr lang="en-US" sz="1300" dirty="0"/>
          </a:p>
        </p:txBody>
      </p:sp>
      <p:sp>
        <p:nvSpPr>
          <p:cNvPr id="24" name="Shape 22"/>
          <p:cNvSpPr/>
          <p:nvPr/>
        </p:nvSpPr>
        <p:spPr>
          <a:xfrm>
            <a:off x="822960" y="4773168"/>
            <a:ext cx="5120640" cy="621792"/>
          </a:xfrm>
          <a:prstGeom prst="rect">
            <a:avLst/>
          </a:prstGeom>
          <a:solidFill>
            <a:srgbClr val="FFFFFF"/>
          </a:solidFill>
          <a:ln w="9525">
            <a:solidFill>
              <a:srgbClr val="D7E9E8"/>
            </a:solidFill>
            <a:prstDash val="solid"/>
          </a:ln>
        </p:spPr>
      </p:sp>
      <p:sp>
        <p:nvSpPr>
          <p:cNvPr id="25" name="Text 23"/>
          <p:cNvSpPr/>
          <p:nvPr/>
        </p:nvSpPr>
        <p:spPr>
          <a:xfrm>
            <a:off x="1005840" y="4773168"/>
            <a:ext cx="4754880" cy="621792"/>
          </a:xfrm>
          <a:prstGeom prst="rect">
            <a:avLst/>
          </a:prstGeom>
          <a:noFill/>
          <a:ln/>
        </p:spPr>
        <p:txBody>
          <a:bodyPr wrap="square" lIns="0" tIns="0" rIns="0" bIns="0" rtlCol="0" anchor="ctr"/>
          <a:lstStyle/>
          <a:p>
            <a:pPr indent="0" marL="0">
              <a:buNone/>
            </a:pPr>
            <a:r>
              <a:rPr lang="en-US" sz="1300" dirty="0">
                <a:solidFill>
                  <a:srgbClr val="0B2B2E"/>
                </a:solidFill>
                <a:latin typeface="Calibri" pitchFamily="34" charset="0"/>
                <a:ea typeface="Calibri" pitchFamily="34" charset="-122"/>
                <a:cs typeface="Calibri" pitchFamily="34" charset="-120"/>
              </a:rPr>
              <a:t>Created by Linus Torvalds</a:t>
            </a:r>
            <a:endParaRPr lang="en-US" sz="1300" dirty="0"/>
          </a:p>
        </p:txBody>
      </p:sp>
      <p:sp>
        <p:nvSpPr>
          <p:cNvPr id="26" name="Shape 24"/>
          <p:cNvSpPr/>
          <p:nvPr/>
        </p:nvSpPr>
        <p:spPr>
          <a:xfrm>
            <a:off x="6309360" y="4773168"/>
            <a:ext cx="5120640" cy="621792"/>
          </a:xfrm>
          <a:prstGeom prst="rect">
            <a:avLst/>
          </a:prstGeom>
          <a:solidFill>
            <a:srgbClr val="FFFFFF"/>
          </a:solidFill>
          <a:ln w="9525">
            <a:solidFill>
              <a:srgbClr val="D7E9E8"/>
            </a:solidFill>
            <a:prstDash val="solid"/>
          </a:ln>
        </p:spPr>
      </p:sp>
      <p:sp>
        <p:nvSpPr>
          <p:cNvPr id="27" name="Text 25"/>
          <p:cNvSpPr/>
          <p:nvPr/>
        </p:nvSpPr>
        <p:spPr>
          <a:xfrm>
            <a:off x="6492240" y="4773168"/>
            <a:ext cx="4754880" cy="621792"/>
          </a:xfrm>
          <a:prstGeom prst="rect">
            <a:avLst/>
          </a:prstGeom>
          <a:noFill/>
          <a:ln/>
        </p:spPr>
        <p:txBody>
          <a:bodyPr wrap="square" lIns="0" tIns="0" rIns="0" bIns="0" rtlCol="0" anchor="ctr"/>
          <a:lstStyle/>
          <a:p>
            <a:pPr indent="0" marL="0">
              <a:buNone/>
            </a:pPr>
            <a:r>
              <a:rPr lang="en-US" sz="1300" dirty="0">
                <a:solidFill>
                  <a:srgbClr val="0B2B2E"/>
                </a:solidFill>
                <a:latin typeface="Calibri" pitchFamily="34" charset="0"/>
                <a:ea typeface="Calibri" pitchFamily="34" charset="-122"/>
                <a:cs typeface="Calibri" pitchFamily="34" charset="-120"/>
              </a:rPr>
              <a:t>Owned by Microsoft</a:t>
            </a:r>
            <a:endParaRPr lang="en-US" sz="1300" dirty="0"/>
          </a:p>
        </p:txBody>
      </p:sp>
      <p:sp>
        <p:nvSpPr>
          <p:cNvPr id="28" name="Text 26"/>
          <p:cNvSpPr/>
          <p:nvPr/>
        </p:nvSpPr>
        <p:spPr>
          <a:xfrm>
            <a:off x="822960" y="5623560"/>
            <a:ext cx="10332720" cy="457200"/>
          </a:xfrm>
          <a:prstGeom prst="rect">
            <a:avLst/>
          </a:prstGeom>
          <a:noFill/>
          <a:ln/>
        </p:spPr>
        <p:txBody>
          <a:bodyPr wrap="square" lIns="0" tIns="0" rIns="0" bIns="0" rtlCol="0" anchor="ctr"/>
          <a:lstStyle/>
          <a:p>
            <a:pPr algn="ctr" indent="0" marL="0">
              <a:buNone/>
            </a:pPr>
            <a:r>
              <a:rPr lang="en-US" sz="1350" b="1" i="1" dirty="0">
                <a:solidFill>
                  <a:srgbClr val="00A896"/>
                </a:solidFill>
                <a:latin typeface="Calibri" pitchFamily="34" charset="0"/>
                <a:ea typeface="Calibri" pitchFamily="34" charset="-122"/>
                <a:cs typeface="Calibri" pitchFamily="34" charset="-120"/>
              </a:rPr>
              <a:t>Easy way to remember:  Git = Camera  ·  GitHub = Cloud Storage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PROCESS</a:t>
            </a:r>
            <a:endParaRPr lang="en-US" sz="1200" dirty="0"/>
          </a:p>
        </p:txBody>
      </p:sp>
      <p:sp>
        <p:nvSpPr>
          <p:cNvPr id="3" name="Text 1"/>
          <p:cNvSpPr/>
          <p:nvPr/>
        </p:nvSpPr>
        <p:spPr>
          <a:xfrm>
            <a:off x="548640" y="658368"/>
            <a:ext cx="10515600" cy="777240"/>
          </a:xfrm>
          <a:prstGeom prst="rect">
            <a:avLst/>
          </a:prstGeom>
          <a:noFill/>
          <a:ln/>
        </p:spPr>
        <p:txBody>
          <a:bodyPr wrap="square" lIns="0" tIns="0" rIns="0" bIns="0" rtlCol="0" anchor="ctr"/>
          <a:lstStyle/>
          <a:p>
            <a:pPr indent="0" marL="0">
              <a:buNone/>
            </a:pPr>
            <a:r>
              <a:rPr lang="en-US" sz="3000" b="1" dirty="0">
                <a:solidFill>
                  <a:srgbClr val="0B2B2E"/>
                </a:solidFill>
                <a:latin typeface="Cambria" pitchFamily="34" charset="0"/>
                <a:ea typeface="Cambria" pitchFamily="34" charset="-122"/>
                <a:cs typeface="Cambria" pitchFamily="34" charset="-120"/>
              </a:rPr>
              <a:t>The Git Workflow</a:t>
            </a:r>
            <a:endParaRPr lang="en-US" sz="3000" dirty="0"/>
          </a:p>
        </p:txBody>
      </p:sp>
      <p:sp>
        <p:nvSpPr>
          <p:cNvPr id="4" name="Shape 2"/>
          <p:cNvSpPr/>
          <p:nvPr/>
        </p:nvSpPr>
        <p:spPr>
          <a:xfrm>
            <a:off x="548640" y="1828800"/>
            <a:ext cx="2514600" cy="2651760"/>
          </a:xfrm>
          <a:prstGeom prst="roundRect">
            <a:avLst>
              <a:gd name="adj" fmla="val 3636"/>
            </a:avLst>
          </a:prstGeom>
          <a:solidFill>
            <a:srgbClr val="FFFFFF"/>
          </a:solidFill>
          <a:ln w="12700">
            <a:solidFill>
              <a:srgbClr val="D7E9E8"/>
            </a:solidFill>
            <a:prstDash val="solid"/>
          </a:ln>
          <a:effectLst>
            <a:outerShdw sx="100000" sy="100000" kx="0" ky="0" algn="bl" rotWithShape="0" blurRad="76200" dist="25400" dir="5400000">
              <a:srgbClr val="1E3A3C">
                <a:alpha val="10000"/>
              </a:srgbClr>
            </a:outerShdw>
          </a:effectLst>
        </p:spPr>
      </p:sp>
      <p:sp>
        <p:nvSpPr>
          <p:cNvPr id="5" name="Shape 3"/>
          <p:cNvSpPr/>
          <p:nvPr/>
        </p:nvSpPr>
        <p:spPr>
          <a:xfrm>
            <a:off x="1554480" y="2103120"/>
            <a:ext cx="502920" cy="502920"/>
          </a:xfrm>
          <a:prstGeom prst="ellipse">
            <a:avLst/>
          </a:prstGeom>
          <a:solidFill>
            <a:srgbClr val="028090"/>
          </a:solidFill>
          <a:ln/>
        </p:spPr>
      </p:sp>
      <p:sp>
        <p:nvSpPr>
          <p:cNvPr id="6" name="Text 4"/>
          <p:cNvSpPr/>
          <p:nvPr/>
        </p:nvSpPr>
        <p:spPr>
          <a:xfrm>
            <a:off x="1554480" y="21031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685800" y="2788920"/>
            <a:ext cx="2240280" cy="594360"/>
          </a:xfrm>
          <a:prstGeom prst="rect">
            <a:avLst/>
          </a:prstGeom>
          <a:noFill/>
          <a:ln/>
        </p:spPr>
        <p:txBody>
          <a:bodyPr wrap="square" lIns="0" tIns="0" rIns="0" bIns="0" rtlCol="0" anchor="ctr"/>
          <a:lstStyle/>
          <a:p>
            <a:pPr algn="ctr" indent="0" marL="0">
              <a:buNone/>
            </a:pPr>
            <a:r>
              <a:rPr lang="en-US" sz="1400" b="1" dirty="0">
                <a:solidFill>
                  <a:srgbClr val="0B2B2E"/>
                </a:solidFill>
                <a:latin typeface="Cambria" pitchFamily="34" charset="0"/>
                <a:ea typeface="Cambria" pitchFamily="34" charset="-122"/>
                <a:cs typeface="Cambria" pitchFamily="34" charset="-120"/>
              </a:rPr>
              <a:t>Working Directory</a:t>
            </a:r>
            <a:endParaRPr lang="en-US" sz="1400" dirty="0"/>
          </a:p>
        </p:txBody>
      </p:sp>
      <p:sp>
        <p:nvSpPr>
          <p:cNvPr id="8" name="Text 6"/>
          <p:cNvSpPr/>
          <p:nvPr/>
        </p:nvSpPr>
        <p:spPr>
          <a:xfrm>
            <a:off x="685800" y="3337560"/>
            <a:ext cx="2240280" cy="548640"/>
          </a:xfrm>
          <a:prstGeom prst="rect">
            <a:avLst/>
          </a:prstGeom>
          <a:noFill/>
          <a:ln/>
        </p:spPr>
        <p:txBody>
          <a:bodyPr wrap="square" lIns="0" tIns="0" rIns="0" bIns="0" rtlCol="0" anchor="ctr"/>
          <a:lstStyle/>
          <a:p>
            <a:pPr algn="ctr" indent="0" marL="0">
              <a:buNone/>
            </a:pPr>
            <a:r>
              <a:rPr lang="en-US" sz="1150" dirty="0">
                <a:solidFill>
                  <a:srgbClr val="5C7C7E"/>
                </a:solidFill>
                <a:latin typeface="Calibri" pitchFamily="34" charset="0"/>
                <a:ea typeface="Calibri" pitchFamily="34" charset="-122"/>
                <a:cs typeface="Calibri" pitchFamily="34" charset="-120"/>
              </a:rPr>
              <a:t>Create or edit files</a:t>
            </a:r>
            <a:endParaRPr lang="en-US" sz="1150" dirty="0"/>
          </a:p>
        </p:txBody>
      </p:sp>
      <p:sp>
        <p:nvSpPr>
          <p:cNvPr id="9" name="Text 7"/>
          <p:cNvSpPr/>
          <p:nvPr/>
        </p:nvSpPr>
        <p:spPr>
          <a:xfrm>
            <a:off x="3063240" y="2834640"/>
            <a:ext cx="320040" cy="640080"/>
          </a:xfrm>
          <a:prstGeom prst="rect">
            <a:avLst/>
          </a:prstGeom>
          <a:noFill/>
          <a:ln/>
        </p:spPr>
        <p:txBody>
          <a:bodyPr wrap="square" lIns="0" tIns="0" rIns="0" bIns="0" rtlCol="0" anchor="ctr"/>
          <a:lstStyle/>
          <a:p>
            <a:pPr algn="ctr" indent="0" marL="0">
              <a:buNone/>
            </a:pPr>
            <a:r>
              <a:rPr lang="en-US" sz="2200" b="1" dirty="0">
                <a:solidFill>
                  <a:srgbClr val="00A896"/>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383280" y="1828800"/>
            <a:ext cx="2514600" cy="2651760"/>
          </a:xfrm>
          <a:prstGeom prst="roundRect">
            <a:avLst>
              <a:gd name="adj" fmla="val 3636"/>
            </a:avLst>
          </a:prstGeom>
          <a:solidFill>
            <a:srgbClr val="FFFFFF"/>
          </a:solidFill>
          <a:ln w="12700">
            <a:solidFill>
              <a:srgbClr val="D7E9E8"/>
            </a:solidFill>
            <a:prstDash val="solid"/>
          </a:ln>
          <a:effectLst>
            <a:outerShdw sx="100000" sy="100000" kx="0" ky="0" algn="bl" rotWithShape="0" blurRad="76200" dist="25400" dir="5400000">
              <a:srgbClr val="1E3A3C">
                <a:alpha val="10000"/>
              </a:srgbClr>
            </a:outerShdw>
          </a:effectLst>
        </p:spPr>
      </p:sp>
      <p:sp>
        <p:nvSpPr>
          <p:cNvPr id="11" name="Shape 9"/>
          <p:cNvSpPr/>
          <p:nvPr/>
        </p:nvSpPr>
        <p:spPr>
          <a:xfrm>
            <a:off x="4389120" y="2103120"/>
            <a:ext cx="502920" cy="502920"/>
          </a:xfrm>
          <a:prstGeom prst="ellipse">
            <a:avLst/>
          </a:prstGeom>
          <a:solidFill>
            <a:srgbClr val="00A896"/>
          </a:solidFill>
          <a:ln/>
        </p:spPr>
      </p:sp>
      <p:sp>
        <p:nvSpPr>
          <p:cNvPr id="12" name="Text 10"/>
          <p:cNvSpPr/>
          <p:nvPr/>
        </p:nvSpPr>
        <p:spPr>
          <a:xfrm>
            <a:off x="4389120" y="21031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3520440" y="2788920"/>
            <a:ext cx="2240280" cy="594360"/>
          </a:xfrm>
          <a:prstGeom prst="rect">
            <a:avLst/>
          </a:prstGeom>
          <a:noFill/>
          <a:ln/>
        </p:spPr>
        <p:txBody>
          <a:bodyPr wrap="square" lIns="0" tIns="0" rIns="0" bIns="0" rtlCol="0" anchor="ctr"/>
          <a:lstStyle/>
          <a:p>
            <a:pPr algn="ctr" indent="0" marL="0">
              <a:buNone/>
            </a:pPr>
            <a:r>
              <a:rPr lang="en-US" sz="1400" b="1" dirty="0">
                <a:solidFill>
                  <a:srgbClr val="0B2B2E"/>
                </a:solidFill>
                <a:latin typeface="Cambria" pitchFamily="34" charset="0"/>
                <a:ea typeface="Cambria" pitchFamily="34" charset="-122"/>
                <a:cs typeface="Cambria" pitchFamily="34" charset="-120"/>
              </a:rPr>
              <a:t>Staging Area</a:t>
            </a:r>
            <a:endParaRPr lang="en-US" sz="1400" dirty="0"/>
          </a:p>
        </p:txBody>
      </p:sp>
      <p:sp>
        <p:nvSpPr>
          <p:cNvPr id="14" name="Text 12"/>
          <p:cNvSpPr/>
          <p:nvPr/>
        </p:nvSpPr>
        <p:spPr>
          <a:xfrm>
            <a:off x="3520440" y="3337560"/>
            <a:ext cx="2240280" cy="548640"/>
          </a:xfrm>
          <a:prstGeom prst="rect">
            <a:avLst/>
          </a:prstGeom>
          <a:noFill/>
          <a:ln/>
        </p:spPr>
        <p:txBody>
          <a:bodyPr wrap="square" lIns="0" tIns="0" rIns="0" bIns="0" rtlCol="0" anchor="ctr"/>
          <a:lstStyle/>
          <a:p>
            <a:pPr algn="ctr" indent="0" marL="0">
              <a:buNone/>
            </a:pPr>
            <a:r>
              <a:rPr lang="en-US" sz="1150" dirty="0">
                <a:solidFill>
                  <a:srgbClr val="5C7C7E"/>
                </a:solidFill>
                <a:latin typeface="Calibri" pitchFamily="34" charset="0"/>
                <a:ea typeface="Calibri" pitchFamily="34" charset="-122"/>
                <a:cs typeface="Calibri" pitchFamily="34" charset="-120"/>
              </a:rPr>
              <a:t>Select files to commit</a:t>
            </a:r>
            <a:endParaRPr lang="en-US" sz="1150" dirty="0"/>
          </a:p>
        </p:txBody>
      </p:sp>
      <p:sp>
        <p:nvSpPr>
          <p:cNvPr id="15" name="Shape 13"/>
          <p:cNvSpPr/>
          <p:nvPr/>
        </p:nvSpPr>
        <p:spPr>
          <a:xfrm>
            <a:off x="3657600" y="3886200"/>
            <a:ext cx="1965960" cy="384048"/>
          </a:xfrm>
          <a:prstGeom prst="roundRect">
            <a:avLst>
              <a:gd name="adj" fmla="val 14286"/>
            </a:avLst>
          </a:prstGeom>
          <a:solidFill>
            <a:srgbClr val="E6F4F3"/>
          </a:solidFill>
          <a:ln/>
        </p:spPr>
      </p:sp>
      <p:sp>
        <p:nvSpPr>
          <p:cNvPr id="16" name="Text 14"/>
          <p:cNvSpPr/>
          <p:nvPr/>
        </p:nvSpPr>
        <p:spPr>
          <a:xfrm>
            <a:off x="3657600" y="3886200"/>
            <a:ext cx="1965960" cy="384048"/>
          </a:xfrm>
          <a:prstGeom prst="rect">
            <a:avLst/>
          </a:prstGeom>
          <a:noFill/>
          <a:ln/>
        </p:spPr>
        <p:txBody>
          <a:bodyPr wrap="square" lIns="0" tIns="0" rIns="0" bIns="0" rtlCol="0" anchor="ctr"/>
          <a:lstStyle/>
          <a:p>
            <a:pPr algn="ctr" indent="0" marL="0">
              <a:buNone/>
            </a:pPr>
            <a:r>
              <a:rPr lang="en-US" sz="1150" b="1" dirty="0">
                <a:solidFill>
                  <a:srgbClr val="028090"/>
                </a:solidFill>
                <a:latin typeface="Courier New" pitchFamily="34" charset="0"/>
                <a:ea typeface="Courier New" pitchFamily="34" charset="-122"/>
                <a:cs typeface="Courier New" pitchFamily="34" charset="-120"/>
              </a:rPr>
              <a:t>git add</a:t>
            </a:r>
            <a:endParaRPr lang="en-US" sz="1150" dirty="0"/>
          </a:p>
        </p:txBody>
      </p:sp>
      <p:sp>
        <p:nvSpPr>
          <p:cNvPr id="17" name="Text 15"/>
          <p:cNvSpPr/>
          <p:nvPr/>
        </p:nvSpPr>
        <p:spPr>
          <a:xfrm>
            <a:off x="5897880" y="2834640"/>
            <a:ext cx="320040" cy="640080"/>
          </a:xfrm>
          <a:prstGeom prst="rect">
            <a:avLst/>
          </a:prstGeom>
          <a:noFill/>
          <a:ln/>
        </p:spPr>
        <p:txBody>
          <a:bodyPr wrap="square" lIns="0" tIns="0" rIns="0" bIns="0" rtlCol="0" anchor="ctr"/>
          <a:lstStyle/>
          <a:p>
            <a:pPr algn="ctr" indent="0" marL="0">
              <a:buNone/>
            </a:pPr>
            <a:r>
              <a:rPr lang="en-US" sz="2200" b="1" dirty="0">
                <a:solidFill>
                  <a:srgbClr val="00A896"/>
                </a:solidFill>
                <a:latin typeface="Calibri" pitchFamily="34" charset="0"/>
                <a:ea typeface="Calibri" pitchFamily="34" charset="-122"/>
                <a:cs typeface="Calibri" pitchFamily="34" charset="-120"/>
              </a:rPr>
              <a:t>→</a:t>
            </a:r>
            <a:endParaRPr lang="en-US" sz="2200" dirty="0"/>
          </a:p>
        </p:txBody>
      </p:sp>
      <p:sp>
        <p:nvSpPr>
          <p:cNvPr id="18" name="Shape 16"/>
          <p:cNvSpPr/>
          <p:nvPr/>
        </p:nvSpPr>
        <p:spPr>
          <a:xfrm>
            <a:off x="6217920" y="1828800"/>
            <a:ext cx="2514600" cy="2651760"/>
          </a:xfrm>
          <a:prstGeom prst="roundRect">
            <a:avLst>
              <a:gd name="adj" fmla="val 3636"/>
            </a:avLst>
          </a:prstGeom>
          <a:solidFill>
            <a:srgbClr val="FFFFFF"/>
          </a:solidFill>
          <a:ln w="12700">
            <a:solidFill>
              <a:srgbClr val="D7E9E8"/>
            </a:solidFill>
            <a:prstDash val="solid"/>
          </a:ln>
          <a:effectLst>
            <a:outerShdw sx="100000" sy="100000" kx="0" ky="0" algn="bl" rotWithShape="0" blurRad="76200" dist="25400" dir="5400000">
              <a:srgbClr val="1E3A3C">
                <a:alpha val="10000"/>
              </a:srgbClr>
            </a:outerShdw>
          </a:effectLst>
        </p:spPr>
      </p:sp>
      <p:sp>
        <p:nvSpPr>
          <p:cNvPr id="19" name="Shape 17"/>
          <p:cNvSpPr/>
          <p:nvPr/>
        </p:nvSpPr>
        <p:spPr>
          <a:xfrm>
            <a:off x="7223760" y="2103120"/>
            <a:ext cx="502920" cy="502920"/>
          </a:xfrm>
          <a:prstGeom prst="ellipse">
            <a:avLst/>
          </a:prstGeom>
          <a:solidFill>
            <a:srgbClr val="02C39A"/>
          </a:solidFill>
          <a:ln/>
        </p:spPr>
      </p:sp>
      <p:sp>
        <p:nvSpPr>
          <p:cNvPr id="20" name="Text 18"/>
          <p:cNvSpPr/>
          <p:nvPr/>
        </p:nvSpPr>
        <p:spPr>
          <a:xfrm>
            <a:off x="7223760" y="21031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Text 19"/>
          <p:cNvSpPr/>
          <p:nvPr/>
        </p:nvSpPr>
        <p:spPr>
          <a:xfrm>
            <a:off x="6355080" y="2788920"/>
            <a:ext cx="2240280" cy="594360"/>
          </a:xfrm>
          <a:prstGeom prst="rect">
            <a:avLst/>
          </a:prstGeom>
          <a:noFill/>
          <a:ln/>
        </p:spPr>
        <p:txBody>
          <a:bodyPr wrap="square" lIns="0" tIns="0" rIns="0" bIns="0" rtlCol="0" anchor="ctr"/>
          <a:lstStyle/>
          <a:p>
            <a:pPr algn="ctr" indent="0" marL="0">
              <a:buNone/>
            </a:pPr>
            <a:r>
              <a:rPr lang="en-US" sz="1400" b="1" dirty="0">
                <a:solidFill>
                  <a:srgbClr val="0B2B2E"/>
                </a:solidFill>
                <a:latin typeface="Cambria" pitchFamily="34" charset="0"/>
                <a:ea typeface="Cambria" pitchFamily="34" charset="-122"/>
                <a:cs typeface="Cambria" pitchFamily="34" charset="-120"/>
              </a:rPr>
              <a:t>Local Repository</a:t>
            </a:r>
            <a:endParaRPr lang="en-US" sz="1400" dirty="0"/>
          </a:p>
        </p:txBody>
      </p:sp>
      <p:sp>
        <p:nvSpPr>
          <p:cNvPr id="22" name="Text 20"/>
          <p:cNvSpPr/>
          <p:nvPr/>
        </p:nvSpPr>
        <p:spPr>
          <a:xfrm>
            <a:off x="6355080" y="3337560"/>
            <a:ext cx="2240280" cy="548640"/>
          </a:xfrm>
          <a:prstGeom prst="rect">
            <a:avLst/>
          </a:prstGeom>
          <a:noFill/>
          <a:ln/>
        </p:spPr>
        <p:txBody>
          <a:bodyPr wrap="square" lIns="0" tIns="0" rIns="0" bIns="0" rtlCol="0" anchor="ctr"/>
          <a:lstStyle/>
          <a:p>
            <a:pPr algn="ctr" indent="0" marL="0">
              <a:buNone/>
            </a:pPr>
            <a:r>
              <a:rPr lang="en-US" sz="1150" dirty="0">
                <a:solidFill>
                  <a:srgbClr val="5C7C7E"/>
                </a:solidFill>
                <a:latin typeface="Calibri" pitchFamily="34" charset="0"/>
                <a:ea typeface="Calibri" pitchFamily="34" charset="-122"/>
                <a:cs typeface="Calibri" pitchFamily="34" charset="-120"/>
              </a:rPr>
              <a:t>Save changes permanently</a:t>
            </a:r>
            <a:endParaRPr lang="en-US" sz="1150" dirty="0"/>
          </a:p>
        </p:txBody>
      </p:sp>
      <p:sp>
        <p:nvSpPr>
          <p:cNvPr id="23" name="Shape 21"/>
          <p:cNvSpPr/>
          <p:nvPr/>
        </p:nvSpPr>
        <p:spPr>
          <a:xfrm>
            <a:off x="6492240" y="3886200"/>
            <a:ext cx="1965960" cy="384048"/>
          </a:xfrm>
          <a:prstGeom prst="roundRect">
            <a:avLst>
              <a:gd name="adj" fmla="val 14286"/>
            </a:avLst>
          </a:prstGeom>
          <a:solidFill>
            <a:srgbClr val="E6F4F3"/>
          </a:solidFill>
          <a:ln/>
        </p:spPr>
      </p:sp>
      <p:sp>
        <p:nvSpPr>
          <p:cNvPr id="24" name="Text 22"/>
          <p:cNvSpPr/>
          <p:nvPr/>
        </p:nvSpPr>
        <p:spPr>
          <a:xfrm>
            <a:off x="6492240" y="3886200"/>
            <a:ext cx="1965960" cy="384048"/>
          </a:xfrm>
          <a:prstGeom prst="rect">
            <a:avLst/>
          </a:prstGeom>
          <a:noFill/>
          <a:ln/>
        </p:spPr>
        <p:txBody>
          <a:bodyPr wrap="square" lIns="0" tIns="0" rIns="0" bIns="0" rtlCol="0" anchor="ctr"/>
          <a:lstStyle/>
          <a:p>
            <a:pPr algn="ctr" indent="0" marL="0">
              <a:buNone/>
            </a:pPr>
            <a:r>
              <a:rPr lang="en-US" sz="1150" b="1" dirty="0">
                <a:solidFill>
                  <a:srgbClr val="028090"/>
                </a:solidFill>
                <a:latin typeface="Courier New" pitchFamily="34" charset="0"/>
                <a:ea typeface="Courier New" pitchFamily="34" charset="-122"/>
                <a:cs typeface="Courier New" pitchFamily="34" charset="-120"/>
              </a:rPr>
              <a:t>git commit</a:t>
            </a:r>
            <a:endParaRPr lang="en-US" sz="1150" dirty="0"/>
          </a:p>
        </p:txBody>
      </p:sp>
      <p:sp>
        <p:nvSpPr>
          <p:cNvPr id="25" name="Text 23"/>
          <p:cNvSpPr/>
          <p:nvPr/>
        </p:nvSpPr>
        <p:spPr>
          <a:xfrm>
            <a:off x="8732520" y="2834640"/>
            <a:ext cx="320040" cy="640080"/>
          </a:xfrm>
          <a:prstGeom prst="rect">
            <a:avLst/>
          </a:prstGeom>
          <a:noFill/>
          <a:ln/>
        </p:spPr>
        <p:txBody>
          <a:bodyPr wrap="square" lIns="0" tIns="0" rIns="0" bIns="0" rtlCol="0" anchor="ctr"/>
          <a:lstStyle/>
          <a:p>
            <a:pPr algn="ctr" indent="0" marL="0">
              <a:buNone/>
            </a:pPr>
            <a:r>
              <a:rPr lang="en-US" sz="2200" b="1" dirty="0">
                <a:solidFill>
                  <a:srgbClr val="00A896"/>
                </a:solidFill>
                <a:latin typeface="Calibri" pitchFamily="34" charset="0"/>
                <a:ea typeface="Calibri" pitchFamily="34" charset="-122"/>
                <a:cs typeface="Calibri" pitchFamily="34" charset="-120"/>
              </a:rPr>
              <a:t>→</a:t>
            </a:r>
            <a:endParaRPr lang="en-US" sz="2200" dirty="0"/>
          </a:p>
        </p:txBody>
      </p:sp>
      <p:sp>
        <p:nvSpPr>
          <p:cNvPr id="26" name="Shape 24"/>
          <p:cNvSpPr/>
          <p:nvPr/>
        </p:nvSpPr>
        <p:spPr>
          <a:xfrm>
            <a:off x="9052560" y="1828800"/>
            <a:ext cx="2514600" cy="2651760"/>
          </a:xfrm>
          <a:prstGeom prst="roundRect">
            <a:avLst>
              <a:gd name="adj" fmla="val 3636"/>
            </a:avLst>
          </a:prstGeom>
          <a:solidFill>
            <a:srgbClr val="012E33"/>
          </a:solidFill>
          <a:ln w="12700">
            <a:solidFill>
              <a:srgbClr val="D7E9E8"/>
            </a:solidFill>
            <a:prstDash val="solid"/>
          </a:ln>
          <a:effectLst>
            <a:outerShdw sx="100000" sy="100000" kx="0" ky="0" algn="bl" rotWithShape="0" blurRad="76200" dist="25400" dir="5400000">
              <a:srgbClr val="1E3A3C">
                <a:alpha val="10000"/>
              </a:srgbClr>
            </a:outerShdw>
          </a:effectLst>
        </p:spPr>
      </p:sp>
      <p:sp>
        <p:nvSpPr>
          <p:cNvPr id="27" name="Shape 25"/>
          <p:cNvSpPr/>
          <p:nvPr/>
        </p:nvSpPr>
        <p:spPr>
          <a:xfrm>
            <a:off x="10058400" y="2103120"/>
            <a:ext cx="502920" cy="502920"/>
          </a:xfrm>
          <a:prstGeom prst="ellipse">
            <a:avLst/>
          </a:prstGeom>
          <a:solidFill>
            <a:srgbClr val="028090"/>
          </a:solidFill>
          <a:ln/>
        </p:spPr>
      </p:sp>
      <p:sp>
        <p:nvSpPr>
          <p:cNvPr id="28" name="Text 26"/>
          <p:cNvSpPr/>
          <p:nvPr/>
        </p:nvSpPr>
        <p:spPr>
          <a:xfrm>
            <a:off x="10058400" y="21031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Text 27"/>
          <p:cNvSpPr/>
          <p:nvPr/>
        </p:nvSpPr>
        <p:spPr>
          <a:xfrm>
            <a:off x="9189720" y="2788920"/>
            <a:ext cx="224028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GitHub</a:t>
            </a:r>
            <a:endParaRPr lang="en-US" sz="1400" dirty="0"/>
          </a:p>
        </p:txBody>
      </p:sp>
      <p:sp>
        <p:nvSpPr>
          <p:cNvPr id="30" name="Text 28"/>
          <p:cNvSpPr/>
          <p:nvPr/>
        </p:nvSpPr>
        <p:spPr>
          <a:xfrm>
            <a:off x="9189720" y="3337560"/>
            <a:ext cx="2240280" cy="548640"/>
          </a:xfrm>
          <a:prstGeom prst="rect">
            <a:avLst/>
          </a:prstGeom>
          <a:noFill/>
          <a:ln/>
        </p:spPr>
        <p:txBody>
          <a:bodyPr wrap="square" lIns="0" tIns="0" rIns="0" bIns="0" rtlCol="0" anchor="ctr"/>
          <a:lstStyle/>
          <a:p>
            <a:pPr algn="ctr" indent="0" marL="0">
              <a:buNone/>
            </a:pPr>
            <a:r>
              <a:rPr lang="en-US" sz="1150" dirty="0">
                <a:solidFill>
                  <a:srgbClr val="F4FAF9"/>
                </a:solidFill>
                <a:latin typeface="Calibri" pitchFamily="34" charset="0"/>
                <a:ea typeface="Calibri" pitchFamily="34" charset="-122"/>
                <a:cs typeface="Calibri" pitchFamily="34" charset="-120"/>
              </a:rPr>
              <a:t>Upload commits online</a:t>
            </a:r>
            <a:endParaRPr lang="en-US" sz="1150" dirty="0"/>
          </a:p>
        </p:txBody>
      </p:sp>
      <p:sp>
        <p:nvSpPr>
          <p:cNvPr id="31" name="Shape 29"/>
          <p:cNvSpPr/>
          <p:nvPr/>
        </p:nvSpPr>
        <p:spPr>
          <a:xfrm>
            <a:off x="9326880" y="3886200"/>
            <a:ext cx="1965960" cy="384048"/>
          </a:xfrm>
          <a:prstGeom prst="roundRect">
            <a:avLst>
              <a:gd name="adj" fmla="val 14286"/>
            </a:avLst>
          </a:prstGeom>
          <a:solidFill>
            <a:srgbClr val="00A896"/>
          </a:solidFill>
          <a:ln/>
        </p:spPr>
      </p:sp>
      <p:sp>
        <p:nvSpPr>
          <p:cNvPr id="32" name="Text 30"/>
          <p:cNvSpPr/>
          <p:nvPr/>
        </p:nvSpPr>
        <p:spPr>
          <a:xfrm>
            <a:off x="9326880" y="3886200"/>
            <a:ext cx="196596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git push</a:t>
            </a:r>
            <a:endParaRPr lang="en-US" sz="1150" dirty="0"/>
          </a:p>
        </p:txBody>
      </p:sp>
      <p:sp>
        <p:nvSpPr>
          <p:cNvPr id="33" name="Text 31"/>
          <p:cNvSpPr/>
          <p:nvPr/>
        </p:nvSpPr>
        <p:spPr>
          <a:xfrm>
            <a:off x="548640" y="4892040"/>
            <a:ext cx="11064240" cy="457200"/>
          </a:xfrm>
          <a:prstGeom prst="rect">
            <a:avLst/>
          </a:prstGeom>
          <a:noFill/>
          <a:ln/>
        </p:spPr>
        <p:txBody>
          <a:bodyPr wrap="square" lIns="0" tIns="0" rIns="0" bIns="0" rtlCol="0" anchor="ctr"/>
          <a:lstStyle/>
          <a:p>
            <a:pPr algn="ctr" indent="0" marL="0">
              <a:buNone/>
            </a:pPr>
            <a:r>
              <a:rPr lang="en-US" sz="1350" i="1" dirty="0">
                <a:solidFill>
                  <a:srgbClr val="5C7C7E"/>
                </a:solidFill>
                <a:latin typeface="Calibri" pitchFamily="34" charset="0"/>
                <a:ea typeface="Calibri" pitchFamily="34" charset="-122"/>
                <a:cs typeface="Calibri" pitchFamily="34" charset="-120"/>
              </a:rPr>
              <a:t>This cycle repeats every day during software development.</a:t>
            </a:r>
            <a:endParaRPr lang="en-US" sz="1350" dirty="0"/>
          </a:p>
        </p:txBody>
      </p:sp>
      <p:sp>
        <p:nvSpPr>
          <p:cNvPr id="34" name="Shape 32"/>
          <p:cNvSpPr/>
          <p:nvPr/>
        </p:nvSpPr>
        <p:spPr>
          <a:xfrm>
            <a:off x="548640" y="5486400"/>
            <a:ext cx="11064240" cy="914400"/>
          </a:xfrm>
          <a:prstGeom prst="roundRect">
            <a:avLst>
              <a:gd name="adj" fmla="val 10000"/>
            </a:avLst>
          </a:prstGeom>
          <a:solidFill>
            <a:srgbClr val="E6F4F3"/>
          </a:solidFill>
          <a:ln/>
        </p:spPr>
      </p:sp>
      <p:sp>
        <p:nvSpPr>
          <p:cNvPr id="35" name="Text 33"/>
          <p:cNvSpPr/>
          <p:nvPr/>
        </p:nvSpPr>
        <p:spPr>
          <a:xfrm>
            <a:off x="685800" y="5486400"/>
            <a:ext cx="10789920" cy="914400"/>
          </a:xfrm>
          <a:prstGeom prst="rect">
            <a:avLst/>
          </a:prstGeom>
          <a:noFill/>
          <a:ln/>
        </p:spPr>
        <p:txBody>
          <a:bodyPr wrap="square" lIns="0" tIns="0" rIns="0" bIns="0" rtlCol="0" anchor="ctr"/>
          <a:lstStyle/>
          <a:p>
            <a:pPr indent="0" marL="0">
              <a:buNone/>
            </a:pPr>
            <a:r>
              <a:rPr lang="en-US" sz="1300" b="1" dirty="0">
                <a:solidFill>
                  <a:srgbClr val="0B2B2E"/>
                </a:solidFill>
                <a:latin typeface="Courier New" pitchFamily="34" charset="0"/>
                <a:ea typeface="Courier New" pitchFamily="34" charset="-122"/>
                <a:cs typeface="Courier New" pitchFamily="34" charset="-120"/>
              </a:rPr>
              <a:t>git init  →  edit files  →  git add .  →  git commit -m "message"  →  git push  →  repeat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548640" y="658368"/>
            <a:ext cx="10515600" cy="777240"/>
          </a:xfrm>
          <a:prstGeom prst="rect">
            <a:avLst/>
          </a:prstGeom>
          <a:noFill/>
          <a:ln/>
        </p:spPr>
        <p:txBody>
          <a:bodyPr wrap="square" lIns="0" tIns="0" rIns="0" bIns="0" rtlCol="0" anchor="ctr"/>
          <a:lstStyle/>
          <a:p>
            <a:pPr indent="0" marL="0">
              <a:buNone/>
            </a:pPr>
            <a:r>
              <a:rPr lang="en-US" sz="3000" b="1" dirty="0">
                <a:solidFill>
                  <a:srgbClr val="0B2B2E"/>
                </a:solidFill>
                <a:latin typeface="Cambria" pitchFamily="34" charset="0"/>
                <a:ea typeface="Cambria" pitchFamily="34" charset="-122"/>
                <a:cs typeface="Cambria" pitchFamily="34" charset="-120"/>
              </a:rPr>
              <a:t>Important Git Commands</a:t>
            </a:r>
            <a:endParaRPr lang="en-US" sz="3000" dirty="0"/>
          </a:p>
        </p:txBody>
      </p:sp>
      <p:sp>
        <p:nvSpPr>
          <p:cNvPr id="4" name="Shape 2"/>
          <p:cNvSpPr/>
          <p:nvPr/>
        </p:nvSpPr>
        <p:spPr>
          <a:xfrm>
            <a:off x="548640" y="1691640"/>
            <a:ext cx="3657600" cy="621792"/>
          </a:xfrm>
          <a:prstGeom prst="roundRect">
            <a:avLst>
              <a:gd name="adj" fmla="val 8824"/>
            </a:avLst>
          </a:prstGeom>
          <a:solidFill>
            <a:srgbClr val="FFFFFF"/>
          </a:solidFill>
          <a:ln w="12700">
            <a:solidFill>
              <a:srgbClr val="D7E9E8"/>
            </a:solidFill>
            <a:prstDash val="solid"/>
          </a:ln>
        </p:spPr>
      </p:sp>
      <p:sp>
        <p:nvSpPr>
          <p:cNvPr id="5" name="Shape 3"/>
          <p:cNvSpPr/>
          <p:nvPr/>
        </p:nvSpPr>
        <p:spPr>
          <a:xfrm>
            <a:off x="548640" y="1691640"/>
            <a:ext cx="1234440" cy="621792"/>
          </a:xfrm>
          <a:prstGeom prst="rect">
            <a:avLst/>
          </a:prstGeom>
          <a:solidFill>
            <a:srgbClr val="012E33"/>
          </a:solidFill>
          <a:ln/>
        </p:spPr>
      </p:sp>
      <p:sp>
        <p:nvSpPr>
          <p:cNvPr id="6" name="Text 4"/>
          <p:cNvSpPr/>
          <p:nvPr/>
        </p:nvSpPr>
        <p:spPr>
          <a:xfrm>
            <a:off x="548640" y="1691640"/>
            <a:ext cx="1234440" cy="621792"/>
          </a:xfrm>
          <a:prstGeom prst="rect">
            <a:avLst/>
          </a:prstGeom>
          <a:noFill/>
          <a:ln/>
        </p:spPr>
        <p:txBody>
          <a:bodyPr wrap="square" lIns="0" tIns="0" rIns="0" bIns="0" rtlCol="0" anchor="ctr"/>
          <a:lstStyle/>
          <a:p>
            <a:pPr algn="ctr" indent="0" marL="0">
              <a:buNone/>
            </a:pPr>
            <a:r>
              <a:rPr lang="en-US" sz="1100" b="1" dirty="0">
                <a:solidFill>
                  <a:srgbClr val="02C39A"/>
                </a:solidFill>
                <a:latin typeface="Courier New" pitchFamily="34" charset="0"/>
                <a:ea typeface="Courier New" pitchFamily="34" charset="-122"/>
                <a:cs typeface="Courier New" pitchFamily="34" charset="-120"/>
              </a:rPr>
              <a:t>git init</a:t>
            </a:r>
            <a:endParaRPr lang="en-US" sz="1100" dirty="0"/>
          </a:p>
        </p:txBody>
      </p:sp>
      <p:sp>
        <p:nvSpPr>
          <p:cNvPr id="7" name="Text 5"/>
          <p:cNvSpPr/>
          <p:nvPr/>
        </p:nvSpPr>
        <p:spPr>
          <a:xfrm>
            <a:off x="1874520" y="1691640"/>
            <a:ext cx="2240280" cy="621792"/>
          </a:xfrm>
          <a:prstGeom prst="rect">
            <a:avLst/>
          </a:prstGeom>
          <a:noFill/>
          <a:ln/>
        </p:spPr>
        <p:txBody>
          <a:bodyPr wrap="square" lIns="0" tIns="0" rIns="0" bIns="0" rtlCol="0" anchor="ctr"/>
          <a:lstStyle/>
          <a:p>
            <a:pPr indent="0" marL="0">
              <a:buNone/>
            </a:pPr>
            <a:r>
              <a:rPr lang="en-US" sz="1150" dirty="0">
                <a:solidFill>
                  <a:srgbClr val="0B2B2E"/>
                </a:solidFill>
                <a:latin typeface="Calibri" pitchFamily="34" charset="0"/>
                <a:ea typeface="Calibri" pitchFamily="34" charset="-122"/>
                <a:cs typeface="Calibri" pitchFamily="34" charset="-120"/>
              </a:rPr>
              <a:t>Creates a Git repository</a:t>
            </a:r>
            <a:endParaRPr lang="en-US" sz="1150" dirty="0"/>
          </a:p>
        </p:txBody>
      </p:sp>
      <p:sp>
        <p:nvSpPr>
          <p:cNvPr id="8" name="Shape 6"/>
          <p:cNvSpPr/>
          <p:nvPr/>
        </p:nvSpPr>
        <p:spPr>
          <a:xfrm>
            <a:off x="4343400" y="1691640"/>
            <a:ext cx="3657600" cy="621792"/>
          </a:xfrm>
          <a:prstGeom prst="roundRect">
            <a:avLst>
              <a:gd name="adj" fmla="val 8824"/>
            </a:avLst>
          </a:prstGeom>
          <a:solidFill>
            <a:srgbClr val="FFFFFF"/>
          </a:solidFill>
          <a:ln w="12700">
            <a:solidFill>
              <a:srgbClr val="D7E9E8"/>
            </a:solidFill>
            <a:prstDash val="solid"/>
          </a:ln>
        </p:spPr>
      </p:sp>
      <p:sp>
        <p:nvSpPr>
          <p:cNvPr id="9" name="Shape 7"/>
          <p:cNvSpPr/>
          <p:nvPr/>
        </p:nvSpPr>
        <p:spPr>
          <a:xfrm>
            <a:off x="4343400" y="1691640"/>
            <a:ext cx="1234440" cy="621792"/>
          </a:xfrm>
          <a:prstGeom prst="rect">
            <a:avLst/>
          </a:prstGeom>
          <a:solidFill>
            <a:srgbClr val="012E33"/>
          </a:solidFill>
          <a:ln/>
        </p:spPr>
      </p:sp>
      <p:sp>
        <p:nvSpPr>
          <p:cNvPr id="10" name="Text 8"/>
          <p:cNvSpPr/>
          <p:nvPr/>
        </p:nvSpPr>
        <p:spPr>
          <a:xfrm>
            <a:off x="4343400" y="1691640"/>
            <a:ext cx="1234440" cy="621792"/>
          </a:xfrm>
          <a:prstGeom prst="rect">
            <a:avLst/>
          </a:prstGeom>
          <a:noFill/>
          <a:ln/>
        </p:spPr>
        <p:txBody>
          <a:bodyPr wrap="square" lIns="0" tIns="0" rIns="0" bIns="0" rtlCol="0" anchor="ctr"/>
          <a:lstStyle/>
          <a:p>
            <a:pPr algn="ctr" indent="0" marL="0">
              <a:buNone/>
            </a:pPr>
            <a:r>
              <a:rPr lang="en-US" sz="1100" b="1" dirty="0">
                <a:solidFill>
                  <a:srgbClr val="02C39A"/>
                </a:solidFill>
                <a:latin typeface="Courier New" pitchFamily="34" charset="0"/>
                <a:ea typeface="Courier New" pitchFamily="34" charset="-122"/>
                <a:cs typeface="Courier New" pitchFamily="34" charset="-120"/>
              </a:rPr>
              <a:t>git status</a:t>
            </a:r>
            <a:endParaRPr lang="en-US" sz="1100" dirty="0"/>
          </a:p>
        </p:txBody>
      </p:sp>
      <p:sp>
        <p:nvSpPr>
          <p:cNvPr id="11" name="Text 9"/>
          <p:cNvSpPr/>
          <p:nvPr/>
        </p:nvSpPr>
        <p:spPr>
          <a:xfrm>
            <a:off x="5669280" y="1691640"/>
            <a:ext cx="2240280" cy="621792"/>
          </a:xfrm>
          <a:prstGeom prst="rect">
            <a:avLst/>
          </a:prstGeom>
          <a:noFill/>
          <a:ln/>
        </p:spPr>
        <p:txBody>
          <a:bodyPr wrap="square" lIns="0" tIns="0" rIns="0" bIns="0" rtlCol="0" anchor="ctr"/>
          <a:lstStyle/>
          <a:p>
            <a:pPr indent="0" marL="0">
              <a:buNone/>
            </a:pPr>
            <a:r>
              <a:rPr lang="en-US" sz="1150" dirty="0">
                <a:solidFill>
                  <a:srgbClr val="0B2B2E"/>
                </a:solidFill>
                <a:latin typeface="Calibri" pitchFamily="34" charset="0"/>
                <a:ea typeface="Calibri" pitchFamily="34" charset="-122"/>
                <a:cs typeface="Calibri" pitchFamily="34" charset="-120"/>
              </a:rPr>
              <a:t>Shows current project status</a:t>
            </a:r>
            <a:endParaRPr lang="en-US" sz="1150" dirty="0"/>
          </a:p>
        </p:txBody>
      </p:sp>
      <p:sp>
        <p:nvSpPr>
          <p:cNvPr id="12" name="Shape 10"/>
          <p:cNvSpPr/>
          <p:nvPr/>
        </p:nvSpPr>
        <p:spPr>
          <a:xfrm>
            <a:off x="8138160" y="1691640"/>
            <a:ext cx="3657600" cy="621792"/>
          </a:xfrm>
          <a:prstGeom prst="roundRect">
            <a:avLst>
              <a:gd name="adj" fmla="val 8824"/>
            </a:avLst>
          </a:prstGeom>
          <a:solidFill>
            <a:srgbClr val="FFFFFF"/>
          </a:solidFill>
          <a:ln w="12700">
            <a:solidFill>
              <a:srgbClr val="D7E9E8"/>
            </a:solidFill>
            <a:prstDash val="solid"/>
          </a:ln>
        </p:spPr>
      </p:sp>
      <p:sp>
        <p:nvSpPr>
          <p:cNvPr id="13" name="Shape 11"/>
          <p:cNvSpPr/>
          <p:nvPr/>
        </p:nvSpPr>
        <p:spPr>
          <a:xfrm>
            <a:off x="8138160" y="1691640"/>
            <a:ext cx="1234440" cy="621792"/>
          </a:xfrm>
          <a:prstGeom prst="rect">
            <a:avLst/>
          </a:prstGeom>
          <a:solidFill>
            <a:srgbClr val="012E33"/>
          </a:solidFill>
          <a:ln/>
        </p:spPr>
      </p:sp>
      <p:sp>
        <p:nvSpPr>
          <p:cNvPr id="14" name="Text 12"/>
          <p:cNvSpPr/>
          <p:nvPr/>
        </p:nvSpPr>
        <p:spPr>
          <a:xfrm>
            <a:off x="8138160" y="1691640"/>
            <a:ext cx="1234440" cy="621792"/>
          </a:xfrm>
          <a:prstGeom prst="rect">
            <a:avLst/>
          </a:prstGeom>
          <a:noFill/>
          <a:ln/>
        </p:spPr>
        <p:txBody>
          <a:bodyPr wrap="square" lIns="0" tIns="0" rIns="0" bIns="0" rtlCol="0" anchor="ctr"/>
          <a:lstStyle/>
          <a:p>
            <a:pPr algn="ctr" indent="0" marL="0">
              <a:buNone/>
            </a:pPr>
            <a:r>
              <a:rPr lang="en-US" sz="1100" b="1" dirty="0">
                <a:solidFill>
                  <a:srgbClr val="02C39A"/>
                </a:solidFill>
                <a:latin typeface="Courier New" pitchFamily="34" charset="0"/>
                <a:ea typeface="Courier New" pitchFamily="34" charset="-122"/>
                <a:cs typeface="Courier New" pitchFamily="34" charset="-120"/>
              </a:rPr>
              <a:t>git add</a:t>
            </a:r>
            <a:endParaRPr lang="en-US" sz="1100" dirty="0"/>
          </a:p>
        </p:txBody>
      </p:sp>
      <p:sp>
        <p:nvSpPr>
          <p:cNvPr id="15" name="Text 13"/>
          <p:cNvSpPr/>
          <p:nvPr/>
        </p:nvSpPr>
        <p:spPr>
          <a:xfrm>
            <a:off x="9464040" y="1691640"/>
            <a:ext cx="2240280" cy="621792"/>
          </a:xfrm>
          <a:prstGeom prst="rect">
            <a:avLst/>
          </a:prstGeom>
          <a:noFill/>
          <a:ln/>
        </p:spPr>
        <p:txBody>
          <a:bodyPr wrap="square" lIns="0" tIns="0" rIns="0" bIns="0" rtlCol="0" anchor="ctr"/>
          <a:lstStyle/>
          <a:p>
            <a:pPr indent="0" marL="0">
              <a:buNone/>
            </a:pPr>
            <a:r>
              <a:rPr lang="en-US" sz="1150" dirty="0">
                <a:solidFill>
                  <a:srgbClr val="0B2B2E"/>
                </a:solidFill>
                <a:latin typeface="Calibri" pitchFamily="34" charset="0"/>
                <a:ea typeface="Calibri" pitchFamily="34" charset="-122"/>
                <a:cs typeface="Calibri" pitchFamily="34" charset="-120"/>
              </a:rPr>
              <a:t>Moves files to staging area</a:t>
            </a:r>
            <a:endParaRPr lang="en-US" sz="1150" dirty="0"/>
          </a:p>
        </p:txBody>
      </p:sp>
      <p:sp>
        <p:nvSpPr>
          <p:cNvPr id="16" name="Shape 14"/>
          <p:cNvSpPr/>
          <p:nvPr/>
        </p:nvSpPr>
        <p:spPr>
          <a:xfrm>
            <a:off x="548640" y="2423160"/>
            <a:ext cx="3657600" cy="621792"/>
          </a:xfrm>
          <a:prstGeom prst="roundRect">
            <a:avLst>
              <a:gd name="adj" fmla="val 8824"/>
            </a:avLst>
          </a:prstGeom>
          <a:solidFill>
            <a:srgbClr val="FFFFFF"/>
          </a:solidFill>
          <a:ln w="12700">
            <a:solidFill>
              <a:srgbClr val="D7E9E8"/>
            </a:solidFill>
            <a:prstDash val="solid"/>
          </a:ln>
        </p:spPr>
      </p:sp>
      <p:sp>
        <p:nvSpPr>
          <p:cNvPr id="17" name="Shape 15"/>
          <p:cNvSpPr/>
          <p:nvPr/>
        </p:nvSpPr>
        <p:spPr>
          <a:xfrm>
            <a:off x="548640" y="2423160"/>
            <a:ext cx="1234440" cy="621792"/>
          </a:xfrm>
          <a:prstGeom prst="rect">
            <a:avLst/>
          </a:prstGeom>
          <a:solidFill>
            <a:srgbClr val="012E33"/>
          </a:solidFill>
          <a:ln/>
        </p:spPr>
      </p:sp>
      <p:sp>
        <p:nvSpPr>
          <p:cNvPr id="18" name="Text 16"/>
          <p:cNvSpPr/>
          <p:nvPr/>
        </p:nvSpPr>
        <p:spPr>
          <a:xfrm>
            <a:off x="548640" y="2423160"/>
            <a:ext cx="1234440" cy="621792"/>
          </a:xfrm>
          <a:prstGeom prst="rect">
            <a:avLst/>
          </a:prstGeom>
          <a:noFill/>
          <a:ln/>
        </p:spPr>
        <p:txBody>
          <a:bodyPr wrap="square" lIns="0" tIns="0" rIns="0" bIns="0" rtlCol="0" anchor="ctr"/>
          <a:lstStyle/>
          <a:p>
            <a:pPr algn="ctr" indent="0" marL="0">
              <a:buNone/>
            </a:pPr>
            <a:r>
              <a:rPr lang="en-US" sz="1100" b="1" dirty="0">
                <a:solidFill>
                  <a:srgbClr val="02C39A"/>
                </a:solidFill>
                <a:latin typeface="Courier New" pitchFamily="34" charset="0"/>
                <a:ea typeface="Courier New" pitchFamily="34" charset="-122"/>
                <a:cs typeface="Courier New" pitchFamily="34" charset="-120"/>
              </a:rPr>
              <a:t>git commit</a:t>
            </a:r>
            <a:endParaRPr lang="en-US" sz="1100" dirty="0"/>
          </a:p>
        </p:txBody>
      </p:sp>
      <p:sp>
        <p:nvSpPr>
          <p:cNvPr id="19" name="Text 17"/>
          <p:cNvSpPr/>
          <p:nvPr/>
        </p:nvSpPr>
        <p:spPr>
          <a:xfrm>
            <a:off x="1874520" y="2423160"/>
            <a:ext cx="2240280" cy="621792"/>
          </a:xfrm>
          <a:prstGeom prst="rect">
            <a:avLst/>
          </a:prstGeom>
          <a:noFill/>
          <a:ln/>
        </p:spPr>
        <p:txBody>
          <a:bodyPr wrap="square" lIns="0" tIns="0" rIns="0" bIns="0" rtlCol="0" anchor="ctr"/>
          <a:lstStyle/>
          <a:p>
            <a:pPr indent="0" marL="0">
              <a:buNone/>
            </a:pPr>
            <a:r>
              <a:rPr lang="en-US" sz="1150" dirty="0">
                <a:solidFill>
                  <a:srgbClr val="0B2B2E"/>
                </a:solidFill>
                <a:latin typeface="Calibri" pitchFamily="34" charset="0"/>
                <a:ea typeface="Calibri" pitchFamily="34" charset="-122"/>
                <a:cs typeface="Calibri" pitchFamily="34" charset="-120"/>
              </a:rPr>
              <a:t>Saves changes permanently</a:t>
            </a:r>
            <a:endParaRPr lang="en-US" sz="1150" dirty="0"/>
          </a:p>
        </p:txBody>
      </p:sp>
      <p:sp>
        <p:nvSpPr>
          <p:cNvPr id="20" name="Shape 18"/>
          <p:cNvSpPr/>
          <p:nvPr/>
        </p:nvSpPr>
        <p:spPr>
          <a:xfrm>
            <a:off x="4343400" y="2423160"/>
            <a:ext cx="3657600" cy="621792"/>
          </a:xfrm>
          <a:prstGeom prst="roundRect">
            <a:avLst>
              <a:gd name="adj" fmla="val 8824"/>
            </a:avLst>
          </a:prstGeom>
          <a:solidFill>
            <a:srgbClr val="FFFFFF"/>
          </a:solidFill>
          <a:ln w="12700">
            <a:solidFill>
              <a:srgbClr val="D7E9E8"/>
            </a:solidFill>
            <a:prstDash val="solid"/>
          </a:ln>
        </p:spPr>
      </p:sp>
      <p:sp>
        <p:nvSpPr>
          <p:cNvPr id="21" name="Shape 19"/>
          <p:cNvSpPr/>
          <p:nvPr/>
        </p:nvSpPr>
        <p:spPr>
          <a:xfrm>
            <a:off x="4343400" y="2423160"/>
            <a:ext cx="1234440" cy="621792"/>
          </a:xfrm>
          <a:prstGeom prst="rect">
            <a:avLst/>
          </a:prstGeom>
          <a:solidFill>
            <a:srgbClr val="012E33"/>
          </a:solidFill>
          <a:ln/>
        </p:spPr>
      </p:sp>
      <p:sp>
        <p:nvSpPr>
          <p:cNvPr id="22" name="Text 20"/>
          <p:cNvSpPr/>
          <p:nvPr/>
        </p:nvSpPr>
        <p:spPr>
          <a:xfrm>
            <a:off x="4343400" y="2423160"/>
            <a:ext cx="1234440" cy="621792"/>
          </a:xfrm>
          <a:prstGeom prst="rect">
            <a:avLst/>
          </a:prstGeom>
          <a:noFill/>
          <a:ln/>
        </p:spPr>
        <p:txBody>
          <a:bodyPr wrap="square" lIns="0" tIns="0" rIns="0" bIns="0" rtlCol="0" anchor="ctr"/>
          <a:lstStyle/>
          <a:p>
            <a:pPr algn="ctr" indent="0" marL="0">
              <a:buNone/>
            </a:pPr>
            <a:r>
              <a:rPr lang="en-US" sz="1100" b="1" dirty="0">
                <a:solidFill>
                  <a:srgbClr val="02C39A"/>
                </a:solidFill>
                <a:latin typeface="Courier New" pitchFamily="34" charset="0"/>
                <a:ea typeface="Courier New" pitchFamily="34" charset="-122"/>
                <a:cs typeface="Courier New" pitchFamily="34" charset="-120"/>
              </a:rPr>
              <a:t>git log</a:t>
            </a:r>
            <a:endParaRPr lang="en-US" sz="1100" dirty="0"/>
          </a:p>
        </p:txBody>
      </p:sp>
      <p:sp>
        <p:nvSpPr>
          <p:cNvPr id="23" name="Text 21"/>
          <p:cNvSpPr/>
          <p:nvPr/>
        </p:nvSpPr>
        <p:spPr>
          <a:xfrm>
            <a:off x="5669280" y="2423160"/>
            <a:ext cx="2240280" cy="621792"/>
          </a:xfrm>
          <a:prstGeom prst="rect">
            <a:avLst/>
          </a:prstGeom>
          <a:noFill/>
          <a:ln/>
        </p:spPr>
        <p:txBody>
          <a:bodyPr wrap="square" lIns="0" tIns="0" rIns="0" bIns="0" rtlCol="0" anchor="ctr"/>
          <a:lstStyle/>
          <a:p>
            <a:pPr indent="0" marL="0">
              <a:buNone/>
            </a:pPr>
            <a:r>
              <a:rPr lang="en-US" sz="1150" dirty="0">
                <a:solidFill>
                  <a:srgbClr val="0B2B2E"/>
                </a:solidFill>
                <a:latin typeface="Calibri" pitchFamily="34" charset="0"/>
                <a:ea typeface="Calibri" pitchFamily="34" charset="-122"/>
                <a:cs typeface="Calibri" pitchFamily="34" charset="-120"/>
              </a:rPr>
              <a:t>Shows commit history</a:t>
            </a:r>
            <a:endParaRPr lang="en-US" sz="1150" dirty="0"/>
          </a:p>
        </p:txBody>
      </p:sp>
      <p:sp>
        <p:nvSpPr>
          <p:cNvPr id="24" name="Shape 22"/>
          <p:cNvSpPr/>
          <p:nvPr/>
        </p:nvSpPr>
        <p:spPr>
          <a:xfrm>
            <a:off x="8138160" y="2423160"/>
            <a:ext cx="3657600" cy="621792"/>
          </a:xfrm>
          <a:prstGeom prst="roundRect">
            <a:avLst>
              <a:gd name="adj" fmla="val 8824"/>
            </a:avLst>
          </a:prstGeom>
          <a:solidFill>
            <a:srgbClr val="FFFFFF"/>
          </a:solidFill>
          <a:ln w="12700">
            <a:solidFill>
              <a:srgbClr val="D7E9E8"/>
            </a:solidFill>
            <a:prstDash val="solid"/>
          </a:ln>
        </p:spPr>
      </p:sp>
      <p:sp>
        <p:nvSpPr>
          <p:cNvPr id="25" name="Shape 23"/>
          <p:cNvSpPr/>
          <p:nvPr/>
        </p:nvSpPr>
        <p:spPr>
          <a:xfrm>
            <a:off x="8138160" y="2423160"/>
            <a:ext cx="1234440" cy="621792"/>
          </a:xfrm>
          <a:prstGeom prst="rect">
            <a:avLst/>
          </a:prstGeom>
          <a:solidFill>
            <a:srgbClr val="012E33"/>
          </a:solidFill>
          <a:ln/>
        </p:spPr>
      </p:sp>
      <p:sp>
        <p:nvSpPr>
          <p:cNvPr id="26" name="Text 24"/>
          <p:cNvSpPr/>
          <p:nvPr/>
        </p:nvSpPr>
        <p:spPr>
          <a:xfrm>
            <a:off x="8138160" y="2423160"/>
            <a:ext cx="1234440" cy="621792"/>
          </a:xfrm>
          <a:prstGeom prst="rect">
            <a:avLst/>
          </a:prstGeom>
          <a:noFill/>
          <a:ln/>
        </p:spPr>
        <p:txBody>
          <a:bodyPr wrap="square" lIns="0" tIns="0" rIns="0" bIns="0" rtlCol="0" anchor="ctr"/>
          <a:lstStyle/>
          <a:p>
            <a:pPr algn="ctr" indent="0" marL="0">
              <a:buNone/>
            </a:pPr>
            <a:r>
              <a:rPr lang="en-US" sz="1100" b="1" dirty="0">
                <a:solidFill>
                  <a:srgbClr val="02C39A"/>
                </a:solidFill>
                <a:latin typeface="Courier New" pitchFamily="34" charset="0"/>
                <a:ea typeface="Courier New" pitchFamily="34" charset="-122"/>
                <a:cs typeface="Courier New" pitchFamily="34" charset="-120"/>
              </a:rPr>
              <a:t>git branch</a:t>
            </a:r>
            <a:endParaRPr lang="en-US" sz="1100" dirty="0"/>
          </a:p>
        </p:txBody>
      </p:sp>
      <p:sp>
        <p:nvSpPr>
          <p:cNvPr id="27" name="Text 25"/>
          <p:cNvSpPr/>
          <p:nvPr/>
        </p:nvSpPr>
        <p:spPr>
          <a:xfrm>
            <a:off x="9464040" y="2423160"/>
            <a:ext cx="2240280" cy="621792"/>
          </a:xfrm>
          <a:prstGeom prst="rect">
            <a:avLst/>
          </a:prstGeom>
          <a:noFill/>
          <a:ln/>
        </p:spPr>
        <p:txBody>
          <a:bodyPr wrap="square" lIns="0" tIns="0" rIns="0" bIns="0" rtlCol="0" anchor="ctr"/>
          <a:lstStyle/>
          <a:p>
            <a:pPr indent="0" marL="0">
              <a:buNone/>
            </a:pPr>
            <a:r>
              <a:rPr lang="en-US" sz="1150" dirty="0">
                <a:solidFill>
                  <a:srgbClr val="0B2B2E"/>
                </a:solidFill>
                <a:latin typeface="Calibri" pitchFamily="34" charset="0"/>
                <a:ea typeface="Calibri" pitchFamily="34" charset="-122"/>
                <a:cs typeface="Calibri" pitchFamily="34" charset="-120"/>
              </a:rPr>
              <a:t>Lists branches</a:t>
            </a:r>
            <a:endParaRPr lang="en-US" sz="1150" dirty="0"/>
          </a:p>
        </p:txBody>
      </p:sp>
      <p:sp>
        <p:nvSpPr>
          <p:cNvPr id="28" name="Shape 26"/>
          <p:cNvSpPr/>
          <p:nvPr/>
        </p:nvSpPr>
        <p:spPr>
          <a:xfrm>
            <a:off x="548640" y="3154680"/>
            <a:ext cx="3657600" cy="621792"/>
          </a:xfrm>
          <a:prstGeom prst="roundRect">
            <a:avLst>
              <a:gd name="adj" fmla="val 8824"/>
            </a:avLst>
          </a:prstGeom>
          <a:solidFill>
            <a:srgbClr val="FFFFFF"/>
          </a:solidFill>
          <a:ln w="12700">
            <a:solidFill>
              <a:srgbClr val="D7E9E8"/>
            </a:solidFill>
            <a:prstDash val="solid"/>
          </a:ln>
        </p:spPr>
      </p:sp>
      <p:sp>
        <p:nvSpPr>
          <p:cNvPr id="29" name="Shape 27"/>
          <p:cNvSpPr/>
          <p:nvPr/>
        </p:nvSpPr>
        <p:spPr>
          <a:xfrm>
            <a:off x="548640" y="3154680"/>
            <a:ext cx="1234440" cy="621792"/>
          </a:xfrm>
          <a:prstGeom prst="rect">
            <a:avLst/>
          </a:prstGeom>
          <a:solidFill>
            <a:srgbClr val="012E33"/>
          </a:solidFill>
          <a:ln/>
        </p:spPr>
      </p:sp>
      <p:sp>
        <p:nvSpPr>
          <p:cNvPr id="30" name="Text 28"/>
          <p:cNvSpPr/>
          <p:nvPr/>
        </p:nvSpPr>
        <p:spPr>
          <a:xfrm>
            <a:off x="548640" y="3154680"/>
            <a:ext cx="1234440" cy="621792"/>
          </a:xfrm>
          <a:prstGeom prst="rect">
            <a:avLst/>
          </a:prstGeom>
          <a:noFill/>
          <a:ln/>
        </p:spPr>
        <p:txBody>
          <a:bodyPr wrap="square" lIns="0" tIns="0" rIns="0" bIns="0" rtlCol="0" anchor="ctr"/>
          <a:lstStyle/>
          <a:p>
            <a:pPr algn="ctr" indent="0" marL="0">
              <a:buNone/>
            </a:pPr>
            <a:r>
              <a:rPr lang="en-US" sz="1100" b="1" dirty="0">
                <a:solidFill>
                  <a:srgbClr val="02C39A"/>
                </a:solidFill>
                <a:latin typeface="Courier New" pitchFamily="34" charset="0"/>
                <a:ea typeface="Courier New" pitchFamily="34" charset="-122"/>
                <a:cs typeface="Courier New" pitchFamily="34" charset="-120"/>
              </a:rPr>
              <a:t>git checkout</a:t>
            </a:r>
            <a:endParaRPr lang="en-US" sz="1100" dirty="0"/>
          </a:p>
        </p:txBody>
      </p:sp>
      <p:sp>
        <p:nvSpPr>
          <p:cNvPr id="31" name="Text 29"/>
          <p:cNvSpPr/>
          <p:nvPr/>
        </p:nvSpPr>
        <p:spPr>
          <a:xfrm>
            <a:off x="1874520" y="3154680"/>
            <a:ext cx="2240280" cy="621792"/>
          </a:xfrm>
          <a:prstGeom prst="rect">
            <a:avLst/>
          </a:prstGeom>
          <a:noFill/>
          <a:ln/>
        </p:spPr>
        <p:txBody>
          <a:bodyPr wrap="square" lIns="0" tIns="0" rIns="0" bIns="0" rtlCol="0" anchor="ctr"/>
          <a:lstStyle/>
          <a:p>
            <a:pPr indent="0" marL="0">
              <a:buNone/>
            </a:pPr>
            <a:r>
              <a:rPr lang="en-US" sz="1150" dirty="0">
                <a:solidFill>
                  <a:srgbClr val="0B2B2E"/>
                </a:solidFill>
                <a:latin typeface="Calibri" pitchFamily="34" charset="0"/>
                <a:ea typeface="Calibri" pitchFamily="34" charset="-122"/>
                <a:cs typeface="Calibri" pitchFamily="34" charset="-120"/>
              </a:rPr>
              <a:t>Switches branches</a:t>
            </a:r>
            <a:endParaRPr lang="en-US" sz="1150" dirty="0"/>
          </a:p>
        </p:txBody>
      </p:sp>
      <p:sp>
        <p:nvSpPr>
          <p:cNvPr id="32" name="Shape 30"/>
          <p:cNvSpPr/>
          <p:nvPr/>
        </p:nvSpPr>
        <p:spPr>
          <a:xfrm>
            <a:off x="4343400" y="3154680"/>
            <a:ext cx="3657600" cy="621792"/>
          </a:xfrm>
          <a:prstGeom prst="roundRect">
            <a:avLst>
              <a:gd name="adj" fmla="val 8824"/>
            </a:avLst>
          </a:prstGeom>
          <a:solidFill>
            <a:srgbClr val="FFFFFF"/>
          </a:solidFill>
          <a:ln w="12700">
            <a:solidFill>
              <a:srgbClr val="D7E9E8"/>
            </a:solidFill>
            <a:prstDash val="solid"/>
          </a:ln>
        </p:spPr>
      </p:sp>
      <p:sp>
        <p:nvSpPr>
          <p:cNvPr id="33" name="Shape 31"/>
          <p:cNvSpPr/>
          <p:nvPr/>
        </p:nvSpPr>
        <p:spPr>
          <a:xfrm>
            <a:off x="4343400" y="3154680"/>
            <a:ext cx="1234440" cy="621792"/>
          </a:xfrm>
          <a:prstGeom prst="rect">
            <a:avLst/>
          </a:prstGeom>
          <a:solidFill>
            <a:srgbClr val="012E33"/>
          </a:solidFill>
          <a:ln/>
        </p:spPr>
      </p:sp>
      <p:sp>
        <p:nvSpPr>
          <p:cNvPr id="34" name="Text 32"/>
          <p:cNvSpPr/>
          <p:nvPr/>
        </p:nvSpPr>
        <p:spPr>
          <a:xfrm>
            <a:off x="4343400" y="3154680"/>
            <a:ext cx="1234440" cy="621792"/>
          </a:xfrm>
          <a:prstGeom prst="rect">
            <a:avLst/>
          </a:prstGeom>
          <a:noFill/>
          <a:ln/>
        </p:spPr>
        <p:txBody>
          <a:bodyPr wrap="square" lIns="0" tIns="0" rIns="0" bIns="0" rtlCol="0" anchor="ctr"/>
          <a:lstStyle/>
          <a:p>
            <a:pPr algn="ctr" indent="0" marL="0">
              <a:buNone/>
            </a:pPr>
            <a:r>
              <a:rPr lang="en-US" sz="1100" b="1" dirty="0">
                <a:solidFill>
                  <a:srgbClr val="02C39A"/>
                </a:solidFill>
                <a:latin typeface="Courier New" pitchFamily="34" charset="0"/>
                <a:ea typeface="Courier New" pitchFamily="34" charset="-122"/>
                <a:cs typeface="Courier New" pitchFamily="34" charset="-120"/>
              </a:rPr>
              <a:t>git merge</a:t>
            </a:r>
            <a:endParaRPr lang="en-US" sz="1100" dirty="0"/>
          </a:p>
        </p:txBody>
      </p:sp>
      <p:sp>
        <p:nvSpPr>
          <p:cNvPr id="35" name="Text 33"/>
          <p:cNvSpPr/>
          <p:nvPr/>
        </p:nvSpPr>
        <p:spPr>
          <a:xfrm>
            <a:off x="5669280" y="3154680"/>
            <a:ext cx="2240280" cy="621792"/>
          </a:xfrm>
          <a:prstGeom prst="rect">
            <a:avLst/>
          </a:prstGeom>
          <a:noFill/>
          <a:ln/>
        </p:spPr>
        <p:txBody>
          <a:bodyPr wrap="square" lIns="0" tIns="0" rIns="0" bIns="0" rtlCol="0" anchor="ctr"/>
          <a:lstStyle/>
          <a:p>
            <a:pPr indent="0" marL="0">
              <a:buNone/>
            </a:pPr>
            <a:r>
              <a:rPr lang="en-US" sz="1150" dirty="0">
                <a:solidFill>
                  <a:srgbClr val="0B2B2E"/>
                </a:solidFill>
                <a:latin typeface="Calibri" pitchFamily="34" charset="0"/>
                <a:ea typeface="Calibri" pitchFamily="34" charset="-122"/>
                <a:cs typeface="Calibri" pitchFamily="34" charset="-120"/>
              </a:rPr>
              <a:t>Combines branches</a:t>
            </a:r>
            <a:endParaRPr lang="en-US" sz="1150" dirty="0"/>
          </a:p>
        </p:txBody>
      </p:sp>
      <p:sp>
        <p:nvSpPr>
          <p:cNvPr id="36" name="Shape 34"/>
          <p:cNvSpPr/>
          <p:nvPr/>
        </p:nvSpPr>
        <p:spPr>
          <a:xfrm>
            <a:off x="8138160" y="3154680"/>
            <a:ext cx="3657600" cy="621792"/>
          </a:xfrm>
          <a:prstGeom prst="roundRect">
            <a:avLst>
              <a:gd name="adj" fmla="val 8824"/>
            </a:avLst>
          </a:prstGeom>
          <a:solidFill>
            <a:srgbClr val="FFFFFF"/>
          </a:solidFill>
          <a:ln w="12700">
            <a:solidFill>
              <a:srgbClr val="D7E9E8"/>
            </a:solidFill>
            <a:prstDash val="solid"/>
          </a:ln>
        </p:spPr>
      </p:sp>
      <p:sp>
        <p:nvSpPr>
          <p:cNvPr id="37" name="Shape 35"/>
          <p:cNvSpPr/>
          <p:nvPr/>
        </p:nvSpPr>
        <p:spPr>
          <a:xfrm>
            <a:off x="8138160" y="3154680"/>
            <a:ext cx="1234440" cy="621792"/>
          </a:xfrm>
          <a:prstGeom prst="rect">
            <a:avLst/>
          </a:prstGeom>
          <a:solidFill>
            <a:srgbClr val="012E33"/>
          </a:solidFill>
          <a:ln/>
        </p:spPr>
      </p:sp>
      <p:sp>
        <p:nvSpPr>
          <p:cNvPr id="38" name="Text 36"/>
          <p:cNvSpPr/>
          <p:nvPr/>
        </p:nvSpPr>
        <p:spPr>
          <a:xfrm>
            <a:off x="8138160" y="3154680"/>
            <a:ext cx="1234440" cy="621792"/>
          </a:xfrm>
          <a:prstGeom prst="rect">
            <a:avLst/>
          </a:prstGeom>
          <a:noFill/>
          <a:ln/>
        </p:spPr>
        <p:txBody>
          <a:bodyPr wrap="square" lIns="0" tIns="0" rIns="0" bIns="0" rtlCol="0" anchor="ctr"/>
          <a:lstStyle/>
          <a:p>
            <a:pPr algn="ctr" indent="0" marL="0">
              <a:buNone/>
            </a:pPr>
            <a:r>
              <a:rPr lang="en-US" sz="1100" b="1" dirty="0">
                <a:solidFill>
                  <a:srgbClr val="02C39A"/>
                </a:solidFill>
                <a:latin typeface="Courier New" pitchFamily="34" charset="0"/>
                <a:ea typeface="Courier New" pitchFamily="34" charset="-122"/>
                <a:cs typeface="Courier New" pitchFamily="34" charset="-120"/>
              </a:rPr>
              <a:t>git clone</a:t>
            </a:r>
            <a:endParaRPr lang="en-US" sz="1100" dirty="0"/>
          </a:p>
        </p:txBody>
      </p:sp>
      <p:sp>
        <p:nvSpPr>
          <p:cNvPr id="39" name="Text 37"/>
          <p:cNvSpPr/>
          <p:nvPr/>
        </p:nvSpPr>
        <p:spPr>
          <a:xfrm>
            <a:off x="9464040" y="3154680"/>
            <a:ext cx="2240280" cy="621792"/>
          </a:xfrm>
          <a:prstGeom prst="rect">
            <a:avLst/>
          </a:prstGeom>
          <a:noFill/>
          <a:ln/>
        </p:spPr>
        <p:txBody>
          <a:bodyPr wrap="square" lIns="0" tIns="0" rIns="0" bIns="0" rtlCol="0" anchor="ctr"/>
          <a:lstStyle/>
          <a:p>
            <a:pPr indent="0" marL="0">
              <a:buNone/>
            </a:pPr>
            <a:r>
              <a:rPr lang="en-US" sz="1150" dirty="0">
                <a:solidFill>
                  <a:srgbClr val="0B2B2E"/>
                </a:solidFill>
                <a:latin typeface="Calibri" pitchFamily="34" charset="0"/>
                <a:ea typeface="Calibri" pitchFamily="34" charset="-122"/>
                <a:cs typeface="Calibri" pitchFamily="34" charset="-120"/>
              </a:rPr>
              <a:t>Downloads a repository</a:t>
            </a:r>
            <a:endParaRPr lang="en-US" sz="1150" dirty="0"/>
          </a:p>
        </p:txBody>
      </p:sp>
      <p:sp>
        <p:nvSpPr>
          <p:cNvPr id="40" name="Shape 38"/>
          <p:cNvSpPr/>
          <p:nvPr/>
        </p:nvSpPr>
        <p:spPr>
          <a:xfrm>
            <a:off x="548640" y="3886200"/>
            <a:ext cx="3657600" cy="621792"/>
          </a:xfrm>
          <a:prstGeom prst="roundRect">
            <a:avLst>
              <a:gd name="adj" fmla="val 8824"/>
            </a:avLst>
          </a:prstGeom>
          <a:solidFill>
            <a:srgbClr val="FFFFFF"/>
          </a:solidFill>
          <a:ln w="12700">
            <a:solidFill>
              <a:srgbClr val="D7E9E8"/>
            </a:solidFill>
            <a:prstDash val="solid"/>
          </a:ln>
        </p:spPr>
      </p:sp>
      <p:sp>
        <p:nvSpPr>
          <p:cNvPr id="41" name="Shape 39"/>
          <p:cNvSpPr/>
          <p:nvPr/>
        </p:nvSpPr>
        <p:spPr>
          <a:xfrm>
            <a:off x="548640" y="3886200"/>
            <a:ext cx="1234440" cy="621792"/>
          </a:xfrm>
          <a:prstGeom prst="rect">
            <a:avLst/>
          </a:prstGeom>
          <a:solidFill>
            <a:srgbClr val="012E33"/>
          </a:solidFill>
          <a:ln/>
        </p:spPr>
      </p:sp>
      <p:sp>
        <p:nvSpPr>
          <p:cNvPr id="42" name="Text 40"/>
          <p:cNvSpPr/>
          <p:nvPr/>
        </p:nvSpPr>
        <p:spPr>
          <a:xfrm>
            <a:off x="548640" y="3886200"/>
            <a:ext cx="1234440" cy="621792"/>
          </a:xfrm>
          <a:prstGeom prst="rect">
            <a:avLst/>
          </a:prstGeom>
          <a:noFill/>
          <a:ln/>
        </p:spPr>
        <p:txBody>
          <a:bodyPr wrap="square" lIns="0" tIns="0" rIns="0" bIns="0" rtlCol="0" anchor="ctr"/>
          <a:lstStyle/>
          <a:p>
            <a:pPr algn="ctr" indent="0" marL="0">
              <a:buNone/>
            </a:pPr>
            <a:r>
              <a:rPr lang="en-US" sz="1100" b="1" dirty="0">
                <a:solidFill>
                  <a:srgbClr val="02C39A"/>
                </a:solidFill>
                <a:latin typeface="Courier New" pitchFamily="34" charset="0"/>
                <a:ea typeface="Courier New" pitchFamily="34" charset="-122"/>
                <a:cs typeface="Courier New" pitchFamily="34" charset="-120"/>
              </a:rPr>
              <a:t>git pull</a:t>
            </a:r>
            <a:endParaRPr lang="en-US" sz="1100" dirty="0"/>
          </a:p>
        </p:txBody>
      </p:sp>
      <p:sp>
        <p:nvSpPr>
          <p:cNvPr id="43" name="Text 41"/>
          <p:cNvSpPr/>
          <p:nvPr/>
        </p:nvSpPr>
        <p:spPr>
          <a:xfrm>
            <a:off x="1874520" y="3886200"/>
            <a:ext cx="2240280" cy="621792"/>
          </a:xfrm>
          <a:prstGeom prst="rect">
            <a:avLst/>
          </a:prstGeom>
          <a:noFill/>
          <a:ln/>
        </p:spPr>
        <p:txBody>
          <a:bodyPr wrap="square" lIns="0" tIns="0" rIns="0" bIns="0" rtlCol="0" anchor="ctr"/>
          <a:lstStyle/>
          <a:p>
            <a:pPr indent="0" marL="0">
              <a:buNone/>
            </a:pPr>
            <a:r>
              <a:rPr lang="en-US" sz="1150" dirty="0">
                <a:solidFill>
                  <a:srgbClr val="0B2B2E"/>
                </a:solidFill>
                <a:latin typeface="Calibri" pitchFamily="34" charset="0"/>
                <a:ea typeface="Calibri" pitchFamily="34" charset="-122"/>
                <a:cs typeface="Calibri" pitchFamily="34" charset="-120"/>
              </a:rPr>
              <a:t>Downloads latest updates</a:t>
            </a:r>
            <a:endParaRPr lang="en-US" sz="1150" dirty="0"/>
          </a:p>
        </p:txBody>
      </p:sp>
      <p:sp>
        <p:nvSpPr>
          <p:cNvPr id="44" name="Shape 42"/>
          <p:cNvSpPr/>
          <p:nvPr/>
        </p:nvSpPr>
        <p:spPr>
          <a:xfrm>
            <a:off x="4343400" y="3886200"/>
            <a:ext cx="3657600" cy="621792"/>
          </a:xfrm>
          <a:prstGeom prst="roundRect">
            <a:avLst>
              <a:gd name="adj" fmla="val 8824"/>
            </a:avLst>
          </a:prstGeom>
          <a:solidFill>
            <a:srgbClr val="FFFFFF"/>
          </a:solidFill>
          <a:ln w="12700">
            <a:solidFill>
              <a:srgbClr val="D7E9E8"/>
            </a:solidFill>
            <a:prstDash val="solid"/>
          </a:ln>
        </p:spPr>
      </p:sp>
      <p:sp>
        <p:nvSpPr>
          <p:cNvPr id="45" name="Shape 43"/>
          <p:cNvSpPr/>
          <p:nvPr/>
        </p:nvSpPr>
        <p:spPr>
          <a:xfrm>
            <a:off x="4343400" y="3886200"/>
            <a:ext cx="1234440" cy="621792"/>
          </a:xfrm>
          <a:prstGeom prst="rect">
            <a:avLst/>
          </a:prstGeom>
          <a:solidFill>
            <a:srgbClr val="012E33"/>
          </a:solidFill>
          <a:ln/>
        </p:spPr>
      </p:sp>
      <p:sp>
        <p:nvSpPr>
          <p:cNvPr id="46" name="Text 44"/>
          <p:cNvSpPr/>
          <p:nvPr/>
        </p:nvSpPr>
        <p:spPr>
          <a:xfrm>
            <a:off x="4343400" y="3886200"/>
            <a:ext cx="1234440" cy="621792"/>
          </a:xfrm>
          <a:prstGeom prst="rect">
            <a:avLst/>
          </a:prstGeom>
          <a:noFill/>
          <a:ln/>
        </p:spPr>
        <p:txBody>
          <a:bodyPr wrap="square" lIns="0" tIns="0" rIns="0" bIns="0" rtlCol="0" anchor="ctr"/>
          <a:lstStyle/>
          <a:p>
            <a:pPr algn="ctr" indent="0" marL="0">
              <a:buNone/>
            </a:pPr>
            <a:r>
              <a:rPr lang="en-US" sz="1100" b="1" dirty="0">
                <a:solidFill>
                  <a:srgbClr val="02C39A"/>
                </a:solidFill>
                <a:latin typeface="Courier New" pitchFamily="34" charset="0"/>
                <a:ea typeface="Courier New" pitchFamily="34" charset="-122"/>
                <a:cs typeface="Courier New" pitchFamily="34" charset="-120"/>
              </a:rPr>
              <a:t>git push</a:t>
            </a:r>
            <a:endParaRPr lang="en-US" sz="1100" dirty="0"/>
          </a:p>
        </p:txBody>
      </p:sp>
      <p:sp>
        <p:nvSpPr>
          <p:cNvPr id="47" name="Text 45"/>
          <p:cNvSpPr/>
          <p:nvPr/>
        </p:nvSpPr>
        <p:spPr>
          <a:xfrm>
            <a:off x="5669280" y="3886200"/>
            <a:ext cx="2240280" cy="621792"/>
          </a:xfrm>
          <a:prstGeom prst="rect">
            <a:avLst/>
          </a:prstGeom>
          <a:noFill/>
          <a:ln/>
        </p:spPr>
        <p:txBody>
          <a:bodyPr wrap="square" lIns="0" tIns="0" rIns="0" bIns="0" rtlCol="0" anchor="ctr"/>
          <a:lstStyle/>
          <a:p>
            <a:pPr indent="0" marL="0">
              <a:buNone/>
            </a:pPr>
            <a:r>
              <a:rPr lang="en-US" sz="1150" dirty="0">
                <a:solidFill>
                  <a:srgbClr val="0B2B2E"/>
                </a:solidFill>
                <a:latin typeface="Calibri" pitchFamily="34" charset="0"/>
                <a:ea typeface="Calibri" pitchFamily="34" charset="-122"/>
                <a:cs typeface="Calibri" pitchFamily="34" charset="-120"/>
              </a:rPr>
              <a:t>Uploads commits to GitHub</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GUIDELINES</a:t>
            </a:r>
            <a:endParaRPr lang="en-US" sz="1200" dirty="0"/>
          </a:p>
        </p:txBody>
      </p:sp>
      <p:sp>
        <p:nvSpPr>
          <p:cNvPr id="3" name="Text 1"/>
          <p:cNvSpPr/>
          <p:nvPr/>
        </p:nvSpPr>
        <p:spPr>
          <a:xfrm>
            <a:off x="548640" y="658368"/>
            <a:ext cx="10515600" cy="777240"/>
          </a:xfrm>
          <a:prstGeom prst="rect">
            <a:avLst/>
          </a:prstGeom>
          <a:noFill/>
          <a:ln/>
        </p:spPr>
        <p:txBody>
          <a:bodyPr wrap="square" lIns="0" tIns="0" rIns="0" bIns="0" rtlCol="0" anchor="ctr"/>
          <a:lstStyle/>
          <a:p>
            <a:pPr indent="0" marL="0">
              <a:buNone/>
            </a:pPr>
            <a:r>
              <a:rPr lang="en-US" sz="3000" b="1" dirty="0">
                <a:solidFill>
                  <a:srgbClr val="0B2B2E"/>
                </a:solidFill>
                <a:latin typeface="Cambria" pitchFamily="34" charset="0"/>
                <a:ea typeface="Cambria" pitchFamily="34" charset="-122"/>
                <a:cs typeface="Cambria" pitchFamily="34" charset="-120"/>
              </a:rPr>
              <a:t>Best Practices</a:t>
            </a:r>
            <a:endParaRPr lang="en-US" sz="3000" dirty="0"/>
          </a:p>
        </p:txBody>
      </p:sp>
      <p:sp>
        <p:nvSpPr>
          <p:cNvPr id="4" name="Shape 2"/>
          <p:cNvSpPr/>
          <p:nvPr/>
        </p:nvSpPr>
        <p:spPr>
          <a:xfrm>
            <a:off x="548640" y="1691640"/>
            <a:ext cx="11064240" cy="713232"/>
          </a:xfrm>
          <a:prstGeom prst="roundRect">
            <a:avLst>
              <a:gd name="adj" fmla="val 10256"/>
            </a:avLst>
          </a:prstGeom>
          <a:solidFill>
            <a:srgbClr val="FFFFFF"/>
          </a:solidFill>
          <a:ln w="12700">
            <a:solidFill>
              <a:srgbClr val="D7E9E8"/>
            </a:solidFill>
            <a:prstDash val="solid"/>
          </a:ln>
        </p:spPr>
      </p:sp>
      <p:sp>
        <p:nvSpPr>
          <p:cNvPr id="5" name="Shape 3"/>
          <p:cNvSpPr/>
          <p:nvPr/>
        </p:nvSpPr>
        <p:spPr>
          <a:xfrm>
            <a:off x="731520" y="1819656"/>
            <a:ext cx="457200" cy="457200"/>
          </a:xfrm>
          <a:prstGeom prst="ellipse">
            <a:avLst/>
          </a:prstGeom>
          <a:solidFill>
            <a:srgbClr val="028090"/>
          </a:solidFill>
          <a:ln/>
        </p:spPr>
      </p:sp>
      <p:sp>
        <p:nvSpPr>
          <p:cNvPr id="6" name="Text 4"/>
          <p:cNvSpPr/>
          <p:nvPr/>
        </p:nvSpPr>
        <p:spPr>
          <a:xfrm>
            <a:off x="731520" y="1828800"/>
            <a:ext cx="457200" cy="457200"/>
          </a:xfrm>
          <a:prstGeom prst="rect">
            <a:avLst/>
          </a:prstGeom>
          <a:noFill/>
          <a:ln/>
        </p:spPr>
        <p:txBody>
          <a:bodyPr wrap="square" lIns="0" tIns="0" rIns="0" bIns="0" rtlCol="0" anchor="ctr"/>
          <a:lstStyle/>
          <a:p>
            <a:pPr algn="ctr" indent="0" marL="0">
              <a:buNone/>
            </a:pPr>
            <a:r>
              <a:rPr lang="en-US" sz="1700" dirty="0">
                <a:solidFill>
                  <a:srgbClr val="FFFFFF"/>
                </a:solidFill>
                <a:latin typeface="Calibri" pitchFamily="34" charset="0"/>
                <a:ea typeface="Calibri" pitchFamily="34" charset="-122"/>
                <a:cs typeface="Calibri" pitchFamily="34" charset="-120"/>
              </a:rPr>
              <a:t>↻</a:t>
            </a:r>
            <a:endParaRPr lang="en-US" sz="1700" dirty="0"/>
          </a:p>
        </p:txBody>
      </p:sp>
      <p:sp>
        <p:nvSpPr>
          <p:cNvPr id="7" name="Text 5"/>
          <p:cNvSpPr/>
          <p:nvPr/>
        </p:nvSpPr>
        <p:spPr>
          <a:xfrm>
            <a:off x="1417320" y="1691640"/>
            <a:ext cx="3291840" cy="713232"/>
          </a:xfrm>
          <a:prstGeom prst="rect">
            <a:avLst/>
          </a:prstGeom>
          <a:noFill/>
          <a:ln/>
        </p:spPr>
        <p:txBody>
          <a:bodyPr wrap="square" lIns="0" tIns="0" rIns="0" bIns="0" rtlCol="0" anchor="ctr"/>
          <a:lstStyle/>
          <a:p>
            <a:pPr indent="0" marL="0">
              <a:buNone/>
            </a:pPr>
            <a:r>
              <a:rPr lang="en-US" sz="1400" b="1" dirty="0">
                <a:solidFill>
                  <a:srgbClr val="0B2B2E"/>
                </a:solidFill>
                <a:latin typeface="Cambria" pitchFamily="34" charset="0"/>
                <a:ea typeface="Cambria" pitchFamily="34" charset="-122"/>
                <a:cs typeface="Cambria" pitchFamily="34" charset="-120"/>
              </a:rPr>
              <a:t>Commit Frequently</a:t>
            </a:r>
            <a:endParaRPr lang="en-US" sz="1400" dirty="0"/>
          </a:p>
        </p:txBody>
      </p:sp>
      <p:sp>
        <p:nvSpPr>
          <p:cNvPr id="8" name="Text 6"/>
          <p:cNvSpPr/>
          <p:nvPr/>
        </p:nvSpPr>
        <p:spPr>
          <a:xfrm>
            <a:off x="4846320" y="1691640"/>
            <a:ext cx="6583680" cy="713232"/>
          </a:xfrm>
          <a:prstGeom prst="rect">
            <a:avLst/>
          </a:prstGeom>
          <a:noFill/>
          <a:ln/>
        </p:spPr>
        <p:txBody>
          <a:bodyPr wrap="square" lIns="0" tIns="0" rIns="0" bIns="0" rtlCol="0" anchor="ctr"/>
          <a:lstStyle/>
          <a:p>
            <a:pPr indent="0" marL="0">
              <a:buNone/>
            </a:pPr>
            <a:r>
              <a:rPr lang="en-US" sz="1250" dirty="0">
                <a:solidFill>
                  <a:srgbClr val="5C7C7E"/>
                </a:solidFill>
                <a:latin typeface="Calibri" pitchFamily="34" charset="0"/>
                <a:ea typeface="Calibri" pitchFamily="34" charset="-122"/>
                <a:cs typeface="Calibri" pitchFamily="34" charset="-120"/>
              </a:rPr>
              <a:t>Small commits are easier to understand and review.</a:t>
            </a:r>
            <a:endParaRPr lang="en-US" sz="1250" dirty="0"/>
          </a:p>
        </p:txBody>
      </p:sp>
      <p:sp>
        <p:nvSpPr>
          <p:cNvPr id="9" name="Shape 7"/>
          <p:cNvSpPr/>
          <p:nvPr/>
        </p:nvSpPr>
        <p:spPr>
          <a:xfrm>
            <a:off x="548640" y="2532888"/>
            <a:ext cx="11064240" cy="713232"/>
          </a:xfrm>
          <a:prstGeom prst="roundRect">
            <a:avLst>
              <a:gd name="adj" fmla="val 10256"/>
            </a:avLst>
          </a:prstGeom>
          <a:solidFill>
            <a:srgbClr val="FFFFFF"/>
          </a:solidFill>
          <a:ln w="12700">
            <a:solidFill>
              <a:srgbClr val="D7E9E8"/>
            </a:solidFill>
            <a:prstDash val="solid"/>
          </a:ln>
        </p:spPr>
      </p:sp>
      <p:sp>
        <p:nvSpPr>
          <p:cNvPr id="10" name="Shape 8"/>
          <p:cNvSpPr/>
          <p:nvPr/>
        </p:nvSpPr>
        <p:spPr>
          <a:xfrm>
            <a:off x="731520" y="2660904"/>
            <a:ext cx="457200" cy="457200"/>
          </a:xfrm>
          <a:prstGeom prst="ellipse">
            <a:avLst/>
          </a:prstGeom>
          <a:solidFill>
            <a:srgbClr val="00A896"/>
          </a:solidFill>
          <a:ln/>
        </p:spPr>
      </p:sp>
      <p:sp>
        <p:nvSpPr>
          <p:cNvPr id="11" name="Text 9"/>
          <p:cNvSpPr/>
          <p:nvPr/>
        </p:nvSpPr>
        <p:spPr>
          <a:xfrm>
            <a:off x="731520" y="2670048"/>
            <a:ext cx="457200" cy="457200"/>
          </a:xfrm>
          <a:prstGeom prst="rect">
            <a:avLst/>
          </a:prstGeom>
          <a:noFill/>
          <a:ln/>
        </p:spPr>
        <p:txBody>
          <a:bodyPr wrap="square" lIns="0" tIns="0" rIns="0" bIns="0" rtlCol="0" anchor="ctr"/>
          <a:lstStyle/>
          <a:p>
            <a:pPr algn="ctr" indent="0" marL="0">
              <a:buNone/>
            </a:pPr>
            <a:r>
              <a:rPr lang="en-US" sz="1700" dirty="0">
                <a:solidFill>
                  <a:srgbClr val="FFFFFF"/>
                </a:solidFill>
                <a:latin typeface="Calibri" pitchFamily="34" charset="0"/>
                <a:ea typeface="Calibri" pitchFamily="34" charset="-122"/>
                <a:cs typeface="Calibri" pitchFamily="34" charset="-120"/>
              </a:rPr>
              <a:t>✎</a:t>
            </a:r>
            <a:endParaRPr lang="en-US" sz="1700" dirty="0"/>
          </a:p>
        </p:txBody>
      </p:sp>
      <p:sp>
        <p:nvSpPr>
          <p:cNvPr id="12" name="Text 10"/>
          <p:cNvSpPr/>
          <p:nvPr/>
        </p:nvSpPr>
        <p:spPr>
          <a:xfrm>
            <a:off x="1417320" y="2532888"/>
            <a:ext cx="3291840" cy="713232"/>
          </a:xfrm>
          <a:prstGeom prst="rect">
            <a:avLst/>
          </a:prstGeom>
          <a:noFill/>
          <a:ln/>
        </p:spPr>
        <p:txBody>
          <a:bodyPr wrap="square" lIns="0" tIns="0" rIns="0" bIns="0" rtlCol="0" anchor="ctr"/>
          <a:lstStyle/>
          <a:p>
            <a:pPr indent="0" marL="0">
              <a:buNone/>
            </a:pPr>
            <a:r>
              <a:rPr lang="en-US" sz="1400" b="1" dirty="0">
                <a:solidFill>
                  <a:srgbClr val="0B2B2E"/>
                </a:solidFill>
                <a:latin typeface="Cambria" pitchFamily="34" charset="0"/>
                <a:ea typeface="Cambria" pitchFamily="34" charset="-122"/>
                <a:cs typeface="Cambria" pitchFamily="34" charset="-120"/>
              </a:rPr>
              <a:t>Write Meaningful Messages</a:t>
            </a:r>
            <a:endParaRPr lang="en-US" sz="1400" dirty="0"/>
          </a:p>
        </p:txBody>
      </p:sp>
      <p:sp>
        <p:nvSpPr>
          <p:cNvPr id="13" name="Text 11"/>
          <p:cNvSpPr/>
          <p:nvPr/>
        </p:nvSpPr>
        <p:spPr>
          <a:xfrm>
            <a:off x="4846320" y="2532888"/>
            <a:ext cx="6583680" cy="713232"/>
          </a:xfrm>
          <a:prstGeom prst="rect">
            <a:avLst/>
          </a:prstGeom>
          <a:noFill/>
          <a:ln/>
        </p:spPr>
        <p:txBody>
          <a:bodyPr wrap="square" lIns="0" tIns="0" rIns="0" bIns="0" rtlCol="0" anchor="ctr"/>
          <a:lstStyle/>
          <a:p>
            <a:pPr indent="0" marL="0">
              <a:buNone/>
            </a:pPr>
            <a:r>
              <a:rPr lang="en-US" sz="1250" dirty="0">
                <a:solidFill>
                  <a:srgbClr val="5C7C7E"/>
                </a:solidFill>
                <a:latin typeface="Calibri" pitchFamily="34" charset="0"/>
                <a:ea typeface="Calibri" pitchFamily="34" charset="-122"/>
                <a:cs typeface="Calibri" pitchFamily="34" charset="-120"/>
              </a:rPr>
              <a:t>Bad: "update"   →   Good: "Added Login Validation"</a:t>
            </a:r>
            <a:endParaRPr lang="en-US" sz="1250" dirty="0"/>
          </a:p>
        </p:txBody>
      </p:sp>
      <p:sp>
        <p:nvSpPr>
          <p:cNvPr id="14" name="Shape 12"/>
          <p:cNvSpPr/>
          <p:nvPr/>
        </p:nvSpPr>
        <p:spPr>
          <a:xfrm>
            <a:off x="548640" y="3374136"/>
            <a:ext cx="11064240" cy="713232"/>
          </a:xfrm>
          <a:prstGeom prst="roundRect">
            <a:avLst>
              <a:gd name="adj" fmla="val 10256"/>
            </a:avLst>
          </a:prstGeom>
          <a:solidFill>
            <a:srgbClr val="FFFFFF"/>
          </a:solidFill>
          <a:ln w="12700">
            <a:solidFill>
              <a:srgbClr val="D7E9E8"/>
            </a:solidFill>
            <a:prstDash val="solid"/>
          </a:ln>
        </p:spPr>
      </p:sp>
      <p:sp>
        <p:nvSpPr>
          <p:cNvPr id="15" name="Shape 13"/>
          <p:cNvSpPr/>
          <p:nvPr/>
        </p:nvSpPr>
        <p:spPr>
          <a:xfrm>
            <a:off x="731520" y="3502152"/>
            <a:ext cx="457200" cy="457200"/>
          </a:xfrm>
          <a:prstGeom prst="ellipse">
            <a:avLst/>
          </a:prstGeom>
          <a:solidFill>
            <a:srgbClr val="02C39A"/>
          </a:solidFill>
          <a:ln/>
        </p:spPr>
      </p:sp>
      <p:sp>
        <p:nvSpPr>
          <p:cNvPr id="16" name="Text 14"/>
          <p:cNvSpPr/>
          <p:nvPr/>
        </p:nvSpPr>
        <p:spPr>
          <a:xfrm>
            <a:off x="731520" y="3511296"/>
            <a:ext cx="457200" cy="457200"/>
          </a:xfrm>
          <a:prstGeom prst="rect">
            <a:avLst/>
          </a:prstGeom>
          <a:noFill/>
          <a:ln/>
        </p:spPr>
        <p:txBody>
          <a:bodyPr wrap="square" lIns="0" tIns="0" rIns="0" bIns="0" rtlCol="0" anchor="ctr"/>
          <a:lstStyle/>
          <a:p>
            <a:pPr algn="ctr" indent="0" marL="0">
              <a:buNone/>
            </a:pPr>
            <a:r>
              <a:rPr lang="en-US" sz="1700" dirty="0">
                <a:solidFill>
                  <a:srgbClr val="FFFFFF"/>
                </a:solidFill>
                <a:latin typeface="Calibri" pitchFamily="34" charset="0"/>
                <a:ea typeface="Calibri" pitchFamily="34" charset="-122"/>
                <a:cs typeface="Calibri" pitchFamily="34" charset="-120"/>
              </a:rPr>
              <a:t>⑂</a:t>
            </a:r>
            <a:endParaRPr lang="en-US" sz="1700" dirty="0"/>
          </a:p>
        </p:txBody>
      </p:sp>
      <p:sp>
        <p:nvSpPr>
          <p:cNvPr id="17" name="Text 15"/>
          <p:cNvSpPr/>
          <p:nvPr/>
        </p:nvSpPr>
        <p:spPr>
          <a:xfrm>
            <a:off x="1417320" y="3374136"/>
            <a:ext cx="3291840" cy="713232"/>
          </a:xfrm>
          <a:prstGeom prst="rect">
            <a:avLst/>
          </a:prstGeom>
          <a:noFill/>
          <a:ln/>
        </p:spPr>
        <p:txBody>
          <a:bodyPr wrap="square" lIns="0" tIns="0" rIns="0" bIns="0" rtlCol="0" anchor="ctr"/>
          <a:lstStyle/>
          <a:p>
            <a:pPr indent="0" marL="0">
              <a:buNone/>
            </a:pPr>
            <a:r>
              <a:rPr lang="en-US" sz="1400" b="1" dirty="0">
                <a:solidFill>
                  <a:srgbClr val="0B2B2E"/>
                </a:solidFill>
                <a:latin typeface="Cambria" pitchFamily="34" charset="0"/>
                <a:ea typeface="Cambria" pitchFamily="34" charset="-122"/>
                <a:cs typeface="Cambria" pitchFamily="34" charset="-120"/>
              </a:rPr>
              <a:t>Use Branches</a:t>
            </a:r>
            <a:endParaRPr lang="en-US" sz="1400" dirty="0"/>
          </a:p>
        </p:txBody>
      </p:sp>
      <p:sp>
        <p:nvSpPr>
          <p:cNvPr id="18" name="Text 16"/>
          <p:cNvSpPr/>
          <p:nvPr/>
        </p:nvSpPr>
        <p:spPr>
          <a:xfrm>
            <a:off x="4846320" y="3374136"/>
            <a:ext cx="6583680" cy="713232"/>
          </a:xfrm>
          <a:prstGeom prst="rect">
            <a:avLst/>
          </a:prstGeom>
          <a:noFill/>
          <a:ln/>
        </p:spPr>
        <p:txBody>
          <a:bodyPr wrap="square" lIns="0" tIns="0" rIns="0" bIns="0" rtlCol="0" anchor="ctr"/>
          <a:lstStyle/>
          <a:p>
            <a:pPr indent="0" marL="0">
              <a:buNone/>
            </a:pPr>
            <a:r>
              <a:rPr lang="en-US" sz="1250" dirty="0">
                <a:solidFill>
                  <a:srgbClr val="5C7C7E"/>
                </a:solidFill>
                <a:latin typeface="Calibri" pitchFamily="34" charset="0"/>
                <a:ea typeface="Calibri" pitchFamily="34" charset="-122"/>
                <a:cs typeface="Calibri" pitchFamily="34" charset="-120"/>
              </a:rPr>
              <a:t>Never develop directly on main — branch for each feature.</a:t>
            </a:r>
            <a:endParaRPr lang="en-US" sz="1250" dirty="0"/>
          </a:p>
        </p:txBody>
      </p:sp>
      <p:sp>
        <p:nvSpPr>
          <p:cNvPr id="19" name="Shape 17"/>
          <p:cNvSpPr/>
          <p:nvPr/>
        </p:nvSpPr>
        <p:spPr>
          <a:xfrm>
            <a:off x="548640" y="4215384"/>
            <a:ext cx="11064240" cy="713232"/>
          </a:xfrm>
          <a:prstGeom prst="roundRect">
            <a:avLst>
              <a:gd name="adj" fmla="val 10256"/>
            </a:avLst>
          </a:prstGeom>
          <a:solidFill>
            <a:srgbClr val="FFFFFF"/>
          </a:solidFill>
          <a:ln w="12700">
            <a:solidFill>
              <a:srgbClr val="D7E9E8"/>
            </a:solidFill>
            <a:prstDash val="solid"/>
          </a:ln>
        </p:spPr>
      </p:sp>
      <p:sp>
        <p:nvSpPr>
          <p:cNvPr id="20" name="Shape 18"/>
          <p:cNvSpPr/>
          <p:nvPr/>
        </p:nvSpPr>
        <p:spPr>
          <a:xfrm>
            <a:off x="731520" y="4343400"/>
            <a:ext cx="457200" cy="457200"/>
          </a:xfrm>
          <a:prstGeom prst="ellipse">
            <a:avLst/>
          </a:prstGeom>
          <a:solidFill>
            <a:srgbClr val="028090"/>
          </a:solidFill>
          <a:ln/>
        </p:spPr>
      </p:sp>
      <p:sp>
        <p:nvSpPr>
          <p:cNvPr id="21" name="Text 19"/>
          <p:cNvSpPr/>
          <p:nvPr/>
        </p:nvSpPr>
        <p:spPr>
          <a:xfrm>
            <a:off x="731520" y="4352544"/>
            <a:ext cx="457200" cy="457200"/>
          </a:xfrm>
          <a:prstGeom prst="rect">
            <a:avLst/>
          </a:prstGeom>
          <a:noFill/>
          <a:ln/>
        </p:spPr>
        <p:txBody>
          <a:bodyPr wrap="square" lIns="0" tIns="0" rIns="0" bIns="0" rtlCol="0" anchor="ctr"/>
          <a:lstStyle/>
          <a:p>
            <a:pPr algn="ctr" indent="0" marL="0">
              <a:buNone/>
            </a:pPr>
            <a:r>
              <a:rPr lang="en-US" sz="1700" dirty="0">
                <a:solidFill>
                  <a:srgbClr val="FFFFFF"/>
                </a:solidFill>
                <a:latin typeface="Calibri" pitchFamily="34" charset="0"/>
                <a:ea typeface="Calibri" pitchFamily="34" charset="-122"/>
                <a:cs typeface="Calibri" pitchFamily="34" charset="-120"/>
              </a:rPr>
              <a:t>⇅</a:t>
            </a:r>
            <a:endParaRPr lang="en-US" sz="1700" dirty="0"/>
          </a:p>
        </p:txBody>
      </p:sp>
      <p:sp>
        <p:nvSpPr>
          <p:cNvPr id="22" name="Text 20"/>
          <p:cNvSpPr/>
          <p:nvPr/>
        </p:nvSpPr>
        <p:spPr>
          <a:xfrm>
            <a:off x="1417320" y="4215384"/>
            <a:ext cx="3291840" cy="713232"/>
          </a:xfrm>
          <a:prstGeom prst="rect">
            <a:avLst/>
          </a:prstGeom>
          <a:noFill/>
          <a:ln/>
        </p:spPr>
        <p:txBody>
          <a:bodyPr wrap="square" lIns="0" tIns="0" rIns="0" bIns="0" rtlCol="0" anchor="ctr"/>
          <a:lstStyle/>
          <a:p>
            <a:pPr indent="0" marL="0">
              <a:buNone/>
            </a:pPr>
            <a:r>
              <a:rPr lang="en-US" sz="1400" b="1" dirty="0">
                <a:solidFill>
                  <a:srgbClr val="0B2B2E"/>
                </a:solidFill>
                <a:latin typeface="Cambria" pitchFamily="34" charset="0"/>
                <a:ea typeface="Cambria" pitchFamily="34" charset="-122"/>
                <a:cs typeface="Cambria" pitchFamily="34" charset="-120"/>
              </a:rPr>
              <a:t>Pull Before Push</a:t>
            </a:r>
            <a:endParaRPr lang="en-US" sz="1400" dirty="0"/>
          </a:p>
        </p:txBody>
      </p:sp>
      <p:sp>
        <p:nvSpPr>
          <p:cNvPr id="23" name="Text 21"/>
          <p:cNvSpPr/>
          <p:nvPr/>
        </p:nvSpPr>
        <p:spPr>
          <a:xfrm>
            <a:off x="4846320" y="4215384"/>
            <a:ext cx="6583680" cy="713232"/>
          </a:xfrm>
          <a:prstGeom prst="rect">
            <a:avLst/>
          </a:prstGeom>
          <a:noFill/>
          <a:ln/>
        </p:spPr>
        <p:txBody>
          <a:bodyPr wrap="square" lIns="0" tIns="0" rIns="0" bIns="0" rtlCol="0" anchor="ctr"/>
          <a:lstStyle/>
          <a:p>
            <a:pPr indent="0" marL="0">
              <a:buNone/>
            </a:pPr>
            <a:r>
              <a:rPr lang="en-US" sz="1250" dirty="0">
                <a:solidFill>
                  <a:srgbClr val="5C7C7E"/>
                </a:solidFill>
                <a:latin typeface="Calibri" pitchFamily="34" charset="0"/>
                <a:ea typeface="Calibri" pitchFamily="34" charset="-122"/>
                <a:cs typeface="Calibri" pitchFamily="34" charset="-120"/>
              </a:rPr>
              <a:t>Always download the latest changes before uploading yours.</a:t>
            </a:r>
            <a:endParaRPr lang="en-US" sz="1250" dirty="0"/>
          </a:p>
        </p:txBody>
      </p:sp>
      <p:sp>
        <p:nvSpPr>
          <p:cNvPr id="24" name="Shape 22"/>
          <p:cNvSpPr/>
          <p:nvPr/>
        </p:nvSpPr>
        <p:spPr>
          <a:xfrm>
            <a:off x="548640" y="5056632"/>
            <a:ext cx="11064240" cy="713232"/>
          </a:xfrm>
          <a:prstGeom prst="roundRect">
            <a:avLst>
              <a:gd name="adj" fmla="val 10256"/>
            </a:avLst>
          </a:prstGeom>
          <a:solidFill>
            <a:srgbClr val="FFFFFF"/>
          </a:solidFill>
          <a:ln w="12700">
            <a:solidFill>
              <a:srgbClr val="D7E9E8"/>
            </a:solidFill>
            <a:prstDash val="solid"/>
          </a:ln>
        </p:spPr>
      </p:sp>
      <p:sp>
        <p:nvSpPr>
          <p:cNvPr id="25" name="Shape 23"/>
          <p:cNvSpPr/>
          <p:nvPr/>
        </p:nvSpPr>
        <p:spPr>
          <a:xfrm>
            <a:off x="731520" y="5184648"/>
            <a:ext cx="457200" cy="457200"/>
          </a:xfrm>
          <a:prstGeom prst="ellipse">
            <a:avLst/>
          </a:prstGeom>
          <a:solidFill>
            <a:srgbClr val="00A896"/>
          </a:solidFill>
          <a:ln/>
        </p:spPr>
      </p:sp>
      <p:sp>
        <p:nvSpPr>
          <p:cNvPr id="26" name="Text 24"/>
          <p:cNvSpPr/>
          <p:nvPr/>
        </p:nvSpPr>
        <p:spPr>
          <a:xfrm>
            <a:off x="731520" y="5193792"/>
            <a:ext cx="457200" cy="457200"/>
          </a:xfrm>
          <a:prstGeom prst="rect">
            <a:avLst/>
          </a:prstGeom>
          <a:noFill/>
          <a:ln/>
        </p:spPr>
        <p:txBody>
          <a:bodyPr wrap="square" lIns="0" tIns="0" rIns="0" bIns="0" rtlCol="0" anchor="ctr"/>
          <a:lstStyle/>
          <a:p>
            <a:pPr algn="ctr" indent="0" marL="0">
              <a:buNone/>
            </a:pPr>
            <a:r>
              <a:rPr lang="en-US" sz="1700" dirty="0">
                <a:solidFill>
                  <a:srgbClr val="FFFFFF"/>
                </a:solidFill>
                <a:latin typeface="Calibri" pitchFamily="34" charset="0"/>
                <a:ea typeface="Calibri" pitchFamily="34" charset="-122"/>
                <a:cs typeface="Calibri" pitchFamily="34" charset="-120"/>
              </a:rPr>
              <a:t>🔒</a:t>
            </a:r>
            <a:endParaRPr lang="en-US" sz="1700" dirty="0"/>
          </a:p>
        </p:txBody>
      </p:sp>
      <p:sp>
        <p:nvSpPr>
          <p:cNvPr id="27" name="Text 25"/>
          <p:cNvSpPr/>
          <p:nvPr/>
        </p:nvSpPr>
        <p:spPr>
          <a:xfrm>
            <a:off x="1417320" y="5056632"/>
            <a:ext cx="3291840" cy="713232"/>
          </a:xfrm>
          <a:prstGeom prst="rect">
            <a:avLst/>
          </a:prstGeom>
          <a:noFill/>
          <a:ln/>
        </p:spPr>
        <p:txBody>
          <a:bodyPr wrap="square" lIns="0" tIns="0" rIns="0" bIns="0" rtlCol="0" anchor="ctr"/>
          <a:lstStyle/>
          <a:p>
            <a:pPr indent="0" marL="0">
              <a:buNone/>
            </a:pPr>
            <a:r>
              <a:rPr lang="en-US" sz="1400" b="1" dirty="0">
                <a:solidFill>
                  <a:srgbClr val="0B2B2E"/>
                </a:solidFill>
                <a:latin typeface="Cambria" pitchFamily="34" charset="0"/>
                <a:ea typeface="Cambria" pitchFamily="34" charset="-122"/>
                <a:cs typeface="Cambria" pitchFamily="34" charset="-120"/>
              </a:rPr>
              <a:t>Don't Commit Secrets</a:t>
            </a:r>
            <a:endParaRPr lang="en-US" sz="1400" dirty="0"/>
          </a:p>
        </p:txBody>
      </p:sp>
      <p:sp>
        <p:nvSpPr>
          <p:cNvPr id="28" name="Text 26"/>
          <p:cNvSpPr/>
          <p:nvPr/>
        </p:nvSpPr>
        <p:spPr>
          <a:xfrm>
            <a:off x="4846320" y="5056632"/>
            <a:ext cx="6583680" cy="713232"/>
          </a:xfrm>
          <a:prstGeom prst="rect">
            <a:avLst/>
          </a:prstGeom>
          <a:noFill/>
          <a:ln/>
        </p:spPr>
        <p:txBody>
          <a:bodyPr wrap="square" lIns="0" tIns="0" rIns="0" bIns="0" rtlCol="0" anchor="ctr"/>
          <a:lstStyle/>
          <a:p>
            <a:pPr indent="0" marL="0">
              <a:buNone/>
            </a:pPr>
            <a:r>
              <a:rPr lang="en-US" sz="1250" dirty="0">
                <a:solidFill>
                  <a:srgbClr val="5C7C7E"/>
                </a:solidFill>
                <a:latin typeface="Calibri" pitchFamily="34" charset="0"/>
                <a:ea typeface="Calibri" pitchFamily="34" charset="-122"/>
                <a:cs typeface="Calibri" pitchFamily="34" charset="-120"/>
              </a:rPr>
              <a:t>Never upload passwords, API keys, or tokens — store them in a .env file.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12E33"/>
        </a:solidFill>
      </p:bgPr>
    </p:bg>
    <p:spTree>
      <p:nvGrpSpPr>
        <p:cNvPr id="1" name=""/>
        <p:cNvGrpSpPr/>
        <p:nvPr/>
      </p:nvGrpSpPr>
      <p:grpSpPr>
        <a:xfrm>
          <a:off x="0" y="0"/>
          <a:ext cx="0" cy="0"/>
          <a:chOff x="0" y="0"/>
          <a:chExt cx="0" cy="0"/>
        </a:xfrm>
      </p:grpSpPr>
      <p:sp>
        <p:nvSpPr>
          <p:cNvPr id="2" name="Shape 0"/>
          <p:cNvSpPr/>
          <p:nvPr/>
        </p:nvSpPr>
        <p:spPr>
          <a:xfrm>
            <a:off x="9418320" y="-1645920"/>
            <a:ext cx="4754880" cy="4754880"/>
          </a:xfrm>
          <a:prstGeom prst="ellipse">
            <a:avLst/>
          </a:prstGeom>
          <a:solidFill>
            <a:srgbClr val="011E21"/>
          </a:solidFill>
          <a:ln/>
        </p:spPr>
      </p:sp>
      <p:sp>
        <p:nvSpPr>
          <p:cNvPr id="3" name="Shape 1"/>
          <p:cNvSpPr/>
          <p:nvPr/>
        </p:nvSpPr>
        <p:spPr>
          <a:xfrm>
            <a:off x="-1463040" y="4754880"/>
            <a:ext cx="3840480" cy="3840480"/>
          </a:xfrm>
          <a:prstGeom prst="ellipse">
            <a:avLst/>
          </a:prstGeom>
          <a:solidFill>
            <a:srgbClr val="00A896">
              <a:alpha val="12000"/>
            </a:srgbClr>
          </a:solidFill>
          <a:ln/>
        </p:spPr>
      </p:sp>
      <p:sp>
        <p:nvSpPr>
          <p:cNvPr id="4" name="Text 2"/>
          <p:cNvSpPr/>
          <p:nvPr/>
        </p:nvSpPr>
        <p:spPr>
          <a:xfrm>
            <a:off x="731520" y="1737360"/>
            <a:ext cx="10698480" cy="1920240"/>
          </a:xfrm>
          <a:prstGeom prst="rect">
            <a:avLst/>
          </a:prstGeom>
          <a:noFill/>
          <a:ln/>
        </p:spPr>
        <p:txBody>
          <a:bodyPr wrap="square" lIns="0" tIns="0" rIns="0" bIns="0" rtlCol="0" anchor="ctr"/>
          <a:lstStyle/>
          <a:p>
            <a:pPr indent="0" marL="0">
              <a:lnSpc>
                <a:spcPct val="110000"/>
              </a:lnSpc>
              <a:buNone/>
            </a:pPr>
            <a:r>
              <a:rPr lang="en-US" sz="4000" b="1" dirty="0">
                <a:solidFill>
                  <a:srgbClr val="FFFFFF"/>
                </a:solidFill>
                <a:latin typeface="Cambria" pitchFamily="34" charset="0"/>
                <a:ea typeface="Cambria" pitchFamily="34" charset="-122"/>
                <a:cs typeface="Cambria" pitchFamily="34" charset="-120"/>
              </a:rPr>
              <a:t>Git tracks code.</a:t>
            </a:r>
            <a:endParaRPr lang="en-US" sz="4000" dirty="0"/>
          </a:p>
          <a:p>
            <a:pPr indent="0" marL="0">
              <a:lnSpc>
                <a:spcPct val="110000"/>
              </a:lnSpc>
              <a:buNone/>
            </a:pPr>
            <a:r>
              <a:rPr lang="en-US" sz="4000" b="1" dirty="0">
                <a:solidFill>
                  <a:srgbClr val="FFFFFF"/>
                </a:solidFill>
                <a:latin typeface="Cambria" pitchFamily="34" charset="0"/>
                <a:ea typeface="Cambria" pitchFamily="34" charset="-122"/>
                <a:cs typeface="Cambria" pitchFamily="34" charset="-120"/>
              </a:rPr>
              <a:t>GitHub connects teams.</a:t>
            </a:r>
            <a:endParaRPr lang="en-US" sz="4000" dirty="0"/>
          </a:p>
        </p:txBody>
      </p:sp>
      <p:sp>
        <p:nvSpPr>
          <p:cNvPr id="5" name="Text 3"/>
          <p:cNvSpPr/>
          <p:nvPr/>
        </p:nvSpPr>
        <p:spPr>
          <a:xfrm>
            <a:off x="731520" y="3794760"/>
            <a:ext cx="9601200" cy="914400"/>
          </a:xfrm>
          <a:prstGeom prst="rect">
            <a:avLst/>
          </a:prstGeom>
          <a:noFill/>
          <a:ln/>
        </p:spPr>
        <p:txBody>
          <a:bodyPr wrap="square" lIns="0" tIns="0" rIns="0" bIns="0" rtlCol="0" anchor="ctr"/>
          <a:lstStyle/>
          <a:p>
            <a:pPr indent="0" marL="0">
              <a:buNone/>
            </a:pPr>
            <a:r>
              <a:rPr lang="en-US" sz="1700" i="1" dirty="0">
                <a:solidFill>
                  <a:srgbClr val="02C39A"/>
                </a:solidFill>
                <a:latin typeface="Calibri" pitchFamily="34" charset="0"/>
                <a:ea typeface="Calibri" pitchFamily="34" charset="-122"/>
                <a:cs typeface="Calibri" pitchFamily="34" charset="-120"/>
              </a:rPr>
              <a:t>Together, they help developers work faster, work safely, recover previous versions, and collaborate efficiently.</a:t>
            </a:r>
            <a:endParaRPr lang="en-US" sz="1700" dirty="0"/>
          </a:p>
        </p:txBody>
      </p:sp>
      <p:sp>
        <p:nvSpPr>
          <p:cNvPr id="6" name="Text 4"/>
          <p:cNvSpPr/>
          <p:nvPr/>
        </p:nvSpPr>
        <p:spPr>
          <a:xfrm>
            <a:off x="731520" y="4800600"/>
            <a:ext cx="9144000" cy="731520"/>
          </a:xfrm>
          <a:prstGeom prst="rect">
            <a:avLst/>
          </a:prstGeom>
          <a:noFill/>
          <a:ln/>
        </p:spPr>
        <p:txBody>
          <a:bodyPr wrap="square" lIns="0" tIns="0" rIns="0" bIns="0" rtlCol="0" anchor="ctr"/>
          <a:lstStyle/>
          <a:p>
            <a:pPr indent="0" marL="0">
              <a:buNone/>
            </a:pPr>
            <a:r>
              <a:rPr lang="en-US" sz="1300" dirty="0">
                <a:solidFill>
                  <a:srgbClr val="F4FAF9"/>
                </a:solidFill>
                <a:latin typeface="Calibri" pitchFamily="34" charset="0"/>
                <a:ea typeface="Calibri" pitchFamily="34" charset="-122"/>
                <a:cs typeface="Calibri" pitchFamily="34" charset="-120"/>
              </a:rPr>
              <a:t>Learning Git and GitHub is one of the first steps toward becoming a professional software developer.</a:t>
            </a:r>
            <a:endParaRPr lang="en-US" sz="1300" dirty="0"/>
          </a:p>
        </p:txBody>
      </p:sp>
      <p:sp>
        <p:nvSpPr>
          <p:cNvPr id="7" name="Text 5"/>
          <p:cNvSpPr/>
          <p:nvPr/>
        </p:nvSpPr>
        <p:spPr>
          <a:xfrm>
            <a:off x="731520" y="6126480"/>
            <a:ext cx="10058400" cy="365760"/>
          </a:xfrm>
          <a:prstGeom prst="rect">
            <a:avLst/>
          </a:prstGeom>
          <a:noFill/>
          <a:ln/>
        </p:spPr>
        <p:txBody>
          <a:bodyPr wrap="square" lIns="0" tIns="0" rIns="0" bIns="0" rtlCol="0" anchor="ctr"/>
          <a:lstStyle/>
          <a:p>
            <a:pPr indent="0" marL="0">
              <a:buNone/>
            </a:pPr>
            <a:r>
              <a:rPr lang="en-US" sz="1200" dirty="0">
                <a:solidFill>
                  <a:srgbClr val="5C7C7E"/>
                </a:solidFill>
                <a:latin typeface="Calibri" pitchFamily="34" charset="0"/>
                <a:ea typeface="Calibri" pitchFamily="34" charset="-122"/>
                <a:cs typeface="Calibri" pitchFamily="34" charset="-120"/>
              </a:rPr>
              <a:t>Thank you  |  Smart Deal Alert Project  |  Sabitha S Karanavar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2026-07-22T16:35:47Z</dcterms:created>
  <dcterms:modified xsi:type="dcterms:W3CDTF">2026-07-22T16:35:47Z</dcterms:modified>
</cp:coreProperties>
</file>